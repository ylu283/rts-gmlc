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LeGLuJJqaV9rv4rreQQA/E1vi0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858A5-3A9D-437B-AAF5-A56A1AD87D24}">
  <a:tblStyle styleId="{6F9858A5-3A9D-437B-AAF5-A56A1AD87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9ECB45-BCAC-4C38-B241-BF78F6F0C6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8"/>
  </p:normalViewPr>
  <p:slideViewPr>
    <p:cSldViewPr snapToGrid="0">
      <p:cViewPr varScale="1">
        <p:scale>
          <a:sx n="118" d="100"/>
          <a:sy n="118"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Deck rebuilt 10-13 from bo_1012 after two expert reviews (methods review 10-13; power-systems review 10-13). Built by make_bo_1013_deck.py from OUTLINE_1013.md (content source of truth).</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Claims W, S, ii, iii, A, B, T, i: methods review 10-13; P35 §5; P37. Sources: /Users/yilu/Documents/development/nd/research/admin/prompt/bogp/35-stage2-methods-arms.md; /Users/yilu/Documents/development/nd/research/admin/prompt/bogp/37-stop-rule-validation.md; /Users/yilu/Documents/development/nd/research/admin/prompt/bogp/math-log.md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admin PROGRESS.md rows 1–10; LR 10-12u, 10-12v, 10-13a, 10-13b. 35 relaunch 8308211; 37 CRC gate f5e4c14. Prompt 38 written 10-13.</a:t>
            </a:r>
          </a:p>
          <a:p>
            <a:r>
              <a:t>Sources: /Users/yilu/Documents/development/nd/research/admin/prompt/bogp/PROGRESS.md; /Users/yilu/Documents/development/nd/research/admin/prompt/bogp/living-report-multipem.md; /Users/yilu/Documents/development/nd/research/admin/prompt/bogp/38-rts-mechanism-checks.md</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header; prompt 30.</a:t>
            </a:r>
          </a:p>
          <a:p>
            <a:r>
              <a:t>Sources: /Users/yilu/Documents/GitHub/RTS-GMLC/trial_0826/campaign/analysis/bo_stage2/BO_STAGE2.md; /Users/yilu/Documents/development/nd/research/admin/prompt/bogp/30-stage2-bo-campaign.md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parameters.py (renewable split, thermal patch); summarize_wave.py header note on synthetic cost; power-systems review 10-13 §3.</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pain log + audit table.</a:t>
            </a:r>
          </a:p>
          <a:p>
            <a:r>
              <a:t>Sources: /Users/yilu/Documents/GitHub/RTS-GMLC/trial_0826/campaign/analysis/bo_stage2/BO_STAGE2.md; /Users/yilu/Documents/GitHub/RTS-GMLC/trial_0826/campaign/analysis/bo_stage2/ROUND_LOG.md</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/Users/yilu/Documents/GitHub/RTS-GMLC/trial_0826/campaign/analysis/bo_stage2/figs/fig2_hv_trajectory.png</a:t>
            </a:r>
          </a:p>
          <a:p>
            <a:r>
              <a:t>Notes: B §2 (old slides 9 and 11); P37 pre-registered reading.</a:t>
            </a:r>
          </a:p>
          <a:p>
            <a:r>
              <a:t>Sources: /Users/yilu/Documents/GitHub/RTS-GMLC/trial_0826/campaign/analysis/bo_stage2/BO_STAGE2.md; /Users/yilu/Documents/development/nd/research/admin/prompt/bogp/37-stop-rule-validation.md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/Users/yilu/Documents/GitHub/RTS-GMLC/trial_0826/campaign/analysis/bo_stage2/figs/fig1_front.png</a:t>
            </a:r>
          </a:p>
          <a:p>
            <a:r>
              <a:t>Notes: B §1. Footer: costs g1-pending (+$28.188M constant under option c).</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/Users/yilu/Documents/GitHub/RTS-GMLC/trial_0826/campaign/analysis/bo_stage2/figs/fig3_calibration.png</a:t>
            </a:r>
          </a:p>
          <a:p>
            <a:r>
              <a:t>Notes: B §3; P37.</a:t>
            </a:r>
          </a:p>
          <a:p>
            <a:r>
              <a:t>Sources: /Users/yilu/Documents/GitHub/RTS-GMLC/trial_0826/campaign/analysis/bo_stage2/BO_STAGE2.md; /Users/yilu/Documents/development/nd/research/admin/prompt/bogp/37-stop-rule-validation.md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Figures: /Users/yilu/Documents/GitHub/RTS-GMLC/trial_0826/campaign/analysis/random_baseline/figs/fig1_hv_band.png</a:t>
            </a:r>
          </a:p>
          <a:p>
            <a:r>
              <a:t>/Users/yilu/Documents/GitHub/RTS-GMLC/trial_0826/campaign/analysis/random_baseline/figs/fig2_percentile_hist.png</a:t>
            </a:r>
          </a:p>
          <a:p>
            <a:r>
              <a:t>Notes: P34 §0.1, §3.1–3.2; R §2; statistics reviewer (expert review 10-12).</a:t>
            </a:r>
          </a:p>
          <a:p>
            <a:r>
              <a:t>HOW TO READ THE TWO REFS. HV needs a reference point: the 'worst corner' of the box. A design that is worse than the ref on ANY objective earns zero HV. R_frozen = nadir of the 32 starts + 10 % span, fixed before round 1 (shed 15,102 MWh; curtailment 670,350 MWh; cost $652.0M). R_union = the same formula over all 96 designs (shed 32,100 MWh; curtailment 1,385,278 MWh; cost $684.3M); it equals BO_STAGE2's REF48. R_frozen leans toward random: 5 of BO's 16 picks are corner designs outside this box and earn zero. R_union leans toward BO: the bigger box credits those corners, so p-hat = 1.00 there mostly restates the S1 extremes result. Rule: 'above' only if above at BOTH refs. Lead with R_frozen. Each panel divides by its own HV0, so do not compare heights across the two panels (1.046 vs 1.069). Band = p10-p90 of random subsets (8-subsets at n = 40, 16-subsets at n = 48; 100,000 each).</a:t>
            </a:r>
          </a:p>
          <a:p>
            <a:r>
              <a:t>Sources: /Users/yilu/Documents/GitHub/RTS-GMLC/trial_0826/campaign/analysis/random_baseline/RANDOM_BASELINE.md; /Users/yilu/Documents/development/nd/research/admin/prompt/bogp/34-random-baseline.md</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R §3; strategy-session check 10-12; statistics reviewer (expert review 10-12); P38.</a:t>
            </a:r>
          </a:p>
          <a:p>
            <a:r>
              <a:t>Sources: /Users/yilu/Documents/GitHub/RTS-GMLC/trial_0826/campaign/analysis/random_baseline/RANDOM_BASELINE.md; /Users/yilu/Documents/development/nd/research/admin/prompt/bogp/38-rts-mechanism-checks.md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/Users/yilu/Documents/GitHub/RTS-GMLC/trial_0826/campaign/analysis/random_baseline/figs/fig3_s1_extremes.png</a:t>
            </a:r>
          </a:p>
          <a:p>
            <a:r>
              <a:t>Notes: R §4.2; power-systems reviewer (expert review 10-12); power-systems review 10-13.</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R §4.3 iii; power-systems reviewer (expert review 10-12); P35 (P2/P3 out-of-sample).</a:t>
            </a:r>
          </a:p>
          <a:p>
            <a:r>
              <a:t>Proposed paper wording (power-systems reviewer, verbatim):</a:t>
            </a:r>
          </a:p>
          <a:p>
            <a:r>
              <a:t>"Every knee design, under either normalization, places the nuclear retrofit at its lattice minimum (ω = 0.05, 20 MW) and puts most of the PEM capacity (55–79%) on the two largest wind sites (buses 303 and 317). Total PEM capacity sets the position along the front, not membership of the knee region. Knees span 1.49–2.08 GW as the normalization changes. Over that range, cost rises about 5% while curtailment falls about 44%. The total therefore expresses a choice between curtailment and cost, not a recommended size."</a:t>
            </a:r>
          </a:p>
          <a:p>
            <a:r>
              <a:t>Sources: /Users/yilu/Documents/GitHub/RTS-GMLC/trial_0826/campaign/analysis/random_baseline/RANDOM_BASELINE.md; /Users/yilu/Documents/GitHub/RTS-GMLC/trial_0826/campaign/analysis/bo_stage2/BO_STAGE2.md; /Users/yilu/Documents/development/nd/research/admin/prompt/bogp/35-stage2-methods-arms.md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claim scope; ML §5.2; statistics reviewer (expert review 10-12); methods review 10-13.</a:t>
            </a:r>
          </a:p>
          <a:p>
            <a:r>
              <a:t>Sources: /Users/yilu/Documents/GitHub/RTS-GMLC/trial_0826/campaign/analysis/bo_stage2/BO_STAGE2.md; /Users/yilu/Documents/development/nd/research/admin/prompt/bogp/math-log.md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methods review 10-13 §3.2–3.3; P30, P34, P35 §3.2, P37 Amendment 1, ERCOT_COST_FIX (df61ab4).</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P35 §3.2 AMENDMENT 10-12; replay_gate.json; methods review 10-13.</a:t>
            </a:r>
          </a:p>
          <a:p>
            <a:r>
              <a:t>Sources: /Users/yilu/Documents/development/nd/research/admin/prompt/bogp/35-stage2-methods-arms.md</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P35 §5; methods review 10-13.</a:t>
            </a:r>
          </a:p>
          <a:p>
            <a:r>
              <a:t>Sources: /Users/yilu/Documents/development/nd/research/admin/prompt/bogp/35-stage2-methods-arms.md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P37 §4–5.</a:t>
            </a:r>
          </a:p>
          <a:p>
            <a:r>
              <a:t>Sources: /Users/yilu/Documents/development/nd/research/admin/prompt/bogp/37-stop-rule-validation.md</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Power-systems reviewer 10-12; power-systems review 10-13; parameters.py (renewable split), summarize_wave.py:113-116. Hypotheses until checked. 35 G1 closure: d876321.</a:t>
            </a:r>
          </a:p>
          <a:p>
            <a:r>
              <a:t>Sources: /Users/yilu/Documents/GitHub/RTS-GMLC/trial_0826/campaign/analysis/bo_stage2/BO_STAGE2.md; /Users/yilu/Documents/development/nd/research/admin/prompt/bogp/38-rts-mechanism-checks.md; /Users/yilu/Documents/development/nd/research/admin/prompt/bogp/35-stage2-methods-arms.md</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T3 base read: ercot df61ab4 (ERCOT_COST_FIX.md); extract base_2019_v2 (e3082fa). v1 replicate spread: screening bimodality ±$79.5M (3edd682) and TL=360 probe |Δ| $56–127M (c9d28cd). v1 mapping error: old slide 28 (backup B6). Fuel mix and PV: power-systems review 10-13.</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ERCOT extracts screening_v2 (2ba803b) and base_2019_v2 (e3082fa); power-systems review 10-13.</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power-systems review 10-13 §3; ercot 4fb3b1f (top-k rule). The 36 session builds after Kay approves.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Contribution = the WORKFLOW (pre-registered, auditable, unattended MOBO with a materiality stop), for an applied-methods venue; not a new BO algorithm. Row 1 truth-known problems in full: replay A/B/C, synthetic functions with floor-matched noise, GP emulator of Stage 2. Downgraded: Sobol to one continuation per start set (descriptive); knee-only re-runs. Dropped: ≥ 20 real Stage-2 seeds, lower-τ continuation, 5-batch Sobol, other weather years, GP-fix restart. Total ≈ 4k (C + cheapest A/B) to ~14k core-h (full arms). Living report §9.7. Status column: PROGRESS 10-13.</a:t>
            </a:r>
          </a:p>
          <a:p>
            <a:r>
              <a:t>Sources: /Users/yilu/Documents/development/nd/research/admin/prompt/bogp/math-log.md;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Rebuilt from old slide 26 (execution order). Message and figure list: OUTLINE_1013 §24; power-systems review 10-13. Figure freeze 11-01, talk 11-02 → 11-08 as in bo_1012.</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D1/D2 of bo_1012 (methods design, BoTorch) were approved 10-12 (NXT-D9). D1 → slide 16; D2 → slides 15–16; D3 → slides 14, 23; D4 → slide 22; D5 → slide 20; D6 → slide 19; D7 → slide 5.</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slides B1–B7.</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Timeline from B (status line, pain log), ROUND_LOG.md, R, P34 and LR rows 10-06 … 10-13b; PROGRESS 10-13.</a:t>
            </a:r>
          </a:p>
          <a:p>
            <a:r>
              <a:t>Sources: /Users/yilu/Documents/GitHub/RTS-GMLC/trial_0826/campaign/analysis/bo_stage2/BO_STAGE2.md; /Users/yilu/Documents/GitHub/RTS-GMLC/trial_0826/campaign/analysis/bo_stage2/ROUND_LOG.md; /Users/yilu/Documents/GitHub/RTS-GMLC/trial_0826/campaign/analysis/random_baseline/RANDOM_BASELINE.md; /Users/yilu/Documents/development/nd/research/admin/prompt/bogp/34-random-baseline.md;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/Users/yilu/Documents/GitHub/RTS-GMLC/trial_0826/campaign/analysis/bo_stage2/figs/fig4_front_designs.png</a:t>
            </a:r>
          </a:p>
          <a:p>
            <a:r>
              <a:t>Notes: B §4.</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/Users/yilu/Documents/GitHub/RTS-GMLC/trial_0826/campaign/analysis/random_baseline/figs/fig4b_grand_front_unified.png</a:t>
            </a:r>
          </a:p>
          <a:p>
            <a:r>
              <a:t>Notes: R §4.3–4.4.</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status line, §2, pain log; R §2; LR 10-11c.</a:t>
            </a:r>
          </a:p>
          <a:p>
            <a:r>
              <a:t>Sources: /Users/yilu/Documents/GitHub/RTS-GMLC/trial_0826/campaign/analysis/bo_stage2/BO_STAGE2.md; /Users/yilu/Documents/GitHub/RTS-GMLC/trial_0826/campaign/analysis/random_baseline/RANDOM_BASELINE.md;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Wave C failure: 02b147d, CRC log selection_t1_v2_array.o1533432.6. Fix 7c5fb8d. From bo_1012 slide 32.</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processing notebook gtep/123_bus_coal/ERCOT_BUS123_base_XC_editeddata/demo_processing_XC.ipynb. Correct mapping: HR_avg_0 = 1000·C(Pmin)/(fp·Pmin); HR_incr_k = 1000·(ΔC_k/ΔP_k)/fp; start cost = Csu·Pmax. Check GTEP 123-bus work from the same folder. Living report §9.8; TL360_VERDICT banner (ercot e844fa7).</a:t>
            </a:r>
          </a:p>
          <a:p>
            <a:r>
              <a:t>Sources: /Users/yilu/Documents/development/nd/research/admin/prompt/bogp/living-report-multipem.md; /Users/yilu/Documents/development/nd/research/admin/prompt/bogp/math-log.md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35: d876321 (G1, G3), 1b17f42 (env), 6480264 + 8308211 (import fix, relaunch). 37: 2d529ec (Amendment 1), f5e4c14 (CRC gate + fingerprint). N1 gate moved to slide 16.</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5" name="Google Shape;5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a:spLocks noGrp="1"/>
          </p:cNvSpPr>
          <p:nvPr>
            <p:ph type="pic" idx="2"/>
          </p:nvPr>
        </p:nvSpPr>
        <p:spPr>
          <a:xfrm>
            <a:off x="5183188" y="987425"/>
            <a:ext cx="6172200" cy="4873625"/>
          </a:xfrm>
          <a:prstGeom prst="rect">
            <a:avLst/>
          </a:prstGeom>
          <a:noFill/>
          <a:ln>
            <a:noFill/>
          </a:ln>
        </p:spPr>
      </p:sp>
      <p:sp>
        <p:nvSpPr>
          <p:cNvPr id="67" name="Google Shape;6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body" idx="1"/>
          </p:nvPr>
        </p:nvSpPr>
        <p:spPr>
          <a:xfrm rot="5400000">
            <a:off x="3493362" y="-2344222"/>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
          <p:cNvPicPr preferRelativeResize="0"/>
          <p:nvPr/>
        </p:nvPicPr>
        <p:blipFill rotWithShape="1">
          <a:blip r:embed="rId12">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PI MEETING · 2026-10-13</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BO campaign + ERCOT v2: status and decisions, 2026-10-13</a:t>
            </a:r>
          </a:p>
        </p:txBody>
      </p:sp>
      <p:sp>
        <p:nvSpPr>
          <p:cNvPr id="6" name="TextBox 5"/>
          <p:cNvSpPr txBox="1"/>
          <p:nvPr/>
        </p:nvSpPr>
        <p:spPr>
          <a:xfrm>
            <a:off x="822960" y="3246120"/>
            <a:ext cx="10515600" cy="54864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Stage-2 q-ParEGO on RTS-GMLC (scenario C), the methods arms now running, and the first ERCOT results on corrected data.</a:t>
            </a:r>
          </a:p>
        </p:txBody>
      </p:sp>
      <p:sp>
        <p:nvSpPr>
          <p:cNvPr id="7" name="Rounded Rectangle 6"/>
          <p:cNvSpPr/>
          <p:nvPr/>
        </p:nvSpPr>
        <p:spPr>
          <a:xfrm>
            <a:off x="822960" y="3931920"/>
            <a:ext cx="10515600" cy="164592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3977640"/>
            <a:ext cx="10241280" cy="1554480"/>
          </a:xfrm>
          <a:prstGeom prst="rect">
            <a:avLst/>
          </a:prstGeom>
          <a:noFill/>
        </p:spPr>
        <p:txBody>
          <a:bodyPr wrap="square" anchor="ctr" lIns="45720" rIns="45720" tIns="27432" bIns="27432">
            <a:spAutoFit/>
          </a:bodyPr>
          <a:lstStyle/>
          <a:p>
            <a:pPr algn="l">
              <a:lnSpc>
                <a:spcPct val="105000"/>
              </a:lnSpc>
              <a:spcAft>
                <a:spcPts val="300"/>
              </a:spcAft>
            </a:pPr>
            <a:r>
              <a:rPr sz="1500" b="1" i="0">
                <a:solidFill>
                  <a:srgbClr val="0C2340"/>
                </a:solidFill>
                <a:latin typeface="Arial"/>
              </a:rPr>
              <a:t>Three asks today</a:t>
            </a:r>
          </a:p>
          <a:p>
            <a:pPr algn="l">
              <a:lnSpc>
                <a:spcPct val="105000"/>
              </a:lnSpc>
              <a:spcAft>
                <a:spcPts val="300"/>
              </a:spcAft>
            </a:pPr>
            <a:r>
              <a:rPr sz="1400" b="0" i="0">
                <a:solidFill>
                  <a:srgbClr val="1F1F1F"/>
                </a:solidFill>
                <a:latin typeface="Arial"/>
              </a:rPr>
              <a:t>1.  Sign off the N1 gate amendment and the primary HV reference (slides 15–16).</a:t>
            </a:r>
          </a:p>
          <a:p>
            <a:pPr algn="l">
              <a:lnSpc>
                <a:spcPct val="105000"/>
              </a:lnSpc>
              <a:spcAft>
                <a:spcPts val="300"/>
              </a:spcAft>
            </a:pPr>
            <a:r>
              <a:rPr sz="1400" b="0" i="0">
                <a:solidFill>
                  <a:srgbClr val="1F1F1F"/>
                </a:solidFill>
                <a:latin typeface="Arial"/>
              </a:rPr>
              <a:t>2.  Approve the redesigned ERCOT wave D (slide 22).</a:t>
            </a:r>
          </a:p>
          <a:p>
            <a:pPr algn="l">
              <a:lnSpc>
                <a:spcPct val="105000"/>
              </a:lnSpc>
              <a:spcAft>
                <a:spcPts val="300"/>
              </a:spcAft>
            </a:pPr>
            <a:r>
              <a:rPr sz="1400" b="0" i="0">
                <a:solidFill>
                  <a:srgbClr val="1F1F1F"/>
                </a:solidFill>
                <a:latin typeface="Arial"/>
              </a:rPr>
              <a:t>3.  Decide: scenarios A/B before submission, or a scenario-C-only claim (slide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What each claim needs, and where it stands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34440"/>
          <a:ext cx="11247119" cy="3950208"/>
        </p:xfrm>
        <a:graphic>
          <a:graphicData uri="http://schemas.openxmlformats.org/drawingml/2006/table">
            <a:tbl>
              <a:tblPr firstRow="1" bandRow="1">
                <a:tableStyleId>{5C22544A-7EE6-4342-B048-85BDC9FD1C3A}</a:tableStyleId>
              </a:tblPr>
              <a:tblGrid>
                <a:gridCol w="3749039"/>
                <a:gridCol w="2926080"/>
                <a:gridCol w="2377440"/>
                <a:gridCol w="2194560"/>
              </a:tblGrid>
              <a:tr h="438912">
                <a:tc>
                  <a:txBody>
                    <a:bodyPr wrap="square"/>
                    <a:lstStyle/>
                    <a:p>
                      <a:r>
                        <a:rPr sz="1200" b="1" i="0">
                          <a:solidFill>
                            <a:srgbClr val="1F1F1F"/>
                          </a:solidFill>
                          <a:latin typeface="Arial"/>
                        </a:rPr>
                        <a:t>Claim</a:t>
                      </a:r>
                    </a:p>
                  </a:txBody>
                  <a:tcPr marL="54864" marR="54864" marT="27432" marB="27432">
                    <a:solidFill>
                      <a:srgbClr val="DCE3EE"/>
                    </a:solidFill>
                  </a:tcPr>
                </a:tc>
                <a:tc>
                  <a:txBody>
                    <a:bodyPr wrap="square"/>
                    <a:lstStyle/>
                    <a:p>
                      <a:r>
                        <a:rPr sz="1200" b="1" i="0">
                          <a:solidFill>
                            <a:srgbClr val="1F1F1F"/>
                          </a:solidFill>
                          <a:latin typeface="Arial"/>
                        </a:rPr>
                        <a:t>Evidence (experiment)</a:t>
                      </a:r>
                    </a:p>
                  </a:txBody>
                  <a:tcPr marL="54864" marR="54864" marT="27432" marB="27432">
                    <a:solidFill>
                      <a:srgbClr val="DCE3EE"/>
                    </a:solidFill>
                  </a:tcPr>
                </a:tc>
                <a:tc>
                  <a:txBody>
                    <a:bodyPr wrap="square"/>
                    <a:lstStyle/>
                    <a:p>
                      <a:r>
                        <a:rPr sz="1200" b="1" i="0">
                          <a:solidFill>
                            <a:srgbClr val="1F1F1F"/>
                          </a:solidFill>
                          <a:latin typeface="Arial"/>
                        </a:rPr>
                        <a:t>Status 10-13</a:t>
                      </a:r>
                    </a:p>
                  </a:txBody>
                  <a:tcPr marL="54864" marR="54864" marT="27432" marB="27432">
                    <a:solidFill>
                      <a:srgbClr val="DCE3EE"/>
                    </a:solidFill>
                  </a:tcPr>
                </a:tc>
                <a:tc>
                  <a:txBody>
                    <a:bodyPr wrap="square"/>
                    <a:lstStyle/>
                    <a:p>
                      <a:r>
                        <a:rPr sz="1200" b="1" i="0">
                          <a:solidFill>
                            <a:srgbClr val="1F1F1F"/>
                          </a:solidFill>
                          <a:latin typeface="Arial"/>
                        </a:rPr>
                        <a:t>What would weaken it</a:t>
                      </a:r>
                    </a:p>
                  </a:txBody>
                  <a:tcPr marL="54864" marR="54864" marT="27432" marB="27432">
                    <a:solidFill>
                      <a:srgbClr val="DCE3EE"/>
                    </a:solidFill>
                  </a:tcPr>
                </a:tc>
              </a:tr>
              <a:tr h="438912">
                <a:tc>
                  <a:txBody>
                    <a:bodyPr wrap="square"/>
                    <a:lstStyle/>
                    <a:p>
                      <a:r>
                        <a:rPr sz="1200" b="0" i="0">
                          <a:solidFill>
                            <a:srgbClr val="1F1F1F"/>
                          </a:solidFill>
                          <a:latin typeface="Arial"/>
                        </a:rPr>
                        <a:t>W  Workflow: pre-registered, auditable MOBO on a real PCM stops on its rule</a:t>
                      </a:r>
                    </a:p>
                  </a:txBody>
                  <a:tcPr marL="54864" marR="54864" marT="27432" marB="27432">
                    <a:solidFill>
                      <a:srgbClr val="FFFFFF"/>
                    </a:solidFill>
                  </a:tcPr>
                </a:tc>
                <a:tc>
                  <a:txBody>
                    <a:bodyPr wrap="square"/>
                    <a:lstStyle/>
                    <a:p>
                      <a:r>
                        <a:rPr sz="1200" b="0" i="0">
                          <a:solidFill>
                            <a:srgbClr val="1F1F1F"/>
                          </a:solidFill>
                          <a:latin typeface="Arial"/>
                        </a:rPr>
                        <a:t>Stage-2 run (done)</a:t>
                      </a:r>
                    </a:p>
                  </a:txBody>
                  <a:tcPr marL="54864" marR="54864" marT="27432" marB="27432">
                    <a:solidFill>
                      <a:srgbClr val="FFFFFF"/>
                    </a:solidFill>
                  </a:tcPr>
                </a:tc>
                <a:tc>
                  <a:txBody>
                    <a:bodyPr wrap="square"/>
                    <a:lstStyle/>
                    <a:p>
                      <a:r>
                        <a:rPr sz="1200" b="0" i="0">
                          <a:solidFill>
                            <a:srgbClr val="1F1F1F"/>
                          </a:solidFill>
                          <a:latin typeface="Arial"/>
                        </a:rPr>
                        <a:t>supported; "unattended" only up to qsub</a:t>
                      </a:r>
                    </a:p>
                  </a:txBody>
                  <a:tcPr marL="54864" marR="54864" marT="27432" marB="27432">
                    <a:solidFill>
                      <a:srgbClr val="FFFFFF"/>
                    </a:solidFill>
                  </a:tcPr>
                </a:tc>
                <a:tc>
                  <a:txBody>
                    <a:bodyPr wrap="square"/>
                    <a:lstStyle/>
                    <a:p>
                      <a:r>
                        <a:rPr sz="1200" b="0" i="0">
                          <a:solidFill>
                            <a:srgbClr val="1F1F1F"/>
                          </a:solidFill>
                          <a:latin typeface="Arial"/>
                        </a:rPr>
                        <a:t>—</a:t>
                      </a:r>
                    </a:p>
                  </a:txBody>
                  <a:tcPr marL="54864" marR="54864" marT="27432" marB="27432">
                    <a:solidFill>
                      <a:srgbClr val="FFFFFF"/>
                    </a:solidFill>
                  </a:tcPr>
                </a:tc>
              </a:tr>
              <a:tr h="438912">
                <a:tc>
                  <a:txBody>
                    <a:bodyPr wrap="square"/>
                    <a:lstStyle/>
                    <a:p>
                      <a:r>
                        <a:rPr sz="1200" b="0" i="0">
                          <a:solidFill>
                            <a:srgbClr val="1F1F1F"/>
                          </a:solidFill>
                          <a:latin typeface="Arial"/>
                        </a:rPr>
                        <a:t>S  The stop rule has a known operating characteristic</a:t>
                      </a:r>
                    </a:p>
                  </a:txBody>
                  <a:tcPr marL="54864" marR="54864" marT="27432" marB="27432">
                    <a:solidFill>
                      <a:srgbClr val="F6F6F6"/>
                    </a:solidFill>
                  </a:tcPr>
                </a:tc>
                <a:tc>
                  <a:txBody>
                    <a:bodyPr wrap="square"/>
                    <a:lstStyle/>
                    <a:p>
                      <a:r>
                        <a:rPr sz="1200" b="0" i="0">
                          <a:solidFill>
                            <a:srgbClr val="1F1F1F"/>
                          </a:solidFill>
                          <a:latin typeface="Arial"/>
                        </a:rPr>
                        <a:t>37 (truth-known problems); 35 P1 r3–r4 (real data)</a:t>
                      </a:r>
                    </a:p>
                  </a:txBody>
                  <a:tcPr marL="54864" marR="54864" marT="27432" marB="27432">
                    <a:solidFill>
                      <a:srgbClr val="F6F6F6"/>
                    </a:solidFill>
                  </a:tcPr>
                </a:tc>
                <a:tc>
                  <a:txBody>
                    <a:bodyPr wrap="square"/>
                    <a:lstStyle/>
                    <a:p>
                      <a:r>
                        <a:rPr sz="1200" b="0" i="0">
                          <a:solidFill>
                            <a:srgbClr val="1F1F1F"/>
                          </a:solidFill>
                          <a:latin typeface="Arial"/>
                        </a:rPr>
                        <a:t>running</a:t>
                      </a:r>
                    </a:p>
                  </a:txBody>
                  <a:tcPr marL="54864" marR="54864" marT="27432" marB="27432">
                    <a:solidFill>
                      <a:srgbClr val="F6F6F6"/>
                    </a:solidFill>
                  </a:tcPr>
                </a:tc>
                <a:tc>
                  <a:txBody>
                    <a:bodyPr wrap="square"/>
                    <a:lstStyle/>
                    <a:p>
                      <a:r>
                        <a:rPr sz="1200" b="0" i="0">
                          <a:solidFill>
                            <a:srgbClr val="1F1F1F"/>
                          </a:solidFill>
                          <a:latin typeface="Arial"/>
                        </a:rPr>
                        <a:t>S0 acts as "stop after 2 rounds"</a:t>
                      </a:r>
                    </a:p>
                  </a:txBody>
                  <a:tcPr marL="54864" marR="54864" marT="27432" marB="27432">
                    <a:solidFill>
                      <a:srgbClr val="F6F6F6"/>
                    </a:solidFill>
                  </a:tcPr>
                </a:tc>
              </a:tr>
              <a:tr h="438912">
                <a:tc>
                  <a:txBody>
                    <a:bodyPr wrap="square"/>
                    <a:lstStyle/>
                    <a:p>
                      <a:r>
                        <a:rPr sz="1200" b="0" i="0">
                          <a:solidFill>
                            <a:srgbClr val="1F1F1F"/>
                          </a:solidFill>
                          <a:latin typeface="Arial"/>
                        </a:rPr>
                        <a:t>ii  Results are stable across replicates (start set + seed)</a:t>
                      </a:r>
                    </a:p>
                  </a:txBody>
                  <a:tcPr marL="54864" marR="54864" marT="27432" marB="27432">
                    <a:solidFill>
                      <a:srgbClr val="FFFFFF"/>
                    </a:solidFill>
                  </a:tcPr>
                </a:tc>
                <a:tc>
                  <a:txBody>
                    <a:bodyPr wrap="square"/>
                    <a:lstStyle/>
                    <a:p>
                      <a:r>
                        <a:rPr sz="1200" b="0" i="0">
                          <a:solidFill>
                            <a:srgbClr val="1F1F1F"/>
                          </a:solidFill>
                          <a:latin typeface="Arial"/>
                        </a:rPr>
                        <a:t>35 S2, S3 vs P1</a:t>
                      </a:r>
                    </a:p>
                  </a:txBody>
                  <a:tcPr marL="54864" marR="54864" marT="27432" marB="27432">
                    <a:solidFill>
                      <a:srgbClr val="FFFFFF"/>
                    </a:solidFill>
                  </a:tcPr>
                </a:tc>
                <a:tc>
                  <a:txBody>
                    <a:bodyPr wrap="square"/>
                    <a:lstStyle/>
                    <a:p>
                      <a:r>
                        <a:rPr sz="1200" b="0" i="0">
                          <a:solidFill>
                            <a:srgbClr val="1F1F1F"/>
                          </a:solidFill>
                          <a:latin typeface="Arial"/>
                        </a:rPr>
                        <a:t>running</a:t>
                      </a:r>
                    </a:p>
                  </a:txBody>
                  <a:tcPr marL="54864" marR="54864" marT="27432" marB="27432">
                    <a:solidFill>
                      <a:srgbClr val="FFFFFF"/>
                    </a:solidFill>
                  </a:tcPr>
                </a:tc>
                <a:tc>
                  <a:txBody>
                    <a:bodyPr wrap="square"/>
                    <a:lstStyle/>
                    <a:p>
                      <a:r>
                        <a:rPr sz="1200" b="0" i="0">
                          <a:solidFill>
                            <a:srgbClr val="1F1F1F"/>
                          </a:solidFill>
                          <a:latin typeface="Arial"/>
                        </a:rPr>
                        <a:t>P2/P3 below 0.8 percentile, or recipe at base rate</a:t>
                      </a:r>
                    </a:p>
                  </a:txBody>
                  <a:tcPr marL="54864" marR="54864" marT="27432" marB="27432">
                    <a:solidFill>
                      <a:srgbClr val="FFFFFF"/>
                    </a:solidFill>
                  </a:tcPr>
                </a:tc>
              </a:tr>
              <a:tr h="438912">
                <a:tc>
                  <a:txBody>
                    <a:bodyPr wrap="square"/>
                    <a:lstStyle/>
                    <a:p>
                      <a:r>
                        <a:rPr sz="1200" b="0" i="0">
                          <a:solidFill>
                            <a:srgbClr val="1F1F1F"/>
                          </a:solidFill>
                          <a:latin typeface="Arial"/>
                        </a:rPr>
                        <a:t>iii  Found designs follow the sensitivity structure (recipe)</a:t>
                      </a:r>
                    </a:p>
                  </a:txBody>
                  <a:tcPr marL="54864" marR="54864" marT="27432" marB="27432">
                    <a:solidFill>
                      <a:srgbClr val="F6F6F6"/>
                    </a:solidFill>
                  </a:tcPr>
                </a:tc>
                <a:tc>
                  <a:txBody>
                    <a:bodyPr wrap="square"/>
                    <a:lstStyle/>
                    <a:p>
                      <a:r>
                        <a:rPr sz="1200" b="0" i="0">
                          <a:solidFill>
                            <a:srgbClr val="1F1F1F"/>
                          </a:solidFill>
                          <a:latin typeface="Arial"/>
                        </a:rPr>
                        <a:t>Stage-2 + random baseline; 35 P2/P3 out-of-sample</a:t>
                      </a:r>
                    </a:p>
                  </a:txBody>
                  <a:tcPr marL="54864" marR="54864" marT="27432" marB="27432">
                    <a:solidFill>
                      <a:srgbClr val="F6F6F6"/>
                    </a:solidFill>
                  </a:tcPr>
                </a:tc>
                <a:tc>
                  <a:txBody>
                    <a:bodyPr wrap="square"/>
                    <a:lstStyle/>
                    <a:p>
                      <a:r>
                        <a:rPr sz="1200" b="0" i="0">
                          <a:solidFill>
                            <a:srgbClr val="1F1F1F"/>
                          </a:solidFill>
                          <a:latin typeface="Arial"/>
                        </a:rPr>
                        <a:t>in-sample only</a:t>
                      </a:r>
                    </a:p>
                  </a:txBody>
                  <a:tcPr marL="54864" marR="54864" marT="27432" marB="27432">
                    <a:solidFill>
                      <a:srgbClr val="F6F6F6"/>
                    </a:solidFill>
                  </a:tcPr>
                </a:tc>
                <a:tc>
                  <a:txBody>
                    <a:bodyPr wrap="square"/>
                    <a:lstStyle/>
                    <a:p>
                      <a:r>
                        <a:rPr sz="1200" b="0" i="0">
                          <a:solidFill>
                            <a:srgbClr val="1F1F1F"/>
                          </a:solidFill>
                          <a:latin typeface="Arial"/>
                        </a:rPr>
                        <a:t>recipe fails on P2/P3</a:t>
                      </a:r>
                    </a:p>
                  </a:txBody>
                  <a:tcPr marL="54864" marR="54864" marT="27432" marB="27432">
                    <a:solidFill>
                      <a:srgbClr val="F6F6F6"/>
                    </a:solidFill>
                  </a:tcPr>
                </a:tc>
              </a:tr>
              <a:tr h="438912">
                <a:tc>
                  <a:txBody>
                    <a:bodyPr wrap="square"/>
                    <a:lstStyle/>
                    <a:p>
                      <a:r>
                        <a:rPr sz="1200" b="0" i="0">
                          <a:solidFill>
                            <a:srgbClr val="1F1F1F"/>
                          </a:solidFill>
                          <a:latin typeface="Arial"/>
                        </a:rPr>
                        <a:t>A  The workflow does not depend on the acquisition</a:t>
                      </a:r>
                    </a:p>
                  </a:txBody>
                  <a:tcPr marL="54864" marR="54864" marT="27432" marB="27432">
                    <a:solidFill>
                      <a:srgbClr val="FFFFFF"/>
                    </a:solidFill>
                  </a:tcPr>
                </a:tc>
                <a:tc>
                  <a:txBody>
                    <a:bodyPr wrap="square"/>
                    <a:lstStyle/>
                    <a:p>
                      <a:r>
                        <a:rPr sz="1200" b="0" i="0">
                          <a:solidFill>
                            <a:srgbClr val="1F1F1F"/>
                          </a:solidFill>
                          <a:latin typeface="Arial"/>
                        </a:rPr>
                        <a:t>35 N1 (qNEHVI, 1 seed); 37</a:t>
                      </a:r>
                    </a:p>
                  </a:txBody>
                  <a:tcPr marL="54864" marR="54864" marT="27432" marB="27432">
                    <a:solidFill>
                      <a:srgbClr val="FFFFFF"/>
                    </a:solidFill>
                  </a:tcPr>
                </a:tc>
                <a:tc>
                  <a:txBody>
                    <a:bodyPr wrap="square"/>
                    <a:lstStyle/>
                    <a:p>
                      <a:r>
                        <a:rPr sz="1200" b="0" i="0">
                          <a:solidFill>
                            <a:srgbClr val="1F1F1F"/>
                          </a:solidFill>
                          <a:latin typeface="Arial"/>
                        </a:rPr>
                        <a:t>running</a:t>
                      </a:r>
                    </a:p>
                  </a:txBody>
                  <a:tcPr marL="54864" marR="54864" marT="27432" marB="27432">
                    <a:solidFill>
                      <a:srgbClr val="FFFFFF"/>
                    </a:solidFill>
                  </a:tcPr>
                </a:tc>
                <a:tc>
                  <a:txBody>
                    <a:bodyPr wrap="square"/>
                    <a:lstStyle/>
                    <a:p>
                      <a:r>
                        <a:rPr sz="1200" b="0" i="0">
                          <a:solidFill>
                            <a:srgbClr val="1F1F1F"/>
                          </a:solidFill>
                          <a:latin typeface="Arial"/>
                        </a:rPr>
                        <a:t>N1 clearly better than q-ParEGO</a:t>
                      </a:r>
                    </a:p>
                  </a:txBody>
                  <a:tcPr marL="54864" marR="54864" marT="27432" marB="27432">
                    <a:solidFill>
                      <a:srgbClr val="FFFFFF"/>
                    </a:solidFill>
                  </a:tcPr>
                </a:tc>
              </a:tr>
              <a:tr h="438912">
                <a:tc>
                  <a:txBody>
                    <a:bodyPr wrap="square"/>
                    <a:lstStyle/>
                    <a:p>
                      <a:r>
                        <a:rPr sz="1200" b="0" i="0">
                          <a:solidFill>
                            <a:srgbClr val="1F1F1F"/>
                          </a:solidFill>
                          <a:latin typeface="Arial"/>
                        </a:rPr>
                        <a:t>B  BO places above random; BO reaches the extremes</a:t>
                      </a:r>
                    </a:p>
                  </a:txBody>
                  <a:tcPr marL="54864" marR="54864" marT="27432" marB="27432">
                    <a:solidFill>
                      <a:srgbClr val="F6F6F6"/>
                    </a:solidFill>
                  </a:tcPr>
                </a:tc>
                <a:tc>
                  <a:txBody>
                    <a:bodyPr wrap="square"/>
                    <a:lstStyle/>
                    <a:p>
                      <a:r>
                        <a:rPr sz="1200" b="0" i="0">
                          <a:solidFill>
                            <a:srgbClr val="1F1F1F"/>
                          </a:solidFill>
                          <a:latin typeface="Arial"/>
                        </a:rPr>
                        <a:t>random baseline (done)</a:t>
                      </a:r>
                    </a:p>
                  </a:txBody>
                  <a:tcPr marL="54864" marR="54864" marT="27432" marB="27432">
                    <a:solidFill>
                      <a:srgbClr val="F6F6F6"/>
                    </a:solidFill>
                  </a:tcPr>
                </a:tc>
                <a:tc>
                  <a:txBody>
                    <a:bodyPr wrap="square"/>
                    <a:lstStyle/>
                    <a:p>
                      <a:r>
                        <a:rPr sz="1200" b="0" i="0">
                          <a:solidFill>
                            <a:srgbClr val="1F1F1F"/>
                          </a:solidFill>
                          <a:latin typeface="Arial"/>
                        </a:rPr>
                        <a:t>above at both refs, not robust; extremes clear</a:t>
                      </a:r>
                    </a:p>
                  </a:txBody>
                  <a:tcPr marL="54864" marR="54864" marT="27432" marB="27432">
                    <a:solidFill>
                      <a:srgbClr val="F6F6F6"/>
                    </a:solidFill>
                  </a:tcPr>
                </a:tc>
                <a:tc>
                  <a:txBody>
                    <a:bodyPr wrap="square"/>
                    <a:lstStyle/>
                    <a:p>
                      <a:r>
                        <a:rPr sz="1200" b="0" i="0">
                          <a:solidFill>
                            <a:srgbClr val="1F1F1F"/>
                          </a:solidFill>
                          <a:latin typeface="Arial"/>
                        </a:rPr>
                        <a:t>—</a:t>
                      </a:r>
                    </a:p>
                  </a:txBody>
                  <a:tcPr marL="54864" marR="54864" marT="27432" marB="27432">
                    <a:solidFill>
                      <a:srgbClr val="F6F6F6"/>
                    </a:solidFill>
                  </a:tcPr>
                </a:tc>
              </a:tr>
              <a:tr h="438912">
                <a:tc>
                  <a:txBody>
                    <a:bodyPr wrap="square"/>
                    <a:lstStyle/>
                    <a:p>
                      <a:r>
                        <a:rPr sz="1200" b="0" i="0">
                          <a:solidFill>
                            <a:srgbClr val="1F1F1F"/>
                          </a:solidFill>
                          <a:latin typeface="Arial"/>
                        </a:rPr>
                        <a:t>T  The workflow transfers to another grid</a:t>
                      </a:r>
                    </a:p>
                  </a:txBody>
                  <a:tcPr marL="54864" marR="54864" marT="27432" marB="27432">
                    <a:solidFill>
                      <a:srgbClr val="FFFFFF"/>
                    </a:solidFill>
                  </a:tcPr>
                </a:tc>
                <a:tc>
                  <a:txBody>
                    <a:bodyPr wrap="square"/>
                    <a:lstStyle/>
                    <a:p>
                      <a:r>
                        <a:rPr sz="1200" b="0" i="0">
                          <a:solidFill>
                            <a:srgbClr val="1F1F1F"/>
                          </a:solidFill>
                          <a:latin typeface="Arial"/>
                        </a:rPr>
                        <a:t>ERCOT (36: screening + OAT only, no BO)</a:t>
                      </a:r>
                    </a:p>
                  </a:txBody>
                  <a:tcPr marL="54864" marR="54864" marT="27432" marB="27432">
                    <a:solidFill>
                      <a:srgbClr val="FFFFFF"/>
                    </a:solidFill>
                  </a:tcPr>
                </a:tc>
                <a:tc>
                  <a:txBody>
                    <a:bodyPr wrap="square"/>
                    <a:lstStyle/>
                    <a:p>
                      <a:r>
                        <a:rPr sz="1200" b="0" i="0">
                          <a:solidFill>
                            <a:srgbClr val="1F1F1F"/>
                          </a:solidFill>
                          <a:latin typeface="Arial"/>
                        </a:rPr>
                        <a:t>no experiment</a:t>
                      </a:r>
                    </a:p>
                  </a:txBody>
                  <a:tcPr marL="54864" marR="54864" marT="27432" marB="27432">
                    <a:solidFill>
                      <a:srgbClr val="FFFFFF"/>
                    </a:solidFill>
                  </a:tcPr>
                </a:tc>
                <a:tc>
                  <a:txBody>
                    <a:bodyPr wrap="square"/>
                    <a:lstStyle/>
                    <a:p>
                      <a:r>
                        <a:rPr sz="1200" b="0" i="0">
                          <a:solidFill>
                            <a:srgbClr val="1F1F1F"/>
                          </a:solidFill>
                          <a:latin typeface="Arial"/>
                        </a:rPr>
                        <a:t>—</a:t>
                      </a:r>
                    </a:p>
                  </a:txBody>
                  <a:tcPr marL="54864" marR="54864" marT="27432" marB="27432">
                    <a:solidFill>
                      <a:srgbClr val="FFFFFF"/>
                    </a:solidFill>
                  </a:tcPr>
                </a:tc>
              </a:tr>
              <a:tr h="438912">
                <a:tc>
                  <a:txBody>
                    <a:bodyPr wrap="square"/>
                    <a:lstStyle/>
                    <a:p>
                      <a:r>
                        <a:rPr sz="1200" b="0" i="0">
                          <a:solidFill>
                            <a:srgbClr val="1F1F1F"/>
                          </a:solidFill>
                          <a:latin typeface="Arial"/>
                        </a:rPr>
                        <a:t>i  Convergence within budget</a:t>
                      </a:r>
                    </a:p>
                  </a:txBody>
                  <a:tcPr marL="54864" marR="54864" marT="27432" marB="27432">
                    <a:solidFill>
                      <a:srgbClr val="F6F6F6"/>
                    </a:solidFill>
                  </a:tcPr>
                </a:tc>
                <a:tc>
                  <a:txBody>
                    <a:bodyPr wrap="square"/>
                    <a:lstStyle/>
                    <a:p>
                      <a:r>
                        <a:rPr sz="1200" b="0" i="0">
                          <a:solidFill>
                            <a:srgbClr val="1F1F1F"/>
                          </a:solidFill>
                          <a:latin typeface="Arial"/>
                        </a:rPr>
                        <a:t>—</a:t>
                      </a:r>
                    </a:p>
                  </a:txBody>
                  <a:tcPr marL="54864" marR="54864" marT="27432" marB="27432">
                    <a:solidFill>
                      <a:srgbClr val="F6F6F6"/>
                    </a:solidFill>
                  </a:tcPr>
                </a:tc>
                <a:tc>
                  <a:txBody>
                    <a:bodyPr wrap="square"/>
                    <a:lstStyle/>
                    <a:p>
                      <a:r>
                        <a:rPr sz="1200" b="0" i="0">
                          <a:solidFill>
                            <a:srgbClr val="1F1F1F"/>
                          </a:solidFill>
                          <a:latin typeface="Arial"/>
                        </a:rPr>
                        <a:t>retired (not shown)</a:t>
                      </a:r>
                    </a:p>
                  </a:txBody>
                  <a:tcPr marL="54864" marR="54864" marT="27432" marB="27432">
                    <a:solidFill>
                      <a:srgbClr val="F6F6F6"/>
                    </a:solidFill>
                  </a:tcPr>
                </a:tc>
                <a:tc>
                  <a:txBody>
                    <a:bodyPr wrap="square"/>
                    <a:lstStyle/>
                    <a:p>
                      <a:r>
                        <a:rPr sz="1200" b="0" i="0">
                          <a:solidFill>
                            <a:srgbClr val="1F1F1F"/>
                          </a:solidFill>
                          <a:latin typeface="Arial"/>
                        </a:rPr>
                        <a:t>—</a:t>
                      </a:r>
                    </a:p>
                  </a:txBody>
                  <a:tcPr marL="54864" marR="54864" marT="27432" marB="27432">
                    <a:solidFill>
                      <a:srgbClr val="F6F6F6"/>
                    </a:solidFill>
                  </a:tcPr>
                </a:tc>
              </a:tr>
            </a:tbl>
          </a:graphicData>
        </a:graphic>
      </p:graphicFrame>
      <p:sp>
        <p:nvSpPr>
          <p:cNvPr id="6" name="TextBox 5"/>
          <p:cNvSpPr txBox="1"/>
          <p:nvPr/>
        </p:nvSpPr>
        <p:spPr>
          <a:xfrm>
            <a:off x="457200" y="5669280"/>
            <a:ext cx="11247120" cy="5486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6B6B6B"/>
                </a:solidFill>
                <a:latin typeface="Arial"/>
              </a:rPr>
              <a:t>Bottom line: Sobol continuations Q1–Q3 serve no claim (descriptive). Prompt 38 (mechanism) gates the shed axis for S, B and iii.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Three prompts run on CRC; prompt 38 is ready</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80160"/>
          <a:ext cx="11247120" cy="4343400"/>
        </p:xfrm>
        <a:graphic>
          <a:graphicData uri="http://schemas.openxmlformats.org/drawingml/2006/table">
            <a:tbl>
              <a:tblPr firstRow="1" bandRow="1">
                <a:tableStyleId>{5C22544A-7EE6-4342-B048-85BDC9FD1C3A}</a:tableStyleId>
              </a:tblPr>
              <a:tblGrid>
                <a:gridCol w="1737360"/>
                <a:gridCol w="3200400"/>
                <a:gridCol w="2651760"/>
                <a:gridCol w="2194560"/>
                <a:gridCol w="1463040"/>
              </a:tblGrid>
              <a:tr h="868680">
                <a:tc>
                  <a:txBody>
                    <a:bodyPr wrap="square"/>
                    <a:lstStyle/>
                    <a:p>
                      <a:r>
                        <a:rPr sz="1200" b="1" i="0">
                          <a:solidFill>
                            <a:srgbClr val="1F1F1F"/>
                          </a:solidFill>
                          <a:latin typeface="Arial"/>
                        </a:rPr>
                        <a:t>Work</a:t>
                      </a:r>
                    </a:p>
                  </a:txBody>
                  <a:tcPr marL="54864" marR="54864" marT="27432" marB="27432">
                    <a:solidFill>
                      <a:srgbClr val="DCE3EE"/>
                    </a:solidFill>
                  </a:tcPr>
                </a:tc>
                <a:tc>
                  <a:txBody>
                    <a:bodyPr wrap="square"/>
                    <a:lstStyle/>
                    <a:p>
                      <a:r>
                        <a:rPr sz="1200" b="1" i="0">
                          <a:solidFill>
                            <a:srgbClr val="1F1F1F"/>
                          </a:solidFill>
                          <a:latin typeface="Arial"/>
                        </a:rPr>
                        <a:t>Question</a:t>
                      </a:r>
                    </a:p>
                  </a:txBody>
                  <a:tcPr marL="54864" marR="54864" marT="27432" marB="27432">
                    <a:solidFill>
                      <a:srgbClr val="DCE3EE"/>
                    </a:solidFill>
                  </a:tcPr>
                </a:tc>
                <a:tc>
                  <a:txBody>
                    <a:bodyPr wrap="square"/>
                    <a:lstStyle/>
                    <a:p>
                      <a:r>
                        <a:rPr sz="1200" b="1" i="0">
                          <a:solidFill>
                            <a:srgbClr val="1F1F1F"/>
                          </a:solidFill>
                          <a:latin typeface="Arial"/>
                        </a:rPr>
                        <a:t>CRC work</a:t>
                      </a:r>
                    </a:p>
                  </a:txBody>
                  <a:tcPr marL="54864" marR="54864" marT="27432" marB="27432">
                    <a:solidFill>
                      <a:srgbClr val="DCE3EE"/>
                    </a:solidFill>
                  </a:tcPr>
                </a:tc>
                <a:tc>
                  <a:txBody>
                    <a:bodyPr wrap="square"/>
                    <a:lstStyle/>
                    <a:p>
                      <a:r>
                        <a:rPr sz="1200" b="1" i="0">
                          <a:solidFill>
                            <a:srgbClr val="1F1F1F"/>
                          </a:solidFill>
                          <a:latin typeface="Arial"/>
                        </a:rPr>
                        <a:t>State 10-13</a:t>
                      </a:r>
                    </a:p>
                  </a:txBody>
                  <a:tcPr marL="54864" marR="54864" marT="27432" marB="27432">
                    <a:solidFill>
                      <a:srgbClr val="DCE3EE"/>
                    </a:solidFill>
                  </a:tcPr>
                </a:tc>
                <a:tc>
                  <a:txBody>
                    <a:bodyPr wrap="square"/>
                    <a:lstStyle/>
                    <a:p>
                      <a:r>
                        <a:rPr sz="1200" b="1" i="0">
                          <a:solidFill>
                            <a:srgbClr val="1F1F1F"/>
                          </a:solidFill>
                          <a:latin typeface="Arial"/>
                        </a:rPr>
                        <a:t>Results</a:t>
                      </a:r>
                    </a:p>
                  </a:txBody>
                  <a:tcPr marL="54864" marR="54864" marT="27432" marB="27432">
                    <a:solidFill>
                      <a:srgbClr val="DCE3EE"/>
                    </a:solidFill>
                  </a:tcPr>
                </a:tc>
              </a:tr>
              <a:tr h="868680">
                <a:tc>
                  <a:txBody>
                    <a:bodyPr wrap="square"/>
                    <a:lstStyle/>
                    <a:p>
                      <a:r>
                        <a:rPr sz="1200" b="0" i="0">
                          <a:solidFill>
                            <a:srgbClr val="1F1F1F"/>
                          </a:solidFill>
                          <a:latin typeface="Arial"/>
                        </a:rPr>
                        <a:t>Replicates + acquisition (35)</a:t>
                      </a:r>
                    </a:p>
                  </a:txBody>
                  <a:tcPr marL="54864" marR="54864" marT="27432" marB="27432">
                    <a:solidFill>
                      <a:srgbClr val="FFFFFF"/>
                    </a:solidFill>
                  </a:tcPr>
                </a:tc>
                <a:tc>
                  <a:txBody>
                    <a:bodyPr wrap="square"/>
                    <a:lstStyle/>
                    <a:p>
                      <a:r>
                        <a:rPr sz="1200" b="0" i="0">
                          <a:solidFill>
                            <a:srgbClr val="1F1F1F"/>
                          </a:solidFill>
                          <a:latin typeface="Arial"/>
                        </a:rPr>
                        <a:t>Is q-ParEGO stable across replicates at a fixed budget of 64? Is one qNEHVI run consistent with it?</a:t>
                      </a:r>
                    </a:p>
                  </a:txBody>
                  <a:tcPr marL="54864" marR="54864" marT="27432" marB="27432">
                    <a:solidFill>
                      <a:srgbClr val="FFFFFF"/>
                    </a:solidFill>
                  </a:tcPr>
                </a:tc>
                <a:tc>
                  <a:txBody>
                    <a:bodyPr wrap="square"/>
                    <a:lstStyle/>
                    <a:p>
                      <a:r>
                        <a:rPr sz="1200" b="0" i="0">
                          <a:solidFill>
                            <a:srgbClr val="1F1F1F"/>
                          </a:solidFill>
                          <a:latin typeface="Arial"/>
                        </a:rPr>
                        <a:t>7 arms: start sets S2, S3; Sobol continuations Q1–Q3; P1 rounds 3–4; qNEHVI N1</a:t>
                      </a:r>
                    </a:p>
                  </a:txBody>
                  <a:tcPr marL="54864" marR="54864" marT="27432" marB="27432">
                    <a:solidFill>
                      <a:srgbClr val="FFFFFF"/>
                    </a:solidFill>
                  </a:tcPr>
                </a:tc>
                <a:tc>
                  <a:txBody>
                    <a:bodyPr wrap="square"/>
                    <a:lstStyle/>
                    <a:p>
                      <a:r>
                        <a:rPr sz="1200" b="0" i="0">
                          <a:solidFill>
                            <a:srgbClr val="1F1F1F"/>
                          </a:solidFill>
                          <a:latin typeface="Arial"/>
                        </a:rPr>
                        <a:t>running since 10-12 21:00; this is the last allowed relaunch</a:t>
                      </a:r>
                    </a:p>
                  </a:txBody>
                  <a:tcPr marL="54864" marR="54864" marT="27432" marB="27432">
                    <a:solidFill>
                      <a:srgbClr val="FFFFFF"/>
                    </a:solidFill>
                  </a:tcPr>
                </a:tc>
                <a:tc>
                  <a:txBody>
                    <a:bodyPr wrap="square"/>
                    <a:lstStyle/>
                    <a:p>
                      <a:r>
                        <a:rPr sz="1200" b="0" i="0">
                          <a:solidFill>
                            <a:srgbClr val="1F1F1F"/>
                          </a:solidFill>
                          <a:latin typeface="Arial"/>
                        </a:rPr>
                        <a:t>first round ≈ 10-13; all ≈ 10-17 → 10-19</a:t>
                      </a:r>
                    </a:p>
                  </a:txBody>
                  <a:tcPr marL="54864" marR="54864" marT="27432" marB="27432">
                    <a:solidFill>
                      <a:srgbClr val="FFFFFF"/>
                    </a:solidFill>
                  </a:tcPr>
                </a:tc>
              </a:tr>
              <a:tr h="868680">
                <a:tc>
                  <a:txBody>
                    <a:bodyPr wrap="square"/>
                    <a:lstStyle/>
                    <a:p>
                      <a:r>
                        <a:rPr sz="1200" b="0" i="0">
                          <a:solidFill>
                            <a:srgbClr val="1F1F1F"/>
                          </a:solidFill>
                          <a:latin typeface="Arial"/>
                        </a:rPr>
                        <a:t>ERCOT on corrected data (36)</a:t>
                      </a:r>
                    </a:p>
                  </a:txBody>
                  <a:tcPr marL="54864" marR="54864" marT="27432" marB="27432">
                    <a:solidFill>
                      <a:srgbClr val="F6F6F6"/>
                    </a:solidFill>
                  </a:tcPr>
                </a:tc>
                <a:tc>
                  <a:txBody>
                    <a:bodyPr wrap="square"/>
                    <a:lstStyle/>
                    <a:p>
                      <a:r>
                        <a:rPr sz="1200" b="0" i="0">
                          <a:solidFill>
                            <a:srgbClr val="1F1F1F"/>
                          </a:solidFill>
                          <a:latin typeface="Arial"/>
                        </a:rPr>
                        <a:t>Re-run ERCOT for AIChE</a:t>
                      </a:r>
                    </a:p>
                  </a:txBody>
                  <a:tcPr marL="54864" marR="54864" marT="27432" marB="27432">
                    <a:solidFill>
                      <a:srgbClr val="F6F6F6"/>
                    </a:solidFill>
                  </a:tcPr>
                </a:tc>
                <a:tc>
                  <a:txBody>
                    <a:bodyPr wrap="square"/>
                    <a:lstStyle/>
                    <a:p>
                      <a:r>
                        <a:rPr sz="1200" b="0" i="0">
                          <a:solidFill>
                            <a:srgbClr val="1F1F1F"/>
                          </a:solidFill>
                          <a:latin typeface="Arial"/>
                        </a:rPr>
                        <a:t>A base ×3, B screening 19, C selection 9</a:t>
                      </a:r>
                    </a:p>
                  </a:txBody>
                  <a:tcPr marL="54864" marR="54864" marT="27432" marB="27432">
                    <a:solidFill>
                      <a:srgbClr val="F6F6F6"/>
                    </a:solidFill>
                  </a:tcPr>
                </a:tc>
                <a:tc>
                  <a:txBody>
                    <a:bodyPr wrap="square"/>
                    <a:lstStyle/>
                    <a:p>
                      <a:r>
                        <a:rPr sz="1200" b="0" i="0">
                          <a:solidFill>
                            <a:srgbClr val="1F1F1F"/>
                          </a:solidFill>
                          <a:latin typeface="Arial"/>
                        </a:rPr>
                        <a:t>A + B landed; base read done; C nuclear rows 6–11 rerun after a T0 fix</a:t>
                      </a:r>
                    </a:p>
                  </a:txBody>
                  <a:tcPr marL="54864" marR="54864" marT="27432" marB="27432">
                    <a:solidFill>
                      <a:srgbClr val="F6F6F6"/>
                    </a:solidFill>
                  </a:tcPr>
                </a:tc>
                <a:tc>
                  <a:txBody>
                    <a:bodyPr wrap="square"/>
                    <a:lstStyle/>
                    <a:p>
                      <a:r>
                        <a:rPr sz="1200" b="0" i="0">
                          <a:solidFill>
                            <a:srgbClr val="1F1F1F"/>
                          </a:solidFill>
                          <a:latin typeface="Arial"/>
                        </a:rPr>
                        <a:t>C ≈ 10-14; wave D after redesign</a:t>
                      </a:r>
                    </a:p>
                  </a:txBody>
                  <a:tcPr marL="54864" marR="54864" marT="27432" marB="27432">
                    <a:solidFill>
                      <a:srgbClr val="F6F6F6"/>
                    </a:solidFill>
                  </a:tcPr>
                </a:tc>
              </a:tr>
              <a:tr h="868680">
                <a:tc>
                  <a:txBody>
                    <a:bodyPr wrap="square"/>
                    <a:lstStyle/>
                    <a:p>
                      <a:r>
                        <a:rPr sz="1200" b="0" i="0">
                          <a:solidFill>
                            <a:srgbClr val="1F1F1F"/>
                          </a:solidFill>
                          <a:latin typeface="Arial"/>
                        </a:rPr>
                        <a:t>Stop-rule validation (37)</a:t>
                      </a:r>
                    </a:p>
                  </a:txBody>
                  <a:tcPr marL="54864" marR="54864" marT="27432" marB="27432">
                    <a:solidFill>
                      <a:srgbClr val="FFFFFF"/>
                    </a:solidFill>
                  </a:tcPr>
                </a:tc>
                <a:tc>
                  <a:txBody>
                    <a:bodyPr wrap="square"/>
                    <a:lstStyle/>
                    <a:p>
                      <a:r>
                        <a:rPr sz="1200" b="0" i="0">
                          <a:solidFill>
                            <a:srgbClr val="1F1F1F"/>
                          </a:solidFill>
                          <a:latin typeface="Arial"/>
                        </a:rPr>
                        <a:t>Does the stop rule work on problems with a known truth?</a:t>
                      </a:r>
                    </a:p>
                  </a:txBody>
                  <a:tcPr marL="54864" marR="54864" marT="27432" marB="27432">
                    <a:solidFill>
                      <a:srgbClr val="FFFFFF"/>
                    </a:solidFill>
                  </a:tcPr>
                </a:tc>
                <a:tc>
                  <a:txBody>
                    <a:bodyPr wrap="square"/>
                    <a:lstStyle/>
                    <a:p>
                      <a:r>
                        <a:rPr sz="1200" b="0" i="0">
                          <a:solidFill>
                            <a:srgbClr val="1F1F1F"/>
                          </a:solidFill>
                          <a:latin typeface="Arial"/>
                        </a:rPr>
                        <a:t>1,540 tasks, 0 PCM runs</a:t>
                      </a:r>
                    </a:p>
                  </a:txBody>
                  <a:tcPr marL="54864" marR="54864" marT="27432" marB="27432">
                    <a:solidFill>
                      <a:srgbClr val="FFFFFF"/>
                    </a:solidFill>
                  </a:tcPr>
                </a:tc>
                <a:tc>
                  <a:txBody>
                    <a:bodyPr wrap="square"/>
                    <a:lstStyle/>
                    <a:p>
                      <a:r>
                        <a:rPr sz="1200" b="0" i="0">
                          <a:solidFill>
                            <a:srgbClr val="1F1F1F"/>
                          </a:solidFill>
                          <a:latin typeface="Arial"/>
                        </a:rPr>
                        <a:t>running since 10-12 evening</a:t>
                      </a:r>
                    </a:p>
                  </a:txBody>
                  <a:tcPr marL="54864" marR="54864" marT="27432" marB="27432">
                    <a:solidFill>
                      <a:srgbClr val="FFFFFF"/>
                    </a:solidFill>
                  </a:tcPr>
                </a:tc>
                <a:tc>
                  <a:txBody>
                    <a:bodyPr wrap="square"/>
                    <a:lstStyle/>
                    <a:p>
                      <a:r>
                        <a:rPr sz="1200" b="0" i="0">
                          <a:solidFill>
                            <a:srgbClr val="1F1F1F"/>
                          </a:solidFill>
                          <a:latin typeface="Arial"/>
                        </a:rPr>
                        <a:t>≈ 10-13 → 10-15</a:t>
                      </a:r>
                    </a:p>
                  </a:txBody>
                  <a:tcPr marL="54864" marR="54864" marT="27432" marB="27432">
                    <a:solidFill>
                      <a:srgbClr val="FFFFFF"/>
                    </a:solidFill>
                  </a:tcPr>
                </a:tc>
              </a:tr>
              <a:tr h="868680">
                <a:tc>
                  <a:txBody>
                    <a:bodyPr wrap="square"/>
                    <a:lstStyle/>
                    <a:p>
                      <a:r>
                        <a:rPr sz="1200" b="0" i="0">
                          <a:solidFill>
                            <a:srgbClr val="1F1F1F"/>
                          </a:solidFill>
                          <a:latin typeface="Arial"/>
                        </a:rPr>
                        <a:t>Mechanism checks (38)</a:t>
                      </a:r>
                    </a:p>
                  </a:txBody>
                  <a:tcPr marL="54864" marR="54864" marT="27432" marB="27432">
                    <a:solidFill>
                      <a:srgbClr val="F6F6F6"/>
                    </a:solidFill>
                  </a:tcPr>
                </a:tc>
                <a:tc>
                  <a:txBody>
                    <a:bodyPr wrap="square"/>
                    <a:lstStyle/>
                    <a:p>
                      <a:r>
                        <a:rPr sz="1200" b="0" i="0">
                          <a:solidFill>
                            <a:srgbClr val="1F1F1F"/>
                          </a:solidFill>
                          <a:latin typeface="Arial"/>
                        </a:rPr>
                        <a:t>Why does shed fall as withheld MW rises? Why do 7 designs share 22.426 MWh?</a:t>
                      </a:r>
                    </a:p>
                  </a:txBody>
                  <a:tcPr marL="54864" marR="54864" marT="27432" marB="27432">
                    <a:solidFill>
                      <a:srgbClr val="F6F6F6"/>
                    </a:solidFill>
                  </a:tcPr>
                </a:tc>
                <a:tc>
                  <a:txBody>
                    <a:bodyPr wrap="square"/>
                    <a:lstStyle/>
                    <a:p>
                      <a:r>
                        <a:rPr sz="1200" b="0" i="0">
                          <a:solidFill>
                            <a:srgbClr val="1F1F1F"/>
                          </a:solidFill>
                          <a:latin typeface="Arial"/>
                        </a:rPr>
                        <a:t>0 PCM runs (rsync of finished runs)</a:t>
                      </a:r>
                    </a:p>
                  </a:txBody>
                  <a:tcPr marL="54864" marR="54864" marT="27432" marB="27432">
                    <a:solidFill>
                      <a:srgbClr val="F6F6F6"/>
                    </a:solidFill>
                  </a:tcPr>
                </a:tc>
                <a:tc>
                  <a:txBody>
                    <a:bodyPr wrap="square"/>
                    <a:lstStyle/>
                    <a:p>
                      <a:r>
                        <a:rPr sz="1200" b="0" i="0">
                          <a:solidFill>
                            <a:srgbClr val="1F1F1F"/>
                          </a:solidFill>
                          <a:latin typeface="Arial"/>
                        </a:rPr>
                        <a:t>ready to hand off</a:t>
                      </a:r>
                    </a:p>
                  </a:txBody>
                  <a:tcPr marL="54864" marR="54864" marT="27432" marB="27432">
                    <a:solidFill>
                      <a:srgbClr val="F6F6F6"/>
                    </a:solidFill>
                  </a:tcPr>
                </a:tc>
                <a:tc>
                  <a:txBody>
                    <a:bodyPr wrap="square"/>
                    <a:lstStyle/>
                    <a:p>
                      <a:r>
                        <a:rPr sz="1200" b="0" i="0">
                          <a:solidFill>
                            <a:srgbClr val="1F1F1F"/>
                          </a:solidFill>
                          <a:latin typeface="Arial"/>
                        </a:rPr>
                        <a:t>≈ 2 days after hand-off</a:t>
                      </a:r>
                    </a:p>
                  </a:txBody>
                  <a:tcPr marL="54864" marR="54864" marT="27432" marB="27432">
                    <a:solidFill>
                      <a:srgbClr val="F6F6F6"/>
                    </a:solidFill>
                  </a:tcPr>
                </a:tc>
              </a:tr>
            </a:tbl>
          </a:graphicData>
        </a:graphic>
      </p:graphicFrame>
      <p:sp>
        <p:nvSpPr>
          <p:cNvPr id="6" name="TextBox 5"/>
          <p:cNvSpPr txBox="1"/>
          <p:nvPr/>
        </p:nvSpPr>
        <p:spPr>
          <a:xfrm>
            <a:off x="457200" y="5760720"/>
            <a:ext cx="11247120" cy="36576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6B6B6B"/>
                </a:solidFill>
                <a:latin typeface="Arial"/>
              </a:rPr>
              <a:t>CRC order: ERCOT first. Submission stays manual from the login node.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Reproducibility card: the campaign configuration (frozen)</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34440"/>
          <a:ext cx="11247119" cy="4754880"/>
        </p:xfrm>
        <a:graphic>
          <a:graphicData uri="http://schemas.openxmlformats.org/drawingml/2006/table">
            <a:tbl>
              <a:tblPr firstRow="1" bandRow="1">
                <a:tableStyleId>{5C22544A-7EE6-4342-B048-85BDC9FD1C3A}</a:tableStyleId>
              </a:tblPr>
              <a:tblGrid>
                <a:gridCol w="3017520"/>
                <a:gridCol w="8229599"/>
              </a:tblGrid>
              <a:tr h="475488">
                <a:tc>
                  <a:txBody>
                    <a:bodyPr wrap="square"/>
                    <a:lstStyle/>
                    <a:p>
                      <a:r>
                        <a:rPr sz="1300" b="1" i="0">
                          <a:solidFill>
                            <a:srgbClr val="1F1F1F"/>
                          </a:solidFill>
                          <a:latin typeface="Arial"/>
                        </a:rPr>
                        <a:t>Item</a:t>
                      </a:r>
                    </a:p>
                  </a:txBody>
                  <a:tcPr marL="54864" marR="54864" marT="27432" marB="27432">
                    <a:solidFill>
                      <a:srgbClr val="DCE3EE"/>
                    </a:solidFill>
                  </a:tcPr>
                </a:tc>
                <a:tc>
                  <a:txBody>
                    <a:bodyPr wrap="square"/>
                    <a:lstStyle/>
                    <a:p>
                      <a:r>
                        <a:rPr sz="1300" b="1" i="0">
                          <a:solidFill>
                            <a:srgbClr val="1F1F1F"/>
                          </a:solidFill>
                          <a:latin typeface="Arial"/>
                        </a:rPr>
                        <a:t>Setting</a:t>
                      </a:r>
                    </a:p>
                  </a:txBody>
                  <a:tcPr marL="54864" marR="54864" marT="27432" marB="27432">
                    <a:solidFill>
                      <a:srgbClr val="DCE3EE"/>
                    </a:solidFill>
                  </a:tcPr>
                </a:tc>
              </a:tr>
              <a:tr h="475488">
                <a:tc>
                  <a:txBody>
                    <a:bodyPr wrap="square"/>
                    <a:lstStyle/>
                    <a:p>
                      <a:r>
                        <a:rPr sz="1300" b="0" i="0">
                          <a:solidFill>
                            <a:srgbClr val="1F1F1F"/>
                          </a:solidFill>
                          <a:latin typeface="Arial"/>
                        </a:rPr>
                        <a:t>Design space</a:t>
                      </a:r>
                    </a:p>
                  </a:txBody>
                  <a:tcPr marL="54864" marR="54864" marT="27432" marB="27432">
                    <a:solidFill>
                      <a:srgbClr val="FFFFFF"/>
                    </a:solidFill>
                  </a:tcPr>
                </a:tc>
                <a:tc>
                  <a:txBody>
                    <a:bodyPr wrap="square"/>
                    <a:lstStyle/>
                    <a:p>
                      <a:r>
                        <a:rPr sz="1300" b="0" i="0">
                          <a:solidFill>
                            <a:srgbClr val="1F1F1F"/>
                          </a:solidFill>
                          <a:latin typeface="Arial"/>
                        </a:rPr>
                        <a:t>6 tiers (nuclear, pv, tail, wind_122, wind_303, wind_317) × 9 lattice levels ω ∈ {0.05 … 1.0} = 531,441 designs</a:t>
                      </a:r>
                    </a:p>
                  </a:txBody>
                  <a:tcPr marL="54864" marR="54864" marT="27432" marB="27432">
                    <a:solidFill>
                      <a:srgbClr val="FFFFFF"/>
                    </a:solidFill>
                  </a:tcPr>
                </a:tc>
              </a:tr>
              <a:tr h="475488">
                <a:tc>
                  <a:txBody>
                    <a:bodyPr wrap="square"/>
                    <a:lstStyle/>
                    <a:p>
                      <a:r>
                        <a:rPr sz="1300" b="0" i="0">
                          <a:solidFill>
                            <a:srgbClr val="1F1F1F"/>
                          </a:solidFill>
                          <a:latin typeface="Arial"/>
                        </a:rPr>
                        <a:t>Scenario</a:t>
                      </a:r>
                    </a:p>
                  </a:txBody>
                  <a:tcPr marL="54864" marR="54864" marT="27432" marB="27432">
                    <a:solidFill>
                      <a:srgbClr val="F6F6F6"/>
                    </a:solidFill>
                  </a:tcPr>
                </a:tc>
                <a:tc>
                  <a:txBody>
                    <a:bodyPr wrap="square"/>
                    <a:lstStyle/>
                    <a:p>
                      <a:r>
                        <a:rPr sz="1300" b="0" i="0">
                          <a:solidFill>
                            <a:srgbClr val="1F1F1F"/>
                          </a:solidFill>
                          <a:latin typeface="Arial"/>
                        </a:rPr>
                        <a:t>C: ρ = 2.0, B = $40/MWh</a:t>
                      </a:r>
                    </a:p>
                  </a:txBody>
                  <a:tcPr marL="54864" marR="54864" marT="27432" marB="27432">
                    <a:solidFill>
                      <a:srgbClr val="F6F6F6"/>
                    </a:solidFill>
                  </a:tcPr>
                </a:tc>
              </a:tr>
              <a:tr h="475488">
                <a:tc>
                  <a:txBody>
                    <a:bodyPr wrap="square"/>
                    <a:lstStyle/>
                    <a:p>
                      <a:r>
                        <a:rPr sz="1300" b="0" i="0">
                          <a:solidFill>
                            <a:srgbClr val="1F1F1F"/>
                          </a:solidFill>
                          <a:latin typeface="Arial"/>
                        </a:rPr>
                        <a:t>Objectives (min)</a:t>
                      </a:r>
                    </a:p>
                  </a:txBody>
                  <a:tcPr marL="54864" marR="54864" marT="27432" marB="27432">
                    <a:solidFill>
                      <a:srgbClr val="FFFFFF"/>
                    </a:solidFill>
                  </a:tcPr>
                </a:tc>
                <a:tc>
                  <a:txBody>
                    <a:bodyPr wrap="square"/>
                    <a:lstStyle/>
                    <a:p>
                      <a:r>
                        <a:rPr sz="1300" b="0" i="0">
                          <a:solidFill>
                            <a:srgbClr val="1F1F1F"/>
                          </a:solidFill>
                          <a:latin typeface="Arial"/>
                        </a:rPr>
                        <a:t>load_shed_mwh, true_curtailment_mwh, total_cost_less_synthetic_usd</a:t>
                      </a:r>
                    </a:p>
                  </a:txBody>
                  <a:tcPr marL="54864" marR="54864" marT="27432" marB="27432">
                    <a:solidFill>
                      <a:srgbClr val="FFFFFF"/>
                    </a:solidFill>
                  </a:tcPr>
                </a:tc>
              </a:tr>
              <a:tr h="475488">
                <a:tc>
                  <a:txBody>
                    <a:bodyPr wrap="square"/>
                    <a:lstStyle/>
                    <a:p>
                      <a:r>
                        <a:rPr sz="1300" b="0" i="0">
                          <a:solidFill>
                            <a:srgbClr val="1F1F1F"/>
                          </a:solidFill>
                          <a:latin typeface="Arial"/>
                        </a:rPr>
                        <a:t>Starts</a:t>
                      </a:r>
                    </a:p>
                  </a:txBody>
                  <a:tcPr marL="54864" marR="54864" marT="27432" marB="27432">
                    <a:solidFill>
                      <a:srgbClr val="F6F6F6"/>
                    </a:solidFill>
                  </a:tcPr>
                </a:tc>
                <a:tc>
                  <a:txBody>
                    <a:bodyPr wrap="square"/>
                    <a:lstStyle/>
                    <a:p>
                      <a:r>
                        <a:rPr sz="1300" b="0" i="0">
                          <a:solidFill>
                            <a:srgbClr val="1F1F1F"/>
                          </a:solidFill>
                          <a:latin typeface="Arial"/>
                        </a:rPr>
                        <a:t>32 Sobol points (shared by every comparison)</a:t>
                      </a:r>
                    </a:p>
                  </a:txBody>
                  <a:tcPr marL="54864" marR="54864" marT="27432" marB="27432">
                    <a:solidFill>
                      <a:srgbClr val="F6F6F6"/>
                    </a:solidFill>
                  </a:tcPr>
                </a:tc>
              </a:tr>
              <a:tr h="475488">
                <a:tc>
                  <a:txBody>
                    <a:bodyPr wrap="square"/>
                    <a:lstStyle/>
                    <a:p>
                      <a:r>
                        <a:rPr sz="1300" b="0" i="0">
                          <a:solidFill>
                            <a:srgbClr val="1F1F1F"/>
                          </a:solidFill>
                          <a:latin typeface="Arial"/>
                        </a:rPr>
                        <a:t>GP training data</a:t>
                      </a:r>
                    </a:p>
                  </a:txBody>
                  <a:tcPr marL="54864" marR="54864" marT="27432" marB="27432">
                    <a:solidFill>
                      <a:srgbClr val="FFFFFF"/>
                    </a:solidFill>
                  </a:tcPr>
                </a:tc>
                <a:tc>
                  <a:txBody>
                    <a:bodyPr wrap="square"/>
                    <a:lstStyle/>
                    <a:p>
                      <a:r>
                        <a:rPr sz="1300" b="0" i="0">
                          <a:solidFill>
                            <a:srgbClr val="1F1F1F"/>
                          </a:solidFill>
                          <a:latin typeface="Arial"/>
                        </a:rPr>
                        <a:t>the 32 starts only (10 backfill rows: report-only sensitivity)</a:t>
                      </a:r>
                    </a:p>
                  </a:txBody>
                  <a:tcPr marL="54864" marR="54864" marT="27432" marB="27432">
                    <a:solidFill>
                      <a:srgbClr val="FFFFFF"/>
                    </a:solidFill>
                  </a:tcPr>
                </a:tc>
              </a:tr>
              <a:tr h="475488">
                <a:tc>
                  <a:txBody>
                    <a:bodyPr wrap="square"/>
                    <a:lstStyle/>
                    <a:p>
                      <a:r>
                        <a:rPr sz="1300" b="0" i="0">
                          <a:solidFill>
                            <a:srgbClr val="1F1F1F"/>
                          </a:solidFill>
                          <a:latin typeface="Arial"/>
                        </a:rPr>
                        <a:t>Acquisition</a:t>
                      </a:r>
                    </a:p>
                  </a:txBody>
                  <a:tcPr marL="54864" marR="54864" marT="27432" marB="27432">
                    <a:solidFill>
                      <a:srgbClr val="F6F6F6"/>
                    </a:solidFill>
                  </a:tcPr>
                </a:tc>
                <a:tc>
                  <a:txBody>
                    <a:bodyPr wrap="square"/>
                    <a:lstStyle/>
                    <a:p>
                      <a:r>
                        <a:rPr sz="1300" b="0" i="0">
                          <a:solidFill>
                            <a:srgbClr val="1F1F1F"/>
                          </a:solidFill>
                          <a:latin typeface="Arial"/>
                        </a:rPr>
                        <a:t>q-ParEGO, q = 8: 8 Dirichlet weights, EI, kriging believer, discrete lattice candidates</a:t>
                      </a:r>
                    </a:p>
                  </a:txBody>
                  <a:tcPr marL="54864" marR="54864" marT="27432" marB="27432">
                    <a:solidFill>
                      <a:srgbClr val="F6F6F6"/>
                    </a:solidFill>
                  </a:tcPr>
                </a:tc>
              </a:tr>
              <a:tr h="475488">
                <a:tc>
                  <a:txBody>
                    <a:bodyPr wrap="square"/>
                    <a:lstStyle/>
                    <a:p>
                      <a:r>
                        <a:rPr sz="1300" b="0" i="0">
                          <a:solidFill>
                            <a:srgbClr val="1F1F1F"/>
                          </a:solidFill>
                          <a:latin typeface="Arial"/>
                        </a:rPr>
                        <a:t>HV reference (fixed before round 1)</a:t>
                      </a:r>
                    </a:p>
                  </a:txBody>
                  <a:tcPr marL="54864" marR="54864" marT="27432" marB="27432">
                    <a:solidFill>
                      <a:srgbClr val="FFFFFF"/>
                    </a:solidFill>
                  </a:tcPr>
                </a:tc>
                <a:tc>
                  <a:txBody>
                    <a:bodyPr wrap="square"/>
                    <a:lstStyle/>
                    <a:p>
                      <a:r>
                        <a:rPr sz="1300" b="0" i="0">
                          <a:solidFill>
                            <a:srgbClr val="1F1F1F"/>
                          </a:solidFill>
                          <a:latin typeface="Arial"/>
                        </a:rPr>
                        <a:t>nadir of the 32 starts + 10 % span; HV₀ = 6.606e17</a:t>
                      </a:r>
                    </a:p>
                  </a:txBody>
                  <a:tcPr marL="54864" marR="54864" marT="27432" marB="27432">
                    <a:solidFill>
                      <a:srgbClr val="FFFFFF"/>
                    </a:solidFill>
                  </a:tcPr>
                </a:tc>
              </a:tr>
              <a:tr h="475488">
                <a:tc>
                  <a:txBody>
                    <a:bodyPr wrap="square"/>
                    <a:lstStyle/>
                    <a:p>
                      <a:r>
                        <a:rPr sz="1300" b="0" i="0">
                          <a:solidFill>
                            <a:srgbClr val="1F1F1F"/>
                          </a:solidFill>
                          <a:latin typeface="Arial"/>
                        </a:rPr>
                        <a:t>Stop rule</a:t>
                      </a:r>
                    </a:p>
                  </a:txBody>
                  <a:tcPr marL="54864" marR="54864" marT="27432" marB="27432">
                    <a:solidFill>
                      <a:srgbClr val="F6F6F6"/>
                    </a:solidFill>
                  </a:tcPr>
                </a:tc>
                <a:tc>
                  <a:txBody>
                    <a:bodyPr wrap="square"/>
                    <a:lstStyle/>
                    <a:p>
                      <a:r>
                        <a:rPr sz="1300" b="0" i="0">
                          <a:solidFill>
                            <a:srgbClr val="1F1F1F"/>
                          </a:solidFill>
                          <a:latin typeface="Arial"/>
                        </a:rPr>
                        <a:t>2 consecutive rounds with gain &lt; τ = 5.263e16 (8.0 % of HV₀; set by the shed materiality floor, conservative)</a:t>
                      </a:r>
                    </a:p>
                  </a:txBody>
                  <a:tcPr marL="54864" marR="54864" marT="27432" marB="27432">
                    <a:solidFill>
                      <a:srgbClr val="F6F6F6"/>
                    </a:solidFill>
                  </a:tcPr>
                </a:tc>
              </a:tr>
              <a:tr h="475488">
                <a:tc>
                  <a:txBody>
                    <a:bodyPr wrap="square"/>
                    <a:lstStyle/>
                    <a:p>
                      <a:r>
                        <a:rPr sz="1300" b="0" i="0">
                          <a:solidFill>
                            <a:srgbClr val="1F1F1F"/>
                          </a:solidFill>
                          <a:latin typeface="Arial"/>
                        </a:rPr>
                        <a:t>Software</a:t>
                      </a:r>
                    </a:p>
                  </a:txBody>
                  <a:tcPr marL="54864" marR="54864" marT="27432" marB="27432">
                    <a:solidFill>
                      <a:srgbClr val="FFFFFF"/>
                    </a:solidFill>
                  </a:tcPr>
                </a:tc>
                <a:tc>
                  <a:txBody>
                    <a:bodyPr wrap="square"/>
                    <a:lstStyle/>
                    <a:p>
                      <a:r>
                        <a:rPr sz="1300" b="0" i="0">
                          <a:solidFill>
                            <a:srgbClr val="1F1F1F"/>
                          </a:solidFill>
                          <a:latin typeface="Arial"/>
                        </a:rPr>
                        <a:t>bo-gp feat/qparego @ 60e6328; RTS runs are bit-reproducible</a:t>
                      </a:r>
                    </a:p>
                  </a:txBody>
                  <a:tcPr marL="54864" marR="54864" marT="27432" marB="27432">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The "PEM" is a $40 bid on renewable output, not an electrolyzer load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34440"/>
            <a:ext cx="5486400" cy="3520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0C2340"/>
                </a:solidFill>
                <a:latin typeface="Arial"/>
              </a:rPr>
              <a:t>What the model does</a:t>
            </a:r>
          </a:p>
        </p:txBody>
      </p:sp>
      <p:sp>
        <p:nvSpPr>
          <p:cNvPr id="7" name="TextBox 6"/>
          <p:cNvSpPr txBox="1"/>
          <p:nvPr/>
        </p:nvSpPr>
        <p:spPr>
          <a:xfrm>
            <a:off x="594360" y="1737360"/>
            <a:ext cx="5212080" cy="292608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Renewable site: the unit splits. The parent keeps availability minus the PEM capacity. A _PEM unit gets the rest and offers it at B = $40/MWh. Withheld MWh count as hydrogen (20 kg/MWh).</a:t>
            </a:r>
          </a:p>
          <a:p>
            <a:pPr algn="l">
              <a:lnSpc>
                <a:spcPct val="105000"/>
              </a:lnSpc>
              <a:spcAft>
                <a:spcPts val="800"/>
              </a:spcAft>
            </a:pPr>
            <a:r>
              <a:rPr sz="1400" b="0" i="0">
                <a:solidFill>
                  <a:srgbClr val="1F1F1F"/>
                </a:solidFill>
                <a:latin typeface="Arial"/>
              </a:rPr>
              <a:t>•  Nuclear site: p_min rises to p_max − C. The band is priced at B. The unit stays committed every hour.</a:t>
            </a:r>
          </a:p>
          <a:p>
            <a:pPr algn="l">
              <a:lnSpc>
                <a:spcPct val="105000"/>
              </a:lnSpc>
              <a:spcAft>
                <a:spcPts val="800"/>
              </a:spcAft>
            </a:pPr>
            <a:r>
              <a:rPr sz="1400" b="0" i="0">
                <a:solidFill>
                  <a:srgbClr val="1F1F1F"/>
                </a:solidFill>
                <a:latin typeface="Arial"/>
              </a:rPr>
              <a:t>•  The PEM sells to the grid when the price is above B. It adds no load.</a:t>
            </a:r>
          </a:p>
        </p:txBody>
      </p:sp>
      <p:sp>
        <p:nvSpPr>
          <p:cNvPr id="8" name="Rounded Rectangle 7"/>
          <p:cNvSpPr/>
          <p:nvPr/>
        </p:nvSpPr>
        <p:spPr>
          <a:xfrm>
            <a:off x="6217920" y="1234440"/>
            <a:ext cx="5486400" cy="3520440"/>
          </a:xfrm>
          <a:prstGeom prst="roundRect">
            <a:avLst>
              <a:gd name="adj" fmla="val 4000"/>
            </a:avLst>
          </a:prstGeom>
          <a:solidFill>
            <a:srgbClr val="F2F4F7"/>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5508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C0392B"/>
                </a:solidFill>
                <a:latin typeface="Arial"/>
              </a:rPr>
              <a:t>What the model omits</a:t>
            </a:r>
          </a:p>
        </p:txBody>
      </p:sp>
      <p:sp>
        <p:nvSpPr>
          <p:cNvPr id="10" name="TextBox 9"/>
          <p:cNvSpPr txBox="1"/>
          <p:nvPr/>
        </p:nvSpPr>
        <p:spPr>
          <a:xfrm>
            <a:off x="6355080" y="1737360"/>
            <a:ext cx="5212080" cy="292608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No electrolyzer efficiency curve, minimum load, ramp limit or capex.</a:t>
            </a:r>
          </a:p>
          <a:p>
            <a:pPr algn="l">
              <a:lnSpc>
                <a:spcPct val="105000"/>
              </a:lnSpc>
              <a:spcAft>
                <a:spcPts val="800"/>
              </a:spcAft>
            </a:pPr>
            <a:r>
              <a:rPr sz="1400" b="0" i="0">
                <a:solidFill>
                  <a:srgbClr val="1F1F1F"/>
                </a:solidFill>
                <a:latin typeface="Arial"/>
              </a:rPr>
              <a:t>•  No hydrogen revenue or storage.</a:t>
            </a:r>
          </a:p>
          <a:p>
            <a:pPr algn="l">
              <a:lnSpc>
                <a:spcPct val="105000"/>
              </a:lnSpc>
              <a:spcAft>
                <a:spcPts val="800"/>
              </a:spcAft>
            </a:pPr>
            <a:r>
              <a:rPr sz="1400" b="0" i="0">
                <a:solidFill>
                  <a:srgbClr val="1F1F1F"/>
                </a:solidFill>
                <a:latin typeface="Arial"/>
              </a:rPr>
              <a:t>•  Cost objective = system cost minus the synthetic bid costs. This removes the nuclear unit's real fuel cost at any ω: a constant on RTS (the g1 item), a bias against the base case on ERCOT.</a:t>
            </a:r>
          </a:p>
        </p:txBody>
      </p:sp>
      <p:sp>
        <p:nvSpPr>
          <p:cNvPr id="11" name="Rounded Rectangle 10"/>
          <p:cNvSpPr/>
          <p:nvPr/>
        </p:nvSpPr>
        <p:spPr>
          <a:xfrm>
            <a:off x="457200" y="4937760"/>
            <a:ext cx="11247120" cy="100584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4983480"/>
            <a:ext cx="10972800" cy="914400"/>
          </a:xfrm>
          <a:prstGeom prst="rect">
            <a:avLst/>
          </a:prstGeom>
          <a:noFill/>
        </p:spPr>
        <p:txBody>
          <a:bodyPr wrap="square" anchor="ctr" lIns="45720" rIns="45720" tIns="27432" bIns="27432">
            <a:spAutoFit/>
          </a:bodyPr>
          <a:lstStyle/>
          <a:p>
            <a:pPr algn="l">
              <a:lnSpc>
                <a:spcPct val="105000"/>
              </a:lnSpc>
              <a:spcAft>
                <a:spcPts val="300"/>
              </a:spcAft>
            </a:pPr>
            <a:r>
              <a:rPr sz="1600" b="1" i="0">
                <a:solidFill>
                  <a:srgbClr val="1F1F1F"/>
                </a:solidFill>
                <a:latin typeface="Arial"/>
              </a:rPr>
              <a:t>Every result in this deck is about priced withholding of renewable and nuclear output. Electrolyzer physics is future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The loop runs unattended except for qsub; CRC submission stays manual</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CRC compute nodes cannot qsub</a:t>
            </a:r>
          </a:p>
        </p:txBody>
      </p:sp>
      <p:sp>
        <p:nvSpPr>
          <p:cNvPr id="6" name="Rounded Rectangle 5"/>
          <p:cNvSpPr/>
          <p:nvPr/>
        </p:nvSpPr>
        <p:spPr>
          <a:xfrm>
            <a:off x="822960" y="1325880"/>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array</a:t>
            </a:r>
          </a:p>
          <a:p>
            <a:pPr algn="ctr"/>
            <a:r>
              <a:rPr sz="1200" b="0" i="0">
                <a:solidFill>
                  <a:srgbClr val="1F1F1F"/>
                </a:solidFill>
                <a:latin typeface="Arial"/>
              </a:rPr>
              <a:t>8 Prescient runs</a:t>
            </a:r>
          </a:p>
        </p:txBody>
      </p:sp>
      <p:cxnSp>
        <p:nvCxnSpPr>
          <p:cNvPr id="7" name="Connector 6"/>
          <p:cNvCxnSpPr/>
          <p:nvPr/>
        </p:nvCxnSpPr>
        <p:spPr>
          <a:xfrm>
            <a:off x="2743200" y="2194560"/>
            <a:ext cx="0" cy="384048"/>
          </a:xfrm>
          <a:prstGeom prst="line">
            <a:avLst/>
          </a:prstGeom>
          <a:ln w="28575">
            <a:solidFill>
              <a:srgbClr val="0C23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2578608"/>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collector</a:t>
            </a:r>
          </a:p>
          <a:p>
            <a:pPr algn="ctr"/>
            <a:r>
              <a:rPr sz="1200" b="0" i="0">
                <a:solidFill>
                  <a:srgbClr val="1F1F1F"/>
                </a:solidFill>
                <a:latin typeface="Arial"/>
              </a:rPr>
              <a:t>objectives, push</a:t>
            </a:r>
          </a:p>
        </p:txBody>
      </p:sp>
      <p:cxnSp>
        <p:nvCxnSpPr>
          <p:cNvPr id="9" name="Connector 8"/>
          <p:cNvCxnSpPr/>
          <p:nvPr/>
        </p:nvCxnSpPr>
        <p:spPr>
          <a:xfrm>
            <a:off x="2743200" y="3447288"/>
            <a:ext cx="0" cy="384048"/>
          </a:xfrm>
          <a:prstGeom prst="line">
            <a:avLst/>
          </a:prstGeom>
          <a:ln w="28575">
            <a:solidFill>
              <a:srgbClr val="0C23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2960" y="3831336"/>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acquisition</a:t>
            </a:r>
          </a:p>
          <a:p>
            <a:pPr algn="ctr"/>
            <a:r>
              <a:rPr sz="1200" b="0" i="0">
                <a:solidFill>
                  <a:srgbClr val="1F1F1F"/>
                </a:solidFill>
                <a:latin typeface="Arial"/>
              </a:rPr>
              <a:t>grade, propose, push</a:t>
            </a:r>
          </a:p>
        </p:txBody>
      </p:sp>
      <p:cxnSp>
        <p:nvCxnSpPr>
          <p:cNvPr id="11" name="Connector 10"/>
          <p:cNvCxnSpPr/>
          <p:nvPr/>
        </p:nvCxnSpPr>
        <p:spPr>
          <a:xfrm>
            <a:off x="2743200" y="4700016"/>
            <a:ext cx="0" cy="384048"/>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2960" y="5084064"/>
            <a:ext cx="3840480" cy="868680"/>
          </a:xfrm>
          <a:prstGeom prst="roundRect">
            <a:avLst>
              <a:gd name="adj" fmla="val 15000"/>
            </a:avLst>
          </a:prstGeom>
          <a:solidFill>
            <a:srgbClr val="FBE9E7"/>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C0392B"/>
                </a:solidFill>
                <a:latin typeface="Arial"/>
              </a:rPr>
              <a:t>submit next round</a:t>
            </a:r>
          </a:p>
          <a:p>
            <a:pPr algn="ctr"/>
            <a:r>
              <a:rPr sz="1200" b="0" i="0">
                <a:solidFill>
                  <a:srgbClr val="1F1F1F"/>
                </a:solidFill>
                <a:latin typeface="Arial"/>
              </a:rPr>
              <a:t>fails: compute nodes are not submit hosts</a:t>
            </a:r>
          </a:p>
        </p:txBody>
      </p:sp>
      <p:cxnSp>
        <p:nvCxnSpPr>
          <p:cNvPr id="13" name="Connector 12"/>
          <p:cNvCxnSpPr/>
          <p:nvPr/>
        </p:nvCxnSpPr>
        <p:spPr>
          <a:xfrm flipH="1">
            <a:off x="502920" y="5518404"/>
            <a:ext cx="320040" cy="0"/>
          </a:xfrm>
          <a:prstGeom prst="line">
            <a:avLst/>
          </a:prstGeom>
          <a:ln w="19050">
            <a:solidFill>
              <a:srgbClr val="6B6B6B"/>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02920" y="1760220"/>
            <a:ext cx="0" cy="3758184"/>
          </a:xfrm>
          <a:prstGeom prst="line">
            <a:avLst/>
          </a:prstGeom>
          <a:ln w="19050">
            <a:solidFill>
              <a:srgbClr val="6B6B6B"/>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2920" y="1760220"/>
            <a:ext cx="320040" cy="0"/>
          </a:xfrm>
          <a:prstGeom prst="line">
            <a:avLst/>
          </a:prstGeom>
          <a:ln w="19050">
            <a:solidFill>
              <a:srgbClr val="6B6B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035040"/>
            <a:ext cx="4572000" cy="274320"/>
          </a:xfrm>
          <a:prstGeom prst="rect">
            <a:avLst/>
          </a:prstGeom>
          <a:noFill/>
        </p:spPr>
        <p:txBody>
          <a:bodyPr wrap="square" anchor="t" lIns="45720" rIns="45720" tIns="27432" bIns="27432">
            <a:spAutoFit/>
          </a:bodyPr>
          <a:lstStyle/>
          <a:p>
            <a:pPr algn="l">
              <a:lnSpc>
                <a:spcPct val="105000"/>
              </a:lnSpc>
              <a:spcAft>
                <a:spcPts val="400"/>
              </a:spcAft>
            </a:pPr>
            <a:r>
              <a:rPr sz="1000" b="0" i="0">
                <a:solidFill>
                  <a:srgbClr val="6B6B6B"/>
                </a:solidFill>
                <a:latin typeface="Arial"/>
              </a:rPr>
              <a:t>Chain per round; dashed = next round.</a:t>
            </a:r>
          </a:p>
        </p:txBody>
      </p:sp>
      <p:sp>
        <p:nvSpPr>
          <p:cNvPr id="17" name="Rounded Rectangle 16"/>
          <p:cNvSpPr/>
          <p:nvPr/>
        </p:nvSpPr>
        <p:spPr>
          <a:xfrm>
            <a:off x="5212080" y="1280160"/>
            <a:ext cx="6492240" cy="49834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94960" y="1417320"/>
            <a:ext cx="6126480" cy="4754880"/>
          </a:xfrm>
          <a:prstGeom prst="rect">
            <a:avLst/>
          </a:prstGeom>
          <a:noFill/>
        </p:spPr>
        <p:txBody>
          <a:bodyPr wrap="square" anchor="t" lIns="45720" rIns="45720" tIns="27432" bIns="27432">
            <a:spAutoFit/>
          </a:bodyPr>
          <a:lstStyle/>
          <a:p>
            <a:pPr algn="l">
              <a:lnSpc>
                <a:spcPct val="105000"/>
              </a:lnSpc>
              <a:spcAft>
                <a:spcPts val="1200"/>
              </a:spcAft>
            </a:pPr>
            <a:r>
              <a:rPr sz="1600" b="0" i="0">
                <a:solidFill>
                  <a:srgbClr val="1F1F1F"/>
                </a:solidFill>
                <a:latin typeface="Arial"/>
              </a:rPr>
              <a:t>•  Unattended hops worked: both collectors, both acquisitions (grade → propose → commit → push).</a:t>
            </a:r>
          </a:p>
          <a:p>
            <a:pPr algn="l">
              <a:lnSpc>
                <a:spcPct val="105000"/>
              </a:lnSpc>
              <a:spcAft>
                <a:spcPts val="1200"/>
              </a:spcAft>
            </a:pPr>
            <a:r>
              <a:rPr sz="1600" b="1" i="0">
                <a:solidFill>
                  <a:srgbClr val="C0392B"/>
                </a:solidFill>
                <a:latin typeface="Arial"/>
              </a:rPr>
              <a:t>•  The submit hop cannot work on CRC: compute nodes are not submit hosts.</a:t>
            </a:r>
          </a:p>
          <a:p>
            <a:pPr algn="l">
              <a:lnSpc>
                <a:spcPct val="105000"/>
              </a:lnSpc>
              <a:spcAft>
                <a:spcPts val="1200"/>
              </a:spcAft>
            </a:pPr>
            <a:r>
              <a:rPr sz="1600" b="0" i="0">
                <a:solidFill>
                  <a:srgbClr val="1F1F1F"/>
                </a:solidFill>
                <a:latin typeface="Arial"/>
              </a:rPr>
              <a:t>•  The WEDGED trap fired and left a clear record. Kay submitted round 2 by hand.</a:t>
            </a:r>
          </a:p>
          <a:p>
            <a:pPr algn="l">
              <a:lnSpc>
                <a:spcPct val="105000"/>
              </a:lnSpc>
              <a:spcAft>
                <a:spcPts val="1200"/>
              </a:spcAft>
            </a:pPr>
            <a:r>
              <a:rPr sz="1600" b="0" i="0">
                <a:solidFill>
                  <a:srgbClr val="1F1F1F"/>
                </a:solidFill>
                <a:latin typeface="Arial"/>
              </a:rPr>
              <a:t>•  r2 acquisition re-run on the Mac: weights and all 8 designs identical to CRC.</a:t>
            </a:r>
          </a:p>
          <a:p>
            <a:pPr algn="l">
              <a:lnSpc>
                <a:spcPct val="105000"/>
              </a:lnSpc>
              <a:spcAft>
                <a:spcPts val="1200"/>
              </a:spcAft>
            </a:pPr>
            <a:r>
              <a:rPr sz="1600" b="0" i="0">
                <a:solidFill>
                  <a:srgbClr val="1F1F1F"/>
                </a:solidFill>
                <a:latin typeface="Arial"/>
              </a:rPr>
              <a:t>•  Proposed fix (not implemented): submit the whole chain from the login node with -hold_jid; or a login-node cron watcher.</a:t>
            </a:r>
          </a:p>
          <a:p>
            <a:pPr algn="l">
              <a:lnSpc>
                <a:spcPct val="105000"/>
              </a:lnSpc>
              <a:spcAft>
                <a:spcPts val="1200"/>
              </a:spcAft>
            </a:pPr>
            <a:r>
              <a:rPr sz="1600" b="1" i="0">
                <a:solidFill>
                  <a:srgbClr val="1F1F1F"/>
                </a:solidFill>
                <a:latin typeface="Arial"/>
              </a:rPr>
              <a:t>•  This limits claim W: "unattended" holds up to job submission.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The stop rule fired at the earliest possible round: τ (8 %) is larger than BO's whole gain (6.9 %)</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pic>
        <p:nvPicPr>
          <p:cNvPr id="5" name="Picture 4" descr="fig2_hv_trajectory.png"/>
          <p:cNvPicPr>
            <a:picLocks noChangeAspect="1"/>
          </p:cNvPicPr>
          <p:nvPr/>
        </p:nvPicPr>
        <p:blipFill>
          <a:blip r:embed="rId2"/>
          <a:stretch>
            <a:fillRect/>
          </a:stretch>
        </p:blipFill>
        <p:spPr>
          <a:xfrm>
            <a:off x="457200" y="1486821"/>
            <a:ext cx="6309360" cy="4231829"/>
          </a:xfrm>
          <a:prstGeom prst="rect">
            <a:avLst/>
          </a:prstGeom>
        </p:spPr>
      </p:pic>
      <p:sp>
        <p:nvSpPr>
          <p:cNvPr id="6" name="TextBox 5"/>
          <p:cNvSpPr txBox="1"/>
          <p:nvPr/>
        </p:nvSpPr>
        <p:spPr>
          <a:xfrm>
            <a:off x="457200" y="5989320"/>
            <a:ext cx="630936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/Users/yilu/Documents/GitHub/RTS-GMLC/trial_0826/campaign/analysis/bo_stage2/figs/fig2_hv_trajectory.png</a:t>
            </a:r>
          </a:p>
        </p:txBody>
      </p:sp>
      <p:sp>
        <p:nvSpPr>
          <p:cNvPr id="7" name="Rounded Rectangle 6"/>
          <p:cNvSpPr/>
          <p:nvPr/>
        </p:nvSpPr>
        <p:spPr>
          <a:xfrm>
            <a:off x="6949440" y="1280160"/>
            <a:ext cx="4754880" cy="49834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86600" y="1371600"/>
            <a:ext cx="4480560" cy="4800600"/>
          </a:xfrm>
          <a:prstGeom prst="rect">
            <a:avLst/>
          </a:prstGeom>
          <a:noFill/>
        </p:spPr>
        <p:txBody>
          <a:bodyPr wrap="square" anchor="t" lIns="45720" rIns="45720" tIns="27432" bIns="27432">
            <a:spAutoFit/>
          </a:bodyPr>
          <a:lstStyle/>
          <a:p>
            <a:pPr algn="l">
              <a:lnSpc>
                <a:spcPct val="105000"/>
              </a:lnSpc>
              <a:spcAft>
                <a:spcPts val="1000"/>
              </a:spcAft>
            </a:pPr>
            <a:r>
              <a:rPr sz="1400" b="0" i="0">
                <a:solidFill>
                  <a:srgbClr val="1F1F1F"/>
                </a:solidFill>
                <a:latin typeface="Arial"/>
              </a:rPr>
              <a:t>•  HV: 6.606e17 → 6.969e17 (+5.5 %) → 7.061e17 (+1.4 %). Both gains are under τ.</a:t>
            </a:r>
          </a:p>
          <a:p>
            <a:pPr algn="l">
              <a:lnSpc>
                <a:spcPct val="105000"/>
              </a:lnSpc>
              <a:spcAft>
                <a:spcPts val="1000"/>
              </a:spcAft>
            </a:pPr>
            <a:r>
              <a:rPr sz="1400" b="0" i="0">
                <a:solidFill>
                  <a:srgbClr val="1F1F1F"/>
                </a:solidFill>
                <a:latin typeface="Arial"/>
              </a:rPr>
              <a:t>•  5 of 16 BO designs lie outside the fixed box and earn zero HV. With a wider box the gains are 2.6 % and 2.0 %.</a:t>
            </a:r>
          </a:p>
          <a:p>
            <a:pPr algn="l">
              <a:lnSpc>
                <a:spcPct val="105000"/>
              </a:lnSpc>
              <a:spcAft>
                <a:spcPts val="1000"/>
              </a:spcAft>
            </a:pPr>
            <a:r>
              <a:rPr sz="1400" b="0" i="0">
                <a:solidFill>
                  <a:srgbClr val="1F1F1F"/>
                </a:solidFill>
                <a:latin typeface="Arial"/>
              </a:rPr>
              <a:t>•  The front is dense: 26 of 48 points are non-dominated.</a:t>
            </a:r>
          </a:p>
          <a:p>
            <a:pPr algn="l">
              <a:lnSpc>
                <a:spcPct val="105000"/>
              </a:lnSpc>
              <a:spcAft>
                <a:spcPts val="1000"/>
              </a:spcAft>
            </a:pPr>
            <a:r>
              <a:rPr sz="1400" b="1" i="0">
                <a:solidFill>
                  <a:srgbClr val="1F1F1F"/>
                </a:solidFill>
                <a:latin typeface="Arial"/>
              </a:rPr>
              <a:t>•  The stop means "gains below a conservative materiality bar". It does not mean "converged".</a:t>
            </a:r>
          </a:p>
          <a:p>
            <a:pPr algn="l">
              <a:lnSpc>
                <a:spcPct val="105000"/>
              </a:lnSpc>
              <a:spcAft>
                <a:spcPts val="1000"/>
              </a:spcAft>
            </a:pPr>
            <a:r>
              <a:rPr sz="1400" b="0" i="0">
                <a:solidFill>
                  <a:srgbClr val="1F1F1F"/>
                </a:solidFill>
                <a:latin typeface="Arial"/>
              </a:rPr>
              <a:t>•  Prompt 37 tests this directly. Its pre-registered reading: if S0 matches "stop after 2 rounds", the paper says so and reports the τ at which the rule starts to adapt.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BO's front spans $510M with 29 GWh shed to zero shed at $582M</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pic>
        <p:nvPicPr>
          <p:cNvPr id="5" name="Picture 4" descr="fig1_front.png"/>
          <p:cNvPicPr>
            <a:picLocks noChangeAspect="1"/>
          </p:cNvPicPr>
          <p:nvPr/>
        </p:nvPicPr>
        <p:blipFill>
          <a:blip r:embed="rId2"/>
          <a:stretch>
            <a:fillRect/>
          </a:stretch>
        </p:blipFill>
        <p:spPr>
          <a:xfrm>
            <a:off x="1779079" y="1188720"/>
            <a:ext cx="8603361" cy="3182112"/>
          </a:xfrm>
          <a:prstGeom prst="rect">
            <a:avLst/>
          </a:prstGeom>
        </p:spPr>
      </p:pic>
      <p:sp>
        <p:nvSpPr>
          <p:cNvPr id="6" name="TextBox 5"/>
          <p:cNvSpPr txBox="1"/>
          <p:nvPr/>
        </p:nvSpPr>
        <p:spPr>
          <a:xfrm>
            <a:off x="457200" y="438912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/Users/yilu/Documents/GitHub/RTS-GMLC/trial_0826/campaign/analysis/bo_stage2/figs/fig1_front.png</a:t>
            </a:r>
          </a:p>
        </p:txBody>
      </p:sp>
      <p:graphicFrame>
        <p:nvGraphicFramePr>
          <p:cNvPr id="7" name="Table 6"/>
          <p:cNvGraphicFramePr>
            <a:graphicFrameLocks noGrp="1"/>
          </p:cNvGraphicFramePr>
          <p:nvPr/>
        </p:nvGraphicFramePr>
        <p:xfrm>
          <a:off x="457200" y="4754880"/>
          <a:ext cx="11247120" cy="1463040"/>
        </p:xfrm>
        <a:graphic>
          <a:graphicData uri="http://schemas.openxmlformats.org/drawingml/2006/table">
            <a:tbl>
              <a:tblPr firstRow="1" bandRow="1">
                <a:tableStyleId>{5C22544A-7EE6-4342-B048-85BDC9FD1C3A}</a:tableStyleId>
              </a:tblPr>
              <a:tblGrid>
                <a:gridCol w="1645920"/>
                <a:gridCol w="9601200"/>
              </a:tblGrid>
              <a:tr h="365760">
                <a:tc>
                  <a:txBody>
                    <a:bodyPr wrap="square"/>
                    <a:lstStyle/>
                    <a:p>
                      <a:r>
                        <a:rPr sz="1300" b="1" i="0">
                          <a:solidFill>
                            <a:srgbClr val="1F1F1F"/>
                          </a:solidFill>
                          <a:latin typeface="Arial"/>
                        </a:rPr>
                        <a:t>Best in</a:t>
                      </a:r>
                    </a:p>
                  </a:txBody>
                  <a:tcPr marL="54864" marR="54864" marT="27432" marB="27432">
                    <a:solidFill>
                      <a:srgbClr val="DCE3EE"/>
                    </a:solidFill>
                  </a:tcPr>
                </a:tc>
                <a:tc>
                  <a:txBody>
                    <a:bodyPr wrap="square"/>
                    <a:lstStyle/>
                    <a:p>
                      <a:r>
                        <a:rPr sz="1300" b="1" i="0">
                          <a:solidFill>
                            <a:srgbClr val="1F1F1F"/>
                          </a:solidFill>
                          <a:latin typeface="Arial"/>
                        </a:rPr>
                        <a:t>Design(s)</a:t>
                      </a:r>
                    </a:p>
                  </a:txBody>
                  <a:tcPr marL="54864" marR="54864" marT="27432" marB="27432">
                    <a:solidFill>
                      <a:srgbClr val="DCE3EE"/>
                    </a:solidFill>
                  </a:tcPr>
                </a:tc>
              </a:tr>
              <a:tr h="365760">
                <a:tc>
                  <a:txBody>
                    <a:bodyPr wrap="square"/>
                    <a:lstStyle/>
                    <a:p>
                      <a:r>
                        <a:rPr sz="1300" b="0" i="0">
                          <a:solidFill>
                            <a:srgbClr val="1F1F1F"/>
                          </a:solidFill>
                          <a:latin typeface="Arial"/>
                        </a:rPr>
                        <a:t>Shed</a:t>
                      </a:r>
                    </a:p>
                  </a:txBody>
                  <a:tcPr marL="54864" marR="54864" marT="27432" marB="27432">
                    <a:solidFill>
                      <a:srgbClr val="FFFFFF"/>
                    </a:solidFill>
                  </a:tcPr>
                </a:tc>
                <a:tc>
                  <a:txBody>
                    <a:bodyPr wrap="square"/>
                    <a:lstStyle/>
                    <a:p>
                      <a:r>
                        <a:rPr sz="1300" b="0" i="0">
                          <a:solidFill>
                            <a:srgbClr val="1F1F1F"/>
                          </a:solidFill>
                          <a:latin typeface="Arial"/>
                        </a:rPr>
                        <a:t>4 designs tie at 0; cheapest r2#6 $582M; r1#5 = 0 shed + lowest curtailment at $668M</a:t>
                      </a:r>
                    </a:p>
                  </a:txBody>
                  <a:tcPr marL="54864" marR="54864" marT="27432" marB="27432">
                    <a:solidFill>
                      <a:srgbClr val="FFFFFF"/>
                    </a:solidFill>
                  </a:tcPr>
                </a:tc>
              </a:tr>
              <a:tr h="365760">
                <a:tc>
                  <a:txBody>
                    <a:bodyPr wrap="square"/>
                    <a:lstStyle/>
                    <a:p>
                      <a:r>
                        <a:rPr sz="1300" b="0" i="0">
                          <a:solidFill>
                            <a:srgbClr val="1F1F1F"/>
                          </a:solidFill>
                          <a:latin typeface="Arial"/>
                        </a:rPr>
                        <a:t>Curtailment</a:t>
                      </a:r>
                    </a:p>
                  </a:txBody>
                  <a:tcPr marL="54864" marR="54864" marT="27432" marB="27432">
                    <a:solidFill>
                      <a:srgbClr val="F6F6F6"/>
                    </a:solidFill>
                  </a:tcPr>
                </a:tc>
                <a:tc>
                  <a:txBody>
                    <a:bodyPr wrap="square"/>
                    <a:lstStyle/>
                    <a:p>
                      <a:r>
                        <a:rPr sz="1300" b="0" i="0">
                          <a:solidFill>
                            <a:srgbClr val="1F1F1F"/>
                          </a:solidFill>
                          <a:latin typeface="Arial"/>
                        </a:rPr>
                        <a:t>r1#5: 48 GWh, $668M (nuclear ω = 1.0)</a:t>
                      </a:r>
                    </a:p>
                  </a:txBody>
                  <a:tcPr marL="54864" marR="54864" marT="27432" marB="27432">
                    <a:solidFill>
                      <a:srgbClr val="F6F6F6"/>
                    </a:solidFill>
                  </a:tcPr>
                </a:tc>
              </a:tr>
              <a:tr h="365760">
                <a:tc>
                  <a:txBody>
                    <a:bodyPr wrap="square"/>
                    <a:lstStyle/>
                    <a:p>
                      <a:r>
                        <a:rPr sz="1300" b="0" i="0">
                          <a:solidFill>
                            <a:srgbClr val="1F1F1F"/>
                          </a:solidFill>
                          <a:latin typeface="Arial"/>
                        </a:rPr>
                        <a:t>Cost</a:t>
                      </a:r>
                    </a:p>
                  </a:txBody>
                  <a:tcPr marL="54864" marR="54864" marT="27432" marB="27432">
                    <a:solidFill>
                      <a:srgbClr val="FFFFFF"/>
                    </a:solidFill>
                  </a:tcPr>
                </a:tc>
                <a:tc>
                  <a:txBody>
                    <a:bodyPr wrap="square"/>
                    <a:lstStyle/>
                    <a:p>
                      <a:r>
                        <a:rPr sz="1300" b="0" i="0">
                          <a:solidFill>
                            <a:srgbClr val="1F1F1F"/>
                          </a:solidFill>
                          <a:latin typeface="Arial"/>
                        </a:rPr>
                        <a:t>r2#3: $510M (all tiers 0.05 except tail 1.0; 29 GWh shed, 1.26 TWh curtailed)</a:t>
                      </a:r>
                    </a:p>
                  </a:txBody>
                  <a:tcPr marL="54864" marR="54864" marT="27432" marB="2743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The calibration audit failed on 2 of 3 objectives and changed nothing</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corner extrapolation</a:t>
            </a:r>
          </a:p>
        </p:txBody>
      </p:sp>
      <p:pic>
        <p:nvPicPr>
          <p:cNvPr id="6" name="Picture 5" descr="fig3_calibration.png"/>
          <p:cNvPicPr>
            <a:picLocks noChangeAspect="1"/>
          </p:cNvPicPr>
          <p:nvPr/>
        </p:nvPicPr>
        <p:blipFill>
          <a:blip r:embed="rId2"/>
          <a:stretch>
            <a:fillRect/>
          </a:stretch>
        </p:blipFill>
        <p:spPr>
          <a:xfrm>
            <a:off x="1746066" y="1188720"/>
            <a:ext cx="8669387" cy="2999232"/>
          </a:xfrm>
          <a:prstGeom prst="rect">
            <a:avLst/>
          </a:prstGeom>
        </p:spPr>
      </p:pic>
      <p:sp>
        <p:nvSpPr>
          <p:cNvPr id="7" name="TextBox 6"/>
          <p:cNvSpPr txBox="1"/>
          <p:nvPr/>
        </p:nvSpPr>
        <p:spPr>
          <a:xfrm>
            <a:off x="457200" y="420624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/Users/yilu/Documents/GitHub/RTS-GMLC/trial_0826/campaign/analysis/bo_stage2/figs/fig3_calibration.png</a:t>
            </a:r>
          </a:p>
        </p:txBody>
      </p:sp>
      <p:graphicFrame>
        <p:nvGraphicFramePr>
          <p:cNvPr id="8" name="Table 7"/>
          <p:cNvGraphicFramePr>
            <a:graphicFrameLocks noGrp="1"/>
          </p:cNvGraphicFramePr>
          <p:nvPr/>
        </p:nvGraphicFramePr>
        <p:xfrm>
          <a:off x="457200" y="4572000"/>
          <a:ext cx="6309358" cy="1536192"/>
        </p:xfrm>
        <a:graphic>
          <a:graphicData uri="http://schemas.openxmlformats.org/drawingml/2006/table">
            <a:tbl>
              <a:tblPr firstRow="1" bandRow="1">
                <a:tableStyleId>{5C22544A-7EE6-4342-B048-85BDC9FD1C3A}</a:tableStyleId>
              </a:tblPr>
              <a:tblGrid>
                <a:gridCol w="1442139"/>
                <a:gridCol w="1081604"/>
                <a:gridCol w="1081604"/>
                <a:gridCol w="1261872"/>
                <a:gridCol w="1442139"/>
              </a:tblGrid>
              <a:tr h="384048">
                <a:tc>
                  <a:txBody>
                    <a:bodyPr wrap="square"/>
                    <a:lstStyle/>
                    <a:p>
                      <a:r>
                        <a:rPr sz="1200" b="1" i="0">
                          <a:solidFill>
                            <a:srgbClr val="1F1F1F"/>
                          </a:solidFill>
                          <a:latin typeface="Arial"/>
                        </a:rPr>
                        <a:t>Objective</a:t>
                      </a:r>
                    </a:p>
                  </a:txBody>
                  <a:tcPr marL="54864" marR="54864" marT="27432" marB="27432">
                    <a:solidFill>
                      <a:srgbClr val="DCE3EE"/>
                    </a:solidFill>
                  </a:tcPr>
                </a:tc>
                <a:tc>
                  <a:txBody>
                    <a:bodyPr wrap="square"/>
                    <a:lstStyle/>
                    <a:p>
                      <a:r>
                        <a:rPr sz="1200" b="1" i="0">
                          <a:solidFill>
                            <a:srgbClr val="1F1F1F"/>
                          </a:solidFill>
                          <a:latin typeface="Arial"/>
                        </a:rPr>
                        <a:t>r1 RMS(z)</a:t>
                      </a:r>
                    </a:p>
                  </a:txBody>
                  <a:tcPr marL="54864" marR="54864" marT="27432" marB="27432">
                    <a:solidFill>
                      <a:srgbClr val="DCE3EE"/>
                    </a:solidFill>
                  </a:tcPr>
                </a:tc>
                <a:tc>
                  <a:txBody>
                    <a:bodyPr wrap="square"/>
                    <a:lstStyle/>
                    <a:p>
                      <a:r>
                        <a:rPr sz="1200" b="1" i="0">
                          <a:solidFill>
                            <a:srgbClr val="1F1F1F"/>
                          </a:solidFill>
                          <a:latin typeface="Arial"/>
                        </a:rPr>
                        <a:t>r2 RMS(z)</a:t>
                      </a:r>
                    </a:p>
                  </a:txBody>
                  <a:tcPr marL="54864" marR="54864" marT="27432" marB="27432">
                    <a:solidFill>
                      <a:srgbClr val="DCE3EE"/>
                    </a:solidFill>
                  </a:tcPr>
                </a:tc>
                <a:tc>
                  <a:txBody>
                    <a:bodyPr wrap="square"/>
                    <a:lstStyle/>
                    <a:p>
                      <a:r>
                        <a:rPr sz="1200" b="1" i="0">
                          <a:solidFill>
                            <a:srgbClr val="1F1F1F"/>
                          </a:solidFill>
                          <a:latin typeface="Arial"/>
                        </a:rPr>
                        <a:t>Pooled cov95</a:t>
                      </a:r>
                    </a:p>
                  </a:txBody>
                  <a:tcPr marL="54864" marR="54864" marT="27432" marB="27432">
                    <a:solidFill>
                      <a:srgbClr val="DCE3EE"/>
                    </a:solidFill>
                  </a:tcPr>
                </a:tc>
                <a:tc>
                  <a:txBody>
                    <a:bodyPr wrap="square"/>
                    <a:lstStyle/>
                    <a:p>
                      <a:r>
                        <a:rPr sz="1200" b="1" i="0">
                          <a:solidFill>
                            <a:srgbClr val="1F1F1F"/>
                          </a:solidFill>
                          <a:latin typeface="Arial"/>
                        </a:rPr>
                        <a:t>Verdict</a:t>
                      </a:r>
                    </a:p>
                  </a:txBody>
                  <a:tcPr marL="54864" marR="54864" marT="27432" marB="27432">
                    <a:solidFill>
                      <a:srgbClr val="DCE3EE"/>
                    </a:solidFill>
                  </a:tcPr>
                </a:tc>
              </a:tr>
              <a:tr h="384048">
                <a:tc>
                  <a:txBody>
                    <a:bodyPr wrap="square"/>
                    <a:lstStyle/>
                    <a:p>
                      <a:r>
                        <a:rPr sz="1200" b="0" i="0">
                          <a:solidFill>
                            <a:srgbClr val="1F1F1F"/>
                          </a:solidFill>
                          <a:latin typeface="Arial"/>
                        </a:rPr>
                        <a:t>shed</a:t>
                      </a:r>
                    </a:p>
                  </a:txBody>
                  <a:tcPr marL="54864" marR="54864" marT="27432" marB="27432">
                    <a:solidFill>
                      <a:srgbClr val="FFFFFF"/>
                    </a:solidFill>
                  </a:tcPr>
                </a:tc>
                <a:tc>
                  <a:txBody>
                    <a:bodyPr wrap="square"/>
                    <a:lstStyle/>
                    <a:p>
                      <a:r>
                        <a:rPr sz="1200" b="0" i="0">
                          <a:solidFill>
                            <a:srgbClr val="1F1F1F"/>
                          </a:solidFill>
                          <a:latin typeface="Arial"/>
                        </a:rPr>
                        <a:t>0.33</a:t>
                      </a:r>
                    </a:p>
                  </a:txBody>
                  <a:tcPr marL="54864" marR="54864" marT="27432" marB="27432">
                    <a:solidFill>
                      <a:srgbClr val="FFFFFF"/>
                    </a:solidFill>
                  </a:tcPr>
                </a:tc>
                <a:tc>
                  <a:txBody>
                    <a:bodyPr wrap="square"/>
                    <a:lstStyle/>
                    <a:p>
                      <a:r>
                        <a:rPr sz="1200" b="0" i="0">
                          <a:solidFill>
                            <a:srgbClr val="1F1F1F"/>
                          </a:solidFill>
                          <a:latin typeface="Arial"/>
                        </a:rPr>
                        <a:t>1.88</a:t>
                      </a:r>
                    </a:p>
                  </a:txBody>
                  <a:tcPr marL="54864" marR="54864" marT="27432" marB="27432">
                    <a:solidFill>
                      <a:srgbClr val="FFFFFF"/>
                    </a:solidFill>
                  </a:tcPr>
                </a:tc>
                <a:tc>
                  <a:txBody>
                    <a:bodyPr wrap="square"/>
                    <a:lstStyle/>
                    <a:p>
                      <a:r>
                        <a:rPr sz="1200" b="0" i="0">
                          <a:solidFill>
                            <a:srgbClr val="1F1F1F"/>
                          </a:solidFill>
                          <a:latin typeface="Arial"/>
                        </a:rPr>
                        <a:t>94 %</a:t>
                      </a:r>
                    </a:p>
                  </a:txBody>
                  <a:tcPr marL="54864" marR="54864" marT="27432" marB="27432">
                    <a:solidFill>
                      <a:srgbClr val="FFFFFF"/>
                    </a:solidFill>
                  </a:tcPr>
                </a:tc>
                <a:tc>
                  <a:txBody>
                    <a:bodyPr wrap="square"/>
                    <a:lstStyle/>
                    <a:p>
                      <a:r>
                        <a:rPr sz="1200" b="0" i="0">
                          <a:solidFill>
                            <a:srgbClr val="1F1F1F"/>
                          </a:solidFill>
                          <a:latin typeface="Arial"/>
                        </a:rPr>
                        <a:t>not calibrated</a:t>
                      </a:r>
                    </a:p>
                  </a:txBody>
                  <a:tcPr marL="54864" marR="54864" marT="27432" marB="27432">
                    <a:solidFill>
                      <a:srgbClr val="FFFFFF"/>
                    </a:solidFill>
                  </a:tcPr>
                </a:tc>
              </a:tr>
              <a:tr h="384048">
                <a:tc>
                  <a:txBody>
                    <a:bodyPr wrap="square"/>
                    <a:lstStyle/>
                    <a:p>
                      <a:r>
                        <a:rPr sz="1200" b="0" i="0">
                          <a:solidFill>
                            <a:srgbClr val="1F1F1F"/>
                          </a:solidFill>
                          <a:latin typeface="Arial"/>
                        </a:rPr>
                        <a:t>curtailment</a:t>
                      </a:r>
                    </a:p>
                  </a:txBody>
                  <a:tcPr marL="54864" marR="54864" marT="27432" marB="27432">
                    <a:solidFill>
                      <a:srgbClr val="F6F6F6"/>
                    </a:solidFill>
                  </a:tcPr>
                </a:tc>
                <a:tc>
                  <a:txBody>
                    <a:bodyPr wrap="square"/>
                    <a:lstStyle/>
                    <a:p>
                      <a:r>
                        <a:rPr sz="1200" b="0" i="0">
                          <a:solidFill>
                            <a:srgbClr val="1F1F1F"/>
                          </a:solidFill>
                          <a:latin typeface="Arial"/>
                        </a:rPr>
                        <a:t>0.55</a:t>
                      </a:r>
                    </a:p>
                  </a:txBody>
                  <a:tcPr marL="54864" marR="54864" marT="27432" marB="27432">
                    <a:solidFill>
                      <a:srgbClr val="F6F6F6"/>
                    </a:solidFill>
                  </a:tcPr>
                </a:tc>
                <a:tc>
                  <a:txBody>
                    <a:bodyPr wrap="square"/>
                    <a:lstStyle/>
                    <a:p>
                      <a:r>
                        <a:rPr sz="1200" b="0" i="0">
                          <a:solidFill>
                            <a:srgbClr val="1F1F1F"/>
                          </a:solidFill>
                          <a:latin typeface="Arial"/>
                        </a:rPr>
                        <a:t>2.49</a:t>
                      </a:r>
                    </a:p>
                  </a:txBody>
                  <a:tcPr marL="54864" marR="54864" marT="27432" marB="27432">
                    <a:solidFill>
                      <a:srgbClr val="F6F6F6"/>
                    </a:solidFill>
                  </a:tcPr>
                </a:tc>
                <a:tc>
                  <a:txBody>
                    <a:bodyPr wrap="square"/>
                    <a:lstStyle/>
                    <a:p>
                      <a:r>
                        <a:rPr sz="1200" b="0" i="0">
                          <a:solidFill>
                            <a:srgbClr val="1F1F1F"/>
                          </a:solidFill>
                          <a:latin typeface="Arial"/>
                        </a:rPr>
                        <a:t>88 %</a:t>
                      </a:r>
                    </a:p>
                  </a:txBody>
                  <a:tcPr marL="54864" marR="54864" marT="27432" marB="27432">
                    <a:solidFill>
                      <a:srgbClr val="F6F6F6"/>
                    </a:solidFill>
                  </a:tcPr>
                </a:tc>
                <a:tc>
                  <a:txBody>
                    <a:bodyPr wrap="square"/>
                    <a:lstStyle/>
                    <a:p>
                      <a:r>
                        <a:rPr sz="1200" b="0" i="0">
                          <a:solidFill>
                            <a:srgbClr val="1F1F1F"/>
                          </a:solidFill>
                          <a:latin typeface="Arial"/>
                        </a:rPr>
                        <a:t>not calibrated</a:t>
                      </a:r>
                    </a:p>
                  </a:txBody>
                  <a:tcPr marL="54864" marR="54864" marT="27432" marB="27432">
                    <a:solidFill>
                      <a:srgbClr val="F6F6F6"/>
                    </a:solidFill>
                  </a:tcPr>
                </a:tc>
              </a:tr>
              <a:tr h="384048">
                <a:tc>
                  <a:txBody>
                    <a:bodyPr wrap="square"/>
                    <a:lstStyle/>
                    <a:p>
                      <a:r>
                        <a:rPr sz="1200" b="0" i="0">
                          <a:solidFill>
                            <a:srgbClr val="1F1F1F"/>
                          </a:solidFill>
                          <a:latin typeface="Arial"/>
                        </a:rPr>
                        <a:t>cost</a:t>
                      </a:r>
                    </a:p>
                  </a:txBody>
                  <a:tcPr marL="54864" marR="54864" marT="27432" marB="27432">
                    <a:solidFill>
                      <a:srgbClr val="FFFFFF"/>
                    </a:solidFill>
                  </a:tcPr>
                </a:tc>
                <a:tc>
                  <a:txBody>
                    <a:bodyPr wrap="square"/>
                    <a:lstStyle/>
                    <a:p>
                      <a:r>
                        <a:rPr sz="1200" b="0" i="0">
                          <a:solidFill>
                            <a:srgbClr val="1F1F1F"/>
                          </a:solidFill>
                          <a:latin typeface="Arial"/>
                        </a:rPr>
                        <a:t>0.91</a:t>
                      </a:r>
                    </a:p>
                  </a:txBody>
                  <a:tcPr marL="54864" marR="54864" marT="27432" marB="27432">
                    <a:solidFill>
                      <a:srgbClr val="FFFFFF"/>
                    </a:solidFill>
                  </a:tcPr>
                </a:tc>
                <a:tc>
                  <a:txBody>
                    <a:bodyPr wrap="square"/>
                    <a:lstStyle/>
                    <a:p>
                      <a:r>
                        <a:rPr sz="1200" b="0" i="0">
                          <a:solidFill>
                            <a:srgbClr val="1F1F1F"/>
                          </a:solidFill>
                          <a:latin typeface="Arial"/>
                        </a:rPr>
                        <a:t>1.01</a:t>
                      </a:r>
                    </a:p>
                  </a:txBody>
                  <a:tcPr marL="54864" marR="54864" marT="27432" marB="27432">
                    <a:solidFill>
                      <a:srgbClr val="FFFFFF"/>
                    </a:solidFill>
                  </a:tcPr>
                </a:tc>
                <a:tc>
                  <a:txBody>
                    <a:bodyPr wrap="square"/>
                    <a:lstStyle/>
                    <a:p>
                      <a:r>
                        <a:rPr sz="1200" b="0" i="0">
                          <a:solidFill>
                            <a:srgbClr val="1F1F1F"/>
                          </a:solidFill>
                          <a:latin typeface="Arial"/>
                        </a:rPr>
                        <a:t>100 %</a:t>
                      </a:r>
                    </a:p>
                  </a:txBody>
                  <a:tcPr marL="54864" marR="54864" marT="27432" marB="27432">
                    <a:solidFill>
                      <a:srgbClr val="FFFFFF"/>
                    </a:solidFill>
                  </a:tcPr>
                </a:tc>
                <a:tc>
                  <a:txBody>
                    <a:bodyPr wrap="square"/>
                    <a:lstStyle/>
                    <a:p>
                      <a:r>
                        <a:rPr sz="1200" b="0" i="0">
                          <a:solidFill>
                            <a:srgbClr val="1F1F1F"/>
                          </a:solidFill>
                          <a:latin typeface="Arial"/>
                        </a:rPr>
                        <a:t>calibrated</a:t>
                      </a:r>
                    </a:p>
                  </a:txBody>
                  <a:tcPr marL="54864" marR="54864" marT="27432" marB="27432">
                    <a:solidFill>
                      <a:srgbClr val="FFFFFF"/>
                    </a:solidFill>
                  </a:tcPr>
                </a:tc>
              </a:tr>
            </a:tbl>
          </a:graphicData>
        </a:graphic>
      </p:graphicFrame>
      <p:sp>
        <p:nvSpPr>
          <p:cNvPr id="9" name="TextBox 8"/>
          <p:cNvSpPr txBox="1"/>
          <p:nvPr/>
        </p:nvSpPr>
        <p:spPr>
          <a:xfrm>
            <a:off x="6949440" y="4526280"/>
            <a:ext cx="4754880" cy="178308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  r1 too wide, r2 overconfident at corners (r2#3 shed 29.2k vs 8.5k predicted).</a:t>
            </a:r>
          </a:p>
          <a:p>
            <a:pPr algn="l">
              <a:lnSpc>
                <a:spcPct val="105000"/>
              </a:lnSpc>
              <a:spcAft>
                <a:spcPts val="400"/>
              </a:spcAft>
            </a:pPr>
            <a:r>
              <a:rPr sz="1300" b="0" i="0">
                <a:solidFill>
                  <a:srgbClr val="1F1F1F"/>
                </a:solidFill>
                <a:latin typeface="Arial"/>
              </a:rPr>
              <a:t>•  The audit had no decision role.</a:t>
            </a:r>
          </a:p>
          <a:p>
            <a:pPr algn="l">
              <a:lnSpc>
                <a:spcPct val="105000"/>
              </a:lnSpc>
              <a:spcAft>
                <a:spcPts val="400"/>
              </a:spcAft>
            </a:pPr>
            <a:r>
              <a:rPr sz="1300" b="0" i="0">
                <a:solidFill>
                  <a:srgbClr val="1F1F1F"/>
                </a:solidFill>
                <a:latin typeface="Arial"/>
              </a:rPr>
              <a:t>•  Prompt 37 tests whether the audit predicts error.</a:t>
            </a:r>
          </a:p>
          <a:p>
            <a:pPr algn="l">
              <a:lnSpc>
                <a:spcPct val="105000"/>
              </a:lnSpc>
              <a:spcAft>
                <a:spcPts val="400"/>
              </a:spcAft>
            </a:pPr>
            <a:r>
              <a:rPr sz="1300" b="1" i="0">
                <a:solidFill>
                  <a:srgbClr val="1F1F1F"/>
                </a:solidFill>
                <a:latin typeface="Arial"/>
              </a:rPr>
              <a:t>•  Any restart: add corner points; consider shed as a constraint.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BO places at the 94th percentile of random 16-design batches; the lead is below τ</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pic>
        <p:nvPicPr>
          <p:cNvPr id="5" name="Picture 4" descr="fig1_hv_band.png"/>
          <p:cNvPicPr>
            <a:picLocks noChangeAspect="1"/>
          </p:cNvPicPr>
          <p:nvPr/>
        </p:nvPicPr>
        <p:blipFill>
          <a:blip r:embed="rId2"/>
          <a:stretch>
            <a:fillRect/>
          </a:stretch>
        </p:blipFill>
        <p:spPr>
          <a:xfrm>
            <a:off x="846238" y="1188720"/>
            <a:ext cx="5897044" cy="2468880"/>
          </a:xfrm>
          <a:prstGeom prst="rect">
            <a:avLst/>
          </a:prstGeom>
        </p:spPr>
      </p:pic>
      <p:pic>
        <p:nvPicPr>
          <p:cNvPr id="6" name="Picture 5" descr="fig2_percentile_hist.png"/>
          <p:cNvPicPr>
            <a:picLocks noChangeAspect="1"/>
          </p:cNvPicPr>
          <p:nvPr/>
        </p:nvPicPr>
        <p:blipFill>
          <a:blip r:embed="rId3"/>
          <a:stretch>
            <a:fillRect/>
          </a:stretch>
        </p:blipFill>
        <p:spPr>
          <a:xfrm>
            <a:off x="7508910" y="1188720"/>
            <a:ext cx="3910259" cy="2468880"/>
          </a:xfrm>
          <a:prstGeom prst="rect">
            <a:avLst/>
          </a:prstGeom>
        </p:spPr>
      </p:pic>
      <p:sp>
        <p:nvSpPr>
          <p:cNvPr id="7" name="TextBox 6"/>
          <p:cNvSpPr txBox="1"/>
          <p:nvPr/>
        </p:nvSpPr>
        <p:spPr>
          <a:xfrm>
            <a:off x="457200" y="365760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Left: /Users/yilu/Documents/GitHub/RTS-GMLC/trial_0826/campaign/analysis/random_baseline/figs/fig1_hv_band.png</a:t>
            </a:r>
          </a:p>
          <a:p>
            <a:pPr algn="l">
              <a:lnSpc>
                <a:spcPct val="105000"/>
              </a:lnSpc>
              <a:spcAft>
                <a:spcPts val="0"/>
              </a:spcAft>
            </a:pPr>
            <a:r>
              <a:rPr sz="800" b="0" i="0">
                <a:solidFill>
                  <a:srgbClr val="8A8A8A"/>
                </a:solidFill>
                <a:latin typeface="Arial"/>
              </a:rPr>
              <a:t>Right: /Users/yilu/Documents/GitHub/RTS-GMLC/trial_0826/campaign/analysis/random_baseline/figs/fig2_percentile_hist.png</a:t>
            </a:r>
          </a:p>
        </p:txBody>
      </p:sp>
      <p:sp>
        <p:nvSpPr>
          <p:cNvPr id="8" name="TextBox 7"/>
          <p:cNvSpPr txBox="1"/>
          <p:nvPr/>
        </p:nvSpPr>
        <p:spPr>
          <a:xfrm>
            <a:off x="457200" y="3977639"/>
            <a:ext cx="11247120" cy="3200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Design: 48 uniform random lattice designs; 100,000 random 16-subsets; "above" needs p̂ ≥ 0.90 and p_lo ≥ 0.50 at both refs (pre-registered).</a:t>
            </a:r>
          </a:p>
        </p:txBody>
      </p:sp>
      <p:graphicFrame>
        <p:nvGraphicFramePr>
          <p:cNvPr id="9" name="Table 8"/>
          <p:cNvGraphicFramePr>
            <a:graphicFrameLocks noGrp="1"/>
          </p:cNvGraphicFramePr>
          <p:nvPr/>
        </p:nvGraphicFramePr>
        <p:xfrm>
          <a:off x="457200" y="4343400"/>
          <a:ext cx="11247117" cy="987552"/>
        </p:xfrm>
        <a:graphic>
          <a:graphicData uri="http://schemas.openxmlformats.org/drawingml/2006/table">
            <a:tbl>
              <a:tblPr firstRow="1" bandRow="1">
                <a:tableStyleId>{5C22544A-7EE6-4342-B048-85BDC9FD1C3A}</a:tableStyleId>
              </a:tblPr>
              <a:tblGrid>
                <a:gridCol w="1418555"/>
                <a:gridCol w="1519881"/>
                <a:gridCol w="3242412"/>
                <a:gridCol w="1621206"/>
                <a:gridCol w="2431809"/>
                <a:gridCol w="1013254"/>
              </a:tblGrid>
              <a:tr h="329184">
                <a:tc>
                  <a:txBody>
                    <a:bodyPr wrap="square"/>
                    <a:lstStyle/>
                    <a:p>
                      <a:r>
                        <a:rPr sz="1200" b="1" i="0">
                          <a:solidFill>
                            <a:srgbClr val="1F1F1F"/>
                          </a:solidFill>
                          <a:latin typeface="Arial"/>
                        </a:rPr>
                        <a:t>Ref</a:t>
                      </a:r>
                    </a:p>
                  </a:txBody>
                  <a:tcPr marL="54864" marR="54864" marT="27432" marB="27432">
                    <a:solidFill>
                      <a:srgbClr val="DCE3EE"/>
                    </a:solidFill>
                  </a:tcPr>
                </a:tc>
                <a:tc>
                  <a:txBody>
                    <a:bodyPr wrap="square"/>
                    <a:lstStyle/>
                    <a:p>
                      <a:r>
                        <a:rPr sz="1200" b="1" i="0">
                          <a:solidFill>
                            <a:srgbClr val="1F1F1F"/>
                          </a:solidFill>
                          <a:latin typeface="Arial"/>
                        </a:rPr>
                        <a:t>BO HV/HV₀</a:t>
                      </a:r>
                    </a:p>
                  </a:txBody>
                  <a:tcPr marL="54864" marR="54864" marT="27432" marB="27432">
                    <a:solidFill>
                      <a:srgbClr val="DCE3EE"/>
                    </a:solidFill>
                  </a:tcPr>
                </a:tc>
                <a:tc>
                  <a:txBody>
                    <a:bodyPr wrap="square"/>
                    <a:lstStyle/>
                    <a:p>
                      <a:r>
                        <a:rPr sz="1200" b="1" i="0">
                          <a:solidFill>
                            <a:srgbClr val="1F1F1F"/>
                          </a:solidFill>
                          <a:latin typeface="Arial"/>
                        </a:rPr>
                        <a:t>Random p10 / p50 / p90</a:t>
                      </a:r>
                    </a:p>
                  </a:txBody>
                  <a:tcPr marL="54864" marR="54864" marT="27432" marB="27432">
                    <a:solidFill>
                      <a:srgbClr val="DCE3EE"/>
                    </a:solidFill>
                  </a:tcPr>
                </a:tc>
                <a:tc>
                  <a:txBody>
                    <a:bodyPr wrap="square"/>
                    <a:lstStyle/>
                    <a:p>
                      <a:r>
                        <a:rPr sz="1200" b="1" i="0">
                          <a:solidFill>
                            <a:srgbClr val="1F1F1F"/>
                          </a:solidFill>
                          <a:latin typeface="Arial"/>
                        </a:rPr>
                        <a:t>BO − median</a:t>
                      </a:r>
                    </a:p>
                  </a:txBody>
                  <a:tcPr marL="54864" marR="54864" marT="27432" marB="27432">
                    <a:solidFill>
                      <a:srgbClr val="DCE3EE"/>
                    </a:solidFill>
                  </a:tcPr>
                </a:tc>
                <a:tc>
                  <a:txBody>
                    <a:bodyPr wrap="square"/>
                    <a:lstStyle/>
                    <a:p>
                      <a:r>
                        <a:rPr sz="1200" b="1" i="0">
                          <a:solidFill>
                            <a:srgbClr val="1F1F1F"/>
                          </a:solidFill>
                          <a:latin typeface="Arial"/>
                        </a:rPr>
                        <a:t>p̂48 [interval]</a:t>
                      </a:r>
                    </a:p>
                  </a:txBody>
                  <a:tcPr marL="54864" marR="54864" marT="27432" marB="27432">
                    <a:solidFill>
                      <a:srgbClr val="DCE3EE"/>
                    </a:solidFill>
                  </a:tcPr>
                </a:tc>
                <a:tc>
                  <a:txBody>
                    <a:bodyPr wrap="square"/>
                    <a:lstStyle/>
                    <a:p>
                      <a:r>
                        <a:rPr sz="1200" b="1" i="0">
                          <a:solidFill>
                            <a:srgbClr val="1F1F1F"/>
                          </a:solidFill>
                          <a:latin typeface="Arial"/>
                        </a:rPr>
                        <a:t>Row</a:t>
                      </a:r>
                    </a:p>
                  </a:txBody>
                  <a:tcPr marL="54864" marR="54864" marT="27432" marB="27432">
                    <a:solidFill>
                      <a:srgbClr val="DCE3EE"/>
                    </a:solidFill>
                  </a:tcPr>
                </a:tc>
              </a:tr>
              <a:tr h="329184">
                <a:tc>
                  <a:txBody>
                    <a:bodyPr wrap="square"/>
                    <a:lstStyle/>
                    <a:p>
                      <a:r>
                        <a:rPr sz="1200" b="0" i="0">
                          <a:solidFill>
                            <a:srgbClr val="1F1F1F"/>
                          </a:solidFill>
                          <a:latin typeface="Arial"/>
                        </a:rPr>
                        <a:t>R_frozen</a:t>
                      </a:r>
                    </a:p>
                  </a:txBody>
                  <a:tcPr marL="54864" marR="54864" marT="27432" marB="27432">
                    <a:solidFill>
                      <a:srgbClr val="FFFFFF"/>
                    </a:solidFill>
                  </a:tcPr>
                </a:tc>
                <a:tc>
                  <a:txBody>
                    <a:bodyPr wrap="square"/>
                    <a:lstStyle/>
                    <a:p>
                      <a:r>
                        <a:rPr sz="1200" b="0" i="0">
                          <a:solidFill>
                            <a:srgbClr val="1F1F1F"/>
                          </a:solidFill>
                          <a:latin typeface="Arial"/>
                        </a:rPr>
                        <a:t>1.0688</a:t>
                      </a:r>
                    </a:p>
                  </a:txBody>
                  <a:tcPr marL="54864" marR="54864" marT="27432" marB="27432">
                    <a:solidFill>
                      <a:srgbClr val="FFFFFF"/>
                    </a:solidFill>
                  </a:tcPr>
                </a:tc>
                <a:tc>
                  <a:txBody>
                    <a:bodyPr wrap="square"/>
                    <a:lstStyle/>
                    <a:p>
                      <a:r>
                        <a:rPr sz="1200" b="0" i="0">
                          <a:solidFill>
                            <a:srgbClr val="1F1F1F"/>
                          </a:solidFill>
                          <a:latin typeface="Arial"/>
                        </a:rPr>
                        <a:t>1.0158 / 1.0421 / 1.0651</a:t>
                      </a:r>
                    </a:p>
                  </a:txBody>
                  <a:tcPr marL="54864" marR="54864" marT="27432" marB="27432">
                    <a:solidFill>
                      <a:srgbClr val="FFFFFF"/>
                    </a:solidFill>
                  </a:tcPr>
                </a:tc>
                <a:tc>
                  <a:txBody>
                    <a:bodyPr wrap="square"/>
                    <a:lstStyle/>
                    <a:p>
                      <a:r>
                        <a:rPr sz="1200" b="0" i="0">
                          <a:solidFill>
                            <a:srgbClr val="1F1F1F"/>
                          </a:solidFill>
                          <a:latin typeface="Arial"/>
                        </a:rPr>
                        <a:t>+0.027</a:t>
                      </a:r>
                    </a:p>
                  </a:txBody>
                  <a:tcPr marL="54864" marR="54864" marT="27432" marB="27432">
                    <a:solidFill>
                      <a:srgbClr val="FFFFFF"/>
                    </a:solidFill>
                  </a:tcPr>
                </a:tc>
                <a:tc>
                  <a:txBody>
                    <a:bodyPr wrap="square"/>
                    <a:lstStyle/>
                    <a:p>
                      <a:r>
                        <a:rPr sz="1200" b="0" i="0">
                          <a:solidFill>
                            <a:srgbClr val="1F1F1F"/>
                          </a:solidFill>
                          <a:latin typeface="Arial"/>
                        </a:rPr>
                        <a:t>0.94 [0.84, 1.00]</a:t>
                      </a:r>
                    </a:p>
                  </a:txBody>
                  <a:tcPr marL="54864" marR="54864" marT="27432" marB="27432">
                    <a:solidFill>
                      <a:srgbClr val="FFFFFF"/>
                    </a:solidFill>
                  </a:tcPr>
                </a:tc>
                <a:tc>
                  <a:txBody>
                    <a:bodyPr wrap="square"/>
                    <a:lstStyle/>
                    <a:p>
                      <a:r>
                        <a:rPr sz="1200" b="0" i="0">
                          <a:solidFill>
                            <a:srgbClr val="1F1F1F"/>
                          </a:solidFill>
                          <a:latin typeface="Arial"/>
                        </a:rPr>
                        <a:t>above</a:t>
                      </a:r>
                    </a:p>
                  </a:txBody>
                  <a:tcPr marL="54864" marR="54864" marT="27432" marB="27432">
                    <a:solidFill>
                      <a:srgbClr val="FFFFFF"/>
                    </a:solidFill>
                  </a:tcPr>
                </a:tc>
              </a:tr>
              <a:tr h="329184">
                <a:tc>
                  <a:txBody>
                    <a:bodyPr wrap="square"/>
                    <a:lstStyle/>
                    <a:p>
                      <a:r>
                        <a:rPr sz="1200" b="0" i="0">
                          <a:solidFill>
                            <a:srgbClr val="1F1F1F"/>
                          </a:solidFill>
                          <a:latin typeface="Arial"/>
                        </a:rPr>
                        <a:t>R_union</a:t>
                      </a:r>
                    </a:p>
                  </a:txBody>
                  <a:tcPr marL="54864" marR="54864" marT="27432" marB="27432">
                    <a:solidFill>
                      <a:srgbClr val="F6F6F6"/>
                    </a:solidFill>
                  </a:tcPr>
                </a:tc>
                <a:tc>
                  <a:txBody>
                    <a:bodyPr wrap="square"/>
                    <a:lstStyle/>
                    <a:p>
                      <a:r>
                        <a:rPr sz="1200" b="0" i="0">
                          <a:solidFill>
                            <a:srgbClr val="1F1F1F"/>
                          </a:solidFill>
                          <a:latin typeface="Arial"/>
                        </a:rPr>
                        <a:t>1.0460</a:t>
                      </a:r>
                    </a:p>
                  </a:txBody>
                  <a:tcPr marL="54864" marR="54864" marT="27432" marB="27432">
                    <a:solidFill>
                      <a:srgbClr val="F6F6F6"/>
                    </a:solidFill>
                  </a:tcPr>
                </a:tc>
                <a:tc>
                  <a:txBody>
                    <a:bodyPr wrap="square"/>
                    <a:lstStyle/>
                    <a:p>
                      <a:r>
                        <a:rPr sz="1200" b="0" i="0">
                          <a:solidFill>
                            <a:srgbClr val="1F1F1F"/>
                          </a:solidFill>
                          <a:latin typeface="Arial"/>
                        </a:rPr>
                        <a:t>1.0083 / 1.0204 / 1.0311</a:t>
                      </a:r>
                    </a:p>
                  </a:txBody>
                  <a:tcPr marL="54864" marR="54864" marT="27432" marB="27432">
                    <a:solidFill>
                      <a:srgbClr val="F6F6F6"/>
                    </a:solidFill>
                  </a:tcPr>
                </a:tc>
                <a:tc>
                  <a:txBody>
                    <a:bodyPr wrap="square"/>
                    <a:lstStyle/>
                    <a:p>
                      <a:r>
                        <a:rPr sz="1200" b="0" i="0">
                          <a:solidFill>
                            <a:srgbClr val="1F1F1F"/>
                          </a:solidFill>
                          <a:latin typeface="Arial"/>
                        </a:rPr>
                        <a:t>+0.026</a:t>
                      </a:r>
                    </a:p>
                  </a:txBody>
                  <a:tcPr marL="54864" marR="54864" marT="27432" marB="27432">
                    <a:solidFill>
                      <a:srgbClr val="F6F6F6"/>
                    </a:solidFill>
                  </a:tcPr>
                </a:tc>
                <a:tc>
                  <a:txBody>
                    <a:bodyPr wrap="square"/>
                    <a:lstStyle/>
                    <a:p>
                      <a:r>
                        <a:rPr sz="1200" b="0" i="0">
                          <a:solidFill>
                            <a:srgbClr val="1F1F1F"/>
                          </a:solidFill>
                          <a:latin typeface="Arial"/>
                        </a:rPr>
                        <a:t>1.00 [1.00, 1.00]</a:t>
                      </a:r>
                    </a:p>
                  </a:txBody>
                  <a:tcPr marL="54864" marR="54864" marT="27432" marB="27432">
                    <a:solidFill>
                      <a:srgbClr val="F6F6F6"/>
                    </a:solidFill>
                  </a:tcPr>
                </a:tc>
                <a:tc>
                  <a:txBody>
                    <a:bodyPr wrap="square"/>
                    <a:lstStyle/>
                    <a:p>
                      <a:r>
                        <a:rPr sz="1200" b="0" i="0">
                          <a:solidFill>
                            <a:srgbClr val="1F1F1F"/>
                          </a:solidFill>
                          <a:latin typeface="Arial"/>
                        </a:rPr>
                        <a:t>above</a:t>
                      </a:r>
                    </a:p>
                  </a:txBody>
                  <a:tcPr marL="54864" marR="54864" marT="27432" marB="27432">
                    <a:solidFill>
                      <a:srgbClr val="F6F6F6"/>
                    </a:solidFill>
                  </a:tcPr>
                </a:tc>
              </a:tr>
            </a:tbl>
          </a:graphicData>
        </a:graphic>
      </p:graphicFrame>
      <p:sp>
        <p:nvSpPr>
          <p:cNvPr id="10" name="Rounded Rectangle 9"/>
          <p:cNvSpPr/>
          <p:nvPr/>
        </p:nvSpPr>
        <p:spPr>
          <a:xfrm>
            <a:off x="457200" y="5440680"/>
            <a:ext cx="11247120" cy="8229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 y="5486400"/>
            <a:ext cx="10972800" cy="731520"/>
          </a:xfrm>
          <a:prstGeom prst="rect">
            <a:avLst/>
          </a:prstGeom>
          <a:noFill/>
        </p:spPr>
        <p:txBody>
          <a:bodyPr wrap="square" anchor="ctr" lIns="45720" rIns="45720" tIns="27432" bIns="27432">
            <a:spAutoFit/>
          </a:bodyPr>
          <a:lstStyle/>
          <a:p>
            <a:pPr algn="l">
              <a:lnSpc>
                <a:spcPct val="105000"/>
              </a:lnSpc>
              <a:spcAft>
                <a:spcPts val="300"/>
              </a:spcAft>
            </a:pPr>
            <a:r>
              <a:rPr sz="1400" b="0" i="0">
                <a:solidFill>
                  <a:srgbClr val="1F1F1F"/>
                </a:solidFill>
                <a:latin typeface="Arial"/>
              </a:rPr>
              <a:t>R_frozen (fixed before round 1) is the honest primary. R_union credits BO's corner picks; its 1.00 restates the extremes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The percentile lead depends on load-shed differences smaller than the floor</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sensitivity to sub-floor shed differences</a:t>
            </a:r>
          </a:p>
        </p:txBody>
      </p:sp>
      <p:sp>
        <p:nvSpPr>
          <p:cNvPr id="6" name="Rounded Rectangle 5"/>
          <p:cNvSpPr/>
          <p:nvPr/>
        </p:nvSpPr>
        <p:spPr>
          <a:xfrm>
            <a:off x="457200" y="1234440"/>
            <a:ext cx="55321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325880"/>
            <a:ext cx="5166360" cy="2926080"/>
          </a:xfrm>
          <a:prstGeom prst="rect">
            <a:avLst/>
          </a:prstGeom>
          <a:noFill/>
        </p:spPr>
        <p:txBody>
          <a:bodyPr wrap="square" anchor="t" lIns="45720" rIns="45720" tIns="27432" bIns="27432">
            <a:spAutoFit/>
          </a:bodyPr>
          <a:lstStyle/>
          <a:p>
            <a:pPr algn="l">
              <a:lnSpc>
                <a:spcPct val="105000"/>
              </a:lnSpc>
              <a:spcAft>
                <a:spcPts val="1000"/>
              </a:spcAft>
            </a:pPr>
            <a:r>
              <a:rPr sz="1600" b="1" i="0">
                <a:solidFill>
                  <a:srgbClr val="0C2340"/>
                </a:solidFill>
                <a:latin typeface="Arial"/>
              </a:rPr>
              <a:t>Pre-registered</a:t>
            </a:r>
          </a:p>
          <a:p>
            <a:pPr algn="l">
              <a:lnSpc>
                <a:spcPct val="105000"/>
              </a:lnSpc>
              <a:spcAft>
                <a:spcPts val="1000"/>
              </a:spcAft>
            </a:pPr>
            <a:r>
              <a:rPr sz="1600" b="0" i="0">
                <a:solidFill>
                  <a:srgbClr val="1F1F1F"/>
                </a:solidFill>
                <a:latin typeface="Arial"/>
              </a:rPr>
              <a:t>1,000 perturbed draws (floors 3,000 MWh / 5,000 MWh / $0.5M).</a:t>
            </a:r>
          </a:p>
          <a:p>
            <a:pPr algn="l">
              <a:lnSpc>
                <a:spcPct val="105000"/>
              </a:lnSpc>
              <a:spcAft>
                <a:spcPts val="1000"/>
              </a:spcAft>
            </a:pPr>
            <a:r>
              <a:rPr sz="1600" b="0" i="0">
                <a:solidFill>
                  <a:srgbClr val="1F1F1F"/>
                </a:solidFill>
                <a:latin typeface="Arial"/>
              </a:rPr>
              <a:t>467 above, 531 comparable, 2 matched.</a:t>
            </a:r>
          </a:p>
          <a:p>
            <a:pPr algn="l">
              <a:lnSpc>
                <a:spcPct val="105000"/>
              </a:lnSpc>
              <a:spcAft>
                <a:spcPts val="1000"/>
              </a:spcAft>
            </a:pPr>
            <a:r>
              <a:rPr sz="1600" b="0" i="0">
                <a:solidFill>
                  <a:srgbClr val="1F1F1F"/>
                </a:solidFill>
                <a:latin typeface="Arial"/>
              </a:rPr>
              <a:t>0.467 &lt; 0.8 → "not robust to floor-level output perturbation".</a:t>
            </a:r>
          </a:p>
          <a:p>
            <a:pPr algn="l">
              <a:lnSpc>
                <a:spcPct val="105000"/>
              </a:lnSpc>
              <a:spcAft>
                <a:spcPts val="1000"/>
              </a:spcAft>
            </a:pPr>
            <a:r>
              <a:rPr sz="1600" b="1" i="0">
                <a:solidFill>
                  <a:srgbClr val="1F1F1F"/>
                </a:solidFill>
                <a:latin typeface="Arial"/>
              </a:rPr>
              <a:t>The flag stays.</a:t>
            </a:r>
          </a:p>
        </p:txBody>
      </p:sp>
      <p:sp>
        <p:nvSpPr>
          <p:cNvPr id="8" name="Rounded Rectangle 7"/>
          <p:cNvSpPr/>
          <p:nvPr/>
        </p:nvSpPr>
        <p:spPr>
          <a:xfrm>
            <a:off x="6172200" y="1234440"/>
            <a:ext cx="5532120" cy="3108960"/>
          </a:xfrm>
          <a:prstGeom prst="roundRect">
            <a:avLst>
              <a:gd name="adj" fmla="val 4000"/>
            </a:avLst>
          </a:prstGeom>
          <a:solidFill>
            <a:srgbClr val="F2F4F7"/>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55080" y="1325880"/>
            <a:ext cx="5166360" cy="2926080"/>
          </a:xfrm>
          <a:prstGeom prst="rect">
            <a:avLst/>
          </a:prstGeom>
          <a:noFill/>
        </p:spPr>
        <p:txBody>
          <a:bodyPr wrap="square" anchor="t" lIns="45720" rIns="45720" tIns="27432" bIns="27432">
            <a:spAutoFit/>
          </a:bodyPr>
          <a:lstStyle/>
          <a:p>
            <a:pPr algn="l">
              <a:lnSpc>
                <a:spcPct val="105000"/>
              </a:lnSpc>
              <a:spcAft>
                <a:spcPts val="1000"/>
              </a:spcAft>
            </a:pPr>
            <a:r>
              <a:rPr sz="1600" b="1" i="0">
                <a:solidFill>
                  <a:srgbClr val="AE9342"/>
                </a:solidFill>
                <a:latin typeface="Arial"/>
              </a:rPr>
              <a:t>POST-HOC (not pre-registered)</a:t>
            </a:r>
          </a:p>
          <a:p>
            <a:pPr algn="l">
              <a:lnSpc>
                <a:spcPct val="105000"/>
              </a:lnSpc>
              <a:spcAft>
                <a:spcPts val="1000"/>
              </a:spcAft>
            </a:pPr>
            <a:r>
              <a:rPr sz="1600" b="0" i="0">
                <a:solidFill>
                  <a:srgbClr val="1F1F1F"/>
                </a:solidFill>
                <a:latin typeface="Arial"/>
              </a:rPr>
              <a:t>The shed floor (3,000 MWh) is 20 % of the R_frozen shed width (15,102 MWh).</a:t>
            </a:r>
          </a:p>
          <a:p>
            <a:pPr algn="l">
              <a:lnSpc>
                <a:spcPct val="105000"/>
              </a:lnSpc>
              <a:spcAft>
                <a:spcPts val="1000"/>
              </a:spcAft>
            </a:pPr>
            <a:r>
              <a:rPr sz="1600" b="0" i="0">
                <a:solidFill>
                  <a:srgbClr val="1F1F1F"/>
                </a:solidFill>
                <a:latin typeface="Arial"/>
              </a:rPr>
              <a:t>Without shed noise, 0.89 of draws keep "above"; clipping shed at 0 gives 0.48.</a:t>
            </a:r>
          </a:p>
          <a:p>
            <a:pPr algn="l">
              <a:lnSpc>
                <a:spcPct val="105000"/>
              </a:lnSpc>
              <a:spcAft>
                <a:spcPts val="1000"/>
              </a:spcAft>
            </a:pPr>
            <a:r>
              <a:rPr sz="1600" b="0" i="0">
                <a:solidFill>
                  <a:srgbClr val="1F1F1F"/>
                </a:solidFill>
                <a:latin typeface="Arial"/>
              </a:rPr>
              <a:t>RTS runs are deterministic, so this is a materiality stress test, not measurement noise.</a:t>
            </a:r>
          </a:p>
        </p:txBody>
      </p:sp>
      <p:sp>
        <p:nvSpPr>
          <p:cNvPr id="10" name="Rounded Rectangle 9"/>
          <p:cNvSpPr/>
          <p:nvPr/>
        </p:nvSpPr>
        <p:spPr>
          <a:xfrm>
            <a:off x="457200" y="4526280"/>
            <a:ext cx="11247120" cy="17373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 y="4572000"/>
            <a:ext cx="10972800" cy="1645920"/>
          </a:xfrm>
          <a:prstGeom prst="rect">
            <a:avLst/>
          </a:prstGeom>
          <a:noFill/>
        </p:spPr>
        <p:txBody>
          <a:bodyPr wrap="square" anchor="ctr" lIns="45720" rIns="45720" tIns="27432" bIns="27432">
            <a:spAutoFit/>
          </a:bodyPr>
          <a:lstStyle/>
          <a:p>
            <a:pPr algn="l">
              <a:lnSpc>
                <a:spcPct val="105000"/>
              </a:lnSpc>
              <a:spcAft>
                <a:spcPts val="300"/>
              </a:spcAft>
            </a:pPr>
            <a:r>
              <a:rPr sz="1600" b="1" i="0">
                <a:solidFill>
                  <a:srgbClr val="0C2340"/>
                </a:solidFill>
                <a:latin typeface="Arial"/>
              </a:rPr>
              <a:t>Reading</a:t>
            </a:r>
          </a:p>
          <a:p>
            <a:pPr algn="l">
              <a:lnSpc>
                <a:spcPct val="105000"/>
              </a:lnSpc>
              <a:spcAft>
                <a:spcPts val="300"/>
              </a:spcAft>
            </a:pPr>
            <a:r>
              <a:rPr sz="1600" b="0" i="0">
                <a:solidFill>
                  <a:srgbClr val="1F1F1F"/>
                </a:solidFill>
                <a:latin typeface="Arial"/>
              </a:rPr>
              <a:t>"BO's percentile lead depends partly on load-shed differences smaller than 3,000 MWh." Also: p̂ = 0.94 sits only 0.04 above the 0.90 cutoff.</a:t>
            </a:r>
          </a:p>
          <a:p>
            <a:pPr algn="l">
              <a:lnSpc>
                <a:spcPct val="105000"/>
              </a:lnSpc>
              <a:spcAft>
                <a:spcPts val="300"/>
              </a:spcAft>
            </a:pPr>
            <a:r>
              <a:rPr sz="1600" b="0" i="0">
                <a:solidFill>
                  <a:srgbClr val="1F1F1F"/>
                </a:solidFill>
                <a:latin typeface="Arial"/>
              </a:rPr>
              <a:t>Shed materiality is restated after prompt 38 (22.426 MWh plateau).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BO's clearest result: both extremes lie beyond every random design</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pic>
        <p:nvPicPr>
          <p:cNvPr id="5" name="Picture 4" descr="fig3_s1_extremes.png"/>
          <p:cNvPicPr>
            <a:picLocks noChangeAspect="1"/>
          </p:cNvPicPr>
          <p:nvPr/>
        </p:nvPicPr>
        <p:blipFill>
          <a:blip r:embed="rId2"/>
          <a:stretch>
            <a:fillRect/>
          </a:stretch>
        </p:blipFill>
        <p:spPr>
          <a:xfrm>
            <a:off x="1245208" y="1188720"/>
            <a:ext cx="9671104" cy="2816352"/>
          </a:xfrm>
          <a:prstGeom prst="rect">
            <a:avLst/>
          </a:prstGeom>
        </p:spPr>
      </p:pic>
      <p:sp>
        <p:nvSpPr>
          <p:cNvPr id="6" name="TextBox 5"/>
          <p:cNvSpPr txBox="1"/>
          <p:nvPr/>
        </p:nvSpPr>
        <p:spPr>
          <a:xfrm>
            <a:off x="457200" y="402336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/Users/yilu/Documents/GitHub/RTS-GMLC/trial_0826/campaign/analysis/random_baseline/figs/fig3_s1_extremes.png</a:t>
            </a:r>
          </a:p>
        </p:txBody>
      </p:sp>
      <p:graphicFrame>
        <p:nvGraphicFramePr>
          <p:cNvPr id="7" name="Table 6"/>
          <p:cNvGraphicFramePr>
            <a:graphicFrameLocks noGrp="1"/>
          </p:cNvGraphicFramePr>
          <p:nvPr/>
        </p:nvGraphicFramePr>
        <p:xfrm>
          <a:off x="457200" y="4389120"/>
          <a:ext cx="6400800" cy="1463040"/>
        </p:xfrm>
        <a:graphic>
          <a:graphicData uri="http://schemas.openxmlformats.org/drawingml/2006/table">
            <a:tbl>
              <a:tblPr firstRow="1" bandRow="1">
                <a:tableStyleId>{5C22544A-7EE6-4342-B048-85BDC9FD1C3A}</a:tableStyleId>
              </a:tblPr>
              <a:tblGrid>
                <a:gridCol w="1155700"/>
                <a:gridCol w="1689100"/>
                <a:gridCol w="1600200"/>
                <a:gridCol w="1955800"/>
              </a:tblGrid>
              <a:tr h="365760">
                <a:tc>
                  <a:txBody>
                    <a:bodyPr wrap="square"/>
                    <a:lstStyle/>
                    <a:p>
                      <a:r>
                        <a:rPr sz="1200" b="1" i="0">
                          <a:solidFill>
                            <a:srgbClr val="1F1F1F"/>
                          </a:solidFill>
                          <a:latin typeface="Arial"/>
                        </a:rPr>
                        <a:t>Objective</a:t>
                      </a:r>
                    </a:p>
                  </a:txBody>
                  <a:tcPr marL="54864" marR="54864" marT="27432" marB="27432">
                    <a:solidFill>
                      <a:srgbClr val="DCE3EE"/>
                    </a:solidFill>
                  </a:tcPr>
                </a:tc>
                <a:tc>
                  <a:txBody>
                    <a:bodyPr wrap="square"/>
                    <a:lstStyle/>
                    <a:p>
                      <a:r>
                        <a:rPr sz="1200" b="1" i="0">
                          <a:solidFill>
                            <a:srgbClr val="1F1F1F"/>
                          </a:solidFill>
                          <a:latin typeface="Arial"/>
                        </a:rPr>
                        <a:t>BO best</a:t>
                      </a:r>
                    </a:p>
                  </a:txBody>
                  <a:tcPr marL="54864" marR="54864" marT="27432" marB="27432">
                    <a:solidFill>
                      <a:srgbClr val="DCE3EE"/>
                    </a:solidFill>
                  </a:tcPr>
                </a:tc>
                <a:tc>
                  <a:txBody>
                    <a:bodyPr wrap="square"/>
                    <a:lstStyle/>
                    <a:p>
                      <a:r>
                        <a:rPr sz="1200" b="1" i="0">
                          <a:solidFill>
                            <a:srgbClr val="1F1F1F"/>
                          </a:solidFill>
                          <a:latin typeface="Arial"/>
                        </a:rPr>
                        <a:t>Best of 48 random</a:t>
                      </a:r>
                    </a:p>
                  </a:txBody>
                  <a:tcPr marL="54864" marR="54864" marT="27432" marB="27432">
                    <a:solidFill>
                      <a:srgbClr val="DCE3EE"/>
                    </a:solidFill>
                  </a:tcPr>
                </a:tc>
                <a:tc>
                  <a:txBody>
                    <a:bodyPr wrap="square"/>
                    <a:lstStyle/>
                    <a:p>
                      <a:r>
                        <a:rPr sz="1200" b="1" i="0">
                          <a:solidFill>
                            <a:srgbClr val="1F1F1F"/>
                          </a:solidFill>
                          <a:latin typeface="Arial"/>
                        </a:rPr>
                        <a:t>BO ahead by &gt; floor?</a:t>
                      </a:r>
                    </a:p>
                  </a:txBody>
                  <a:tcPr marL="54864" marR="54864" marT="27432" marB="27432">
                    <a:solidFill>
                      <a:srgbClr val="DCE3EE"/>
                    </a:solidFill>
                  </a:tcPr>
                </a:tc>
              </a:tr>
              <a:tr h="365760">
                <a:tc>
                  <a:txBody>
                    <a:bodyPr wrap="square"/>
                    <a:lstStyle/>
                    <a:p>
                      <a:r>
                        <a:rPr sz="1200" b="0" i="0">
                          <a:solidFill>
                            <a:srgbClr val="1F1F1F"/>
                          </a:solidFill>
                          <a:latin typeface="Arial"/>
                        </a:rPr>
                        <a:t>shed</a:t>
                      </a:r>
                    </a:p>
                  </a:txBody>
                  <a:tcPr marL="54864" marR="54864" marT="27432" marB="27432">
                    <a:solidFill>
                      <a:srgbClr val="FFFFFF"/>
                    </a:solidFill>
                  </a:tcPr>
                </a:tc>
                <a:tc>
                  <a:txBody>
                    <a:bodyPr wrap="square"/>
                    <a:lstStyle/>
                    <a:p>
                      <a:r>
                        <a:rPr sz="1200" b="0" i="0">
                          <a:solidFill>
                            <a:srgbClr val="1F1F1F"/>
                          </a:solidFill>
                          <a:latin typeface="Arial"/>
                        </a:rPr>
                        <a:t>0</a:t>
                      </a:r>
                    </a:p>
                  </a:txBody>
                  <a:tcPr marL="54864" marR="54864" marT="27432" marB="27432">
                    <a:solidFill>
                      <a:srgbClr val="FFFFFF"/>
                    </a:solidFill>
                  </a:tcPr>
                </a:tc>
                <a:tc>
                  <a:txBody>
                    <a:bodyPr wrap="square"/>
                    <a:lstStyle/>
                    <a:p>
                      <a:r>
                        <a:rPr sz="1200" b="0" i="0">
                          <a:solidFill>
                            <a:srgbClr val="1F1F1F"/>
                          </a:solidFill>
                          <a:latin typeface="Arial"/>
                        </a:rPr>
                        <a:t>0</a:t>
                      </a:r>
                    </a:p>
                  </a:txBody>
                  <a:tcPr marL="54864" marR="54864" marT="27432" marB="27432">
                    <a:solidFill>
                      <a:srgbClr val="FFFFFF"/>
                    </a:solidFill>
                  </a:tcPr>
                </a:tc>
                <a:tc>
                  <a:txBody>
                    <a:bodyPr wrap="square"/>
                    <a:lstStyle/>
                    <a:p>
                      <a:r>
                        <a:rPr sz="1200" b="0" i="0">
                          <a:solidFill>
                            <a:srgbClr val="1F1F1F"/>
                          </a:solidFill>
                          <a:latin typeface="Arial"/>
                        </a:rPr>
                        <a:t>no (tie)</a:t>
                      </a:r>
                    </a:p>
                  </a:txBody>
                  <a:tcPr marL="54864" marR="54864" marT="27432" marB="27432">
                    <a:solidFill>
                      <a:srgbClr val="FFFFFF"/>
                    </a:solidFill>
                  </a:tcPr>
                </a:tc>
              </a:tr>
              <a:tr h="365760">
                <a:tc>
                  <a:txBody>
                    <a:bodyPr wrap="square"/>
                    <a:lstStyle/>
                    <a:p>
                      <a:r>
                        <a:rPr sz="1200" b="0" i="0">
                          <a:solidFill>
                            <a:srgbClr val="1F1F1F"/>
                          </a:solidFill>
                          <a:latin typeface="Arial"/>
                        </a:rPr>
                        <a:t>curtailment</a:t>
                      </a:r>
                    </a:p>
                  </a:txBody>
                  <a:tcPr marL="54864" marR="54864" marT="27432" marB="27432">
                    <a:solidFill>
                      <a:srgbClr val="F6F6F6"/>
                    </a:solidFill>
                  </a:tcPr>
                </a:tc>
                <a:tc>
                  <a:txBody>
                    <a:bodyPr wrap="square"/>
                    <a:lstStyle/>
                    <a:p>
                      <a:r>
                        <a:rPr sz="1200" b="0" i="0">
                          <a:solidFill>
                            <a:srgbClr val="1F1F1F"/>
                          </a:solidFill>
                          <a:latin typeface="Arial"/>
                        </a:rPr>
                        <a:t>48,444 MWh (r1#5)</a:t>
                      </a:r>
                    </a:p>
                  </a:txBody>
                  <a:tcPr marL="54864" marR="54864" marT="27432" marB="27432">
                    <a:solidFill>
                      <a:srgbClr val="F6F6F6"/>
                    </a:solidFill>
                  </a:tcPr>
                </a:tc>
                <a:tc>
                  <a:txBody>
                    <a:bodyPr wrap="square"/>
                    <a:lstStyle/>
                    <a:p>
                      <a:r>
                        <a:rPr sz="1200" b="0" i="0">
                          <a:solidFill>
                            <a:srgbClr val="1F1F1F"/>
                          </a:solidFill>
                          <a:latin typeface="Arial"/>
                        </a:rPr>
                        <a:t>61,739 (rnd#15)</a:t>
                      </a:r>
                    </a:p>
                  </a:txBody>
                  <a:tcPr marL="54864" marR="54864" marT="27432" marB="27432">
                    <a:solidFill>
                      <a:srgbClr val="F6F6F6"/>
                    </a:solidFill>
                  </a:tcPr>
                </a:tc>
                <a:tc>
                  <a:txBody>
                    <a:bodyPr wrap="square"/>
                    <a:lstStyle/>
                    <a:p>
                      <a:r>
                        <a:rPr sz="1200" b="0" i="0">
                          <a:solidFill>
                            <a:srgbClr val="1F1F1F"/>
                          </a:solidFill>
                          <a:latin typeface="Arial"/>
                        </a:rPr>
                        <a:t>yes, 13.3 GWh</a:t>
                      </a:r>
                    </a:p>
                  </a:txBody>
                  <a:tcPr marL="54864" marR="54864" marT="27432" marB="27432">
                    <a:solidFill>
                      <a:srgbClr val="F6F6F6"/>
                    </a:solidFill>
                  </a:tcPr>
                </a:tc>
              </a:tr>
              <a:tr h="365760">
                <a:tc>
                  <a:txBody>
                    <a:bodyPr wrap="square"/>
                    <a:lstStyle/>
                    <a:p>
                      <a:r>
                        <a:rPr sz="1200" b="0" i="0">
                          <a:solidFill>
                            <a:srgbClr val="1F1F1F"/>
                          </a:solidFill>
                          <a:latin typeface="Arial"/>
                        </a:rPr>
                        <a:t>cost</a:t>
                      </a:r>
                    </a:p>
                  </a:txBody>
                  <a:tcPr marL="54864" marR="54864" marT="27432" marB="27432">
                    <a:solidFill>
                      <a:srgbClr val="FFFFFF"/>
                    </a:solidFill>
                  </a:tcPr>
                </a:tc>
                <a:tc>
                  <a:txBody>
                    <a:bodyPr wrap="square"/>
                    <a:lstStyle/>
                    <a:p>
                      <a:r>
                        <a:rPr sz="1200" b="0" i="0">
                          <a:solidFill>
                            <a:srgbClr val="1F1F1F"/>
                          </a:solidFill>
                          <a:latin typeface="Arial"/>
                        </a:rPr>
                        <a:t>$510.1M (r2#3)</a:t>
                      </a:r>
                    </a:p>
                  </a:txBody>
                  <a:tcPr marL="54864" marR="54864" marT="27432" marB="27432">
                    <a:solidFill>
                      <a:srgbClr val="FFFFFF"/>
                    </a:solidFill>
                  </a:tcPr>
                </a:tc>
                <a:tc>
                  <a:txBody>
                    <a:bodyPr wrap="square"/>
                    <a:lstStyle/>
                    <a:p>
                      <a:r>
                        <a:rPr sz="1200" b="0" i="0">
                          <a:solidFill>
                            <a:srgbClr val="1F1F1F"/>
                          </a:solidFill>
                          <a:latin typeface="Arial"/>
                        </a:rPr>
                        <a:t>$536.0M (rnd#42)</a:t>
                      </a:r>
                    </a:p>
                  </a:txBody>
                  <a:tcPr marL="54864" marR="54864" marT="27432" marB="27432">
                    <a:solidFill>
                      <a:srgbClr val="FFFFFF"/>
                    </a:solidFill>
                  </a:tcPr>
                </a:tc>
                <a:tc>
                  <a:txBody>
                    <a:bodyPr wrap="square"/>
                    <a:lstStyle/>
                    <a:p>
                      <a:r>
                        <a:rPr sz="1200" b="0" i="0">
                          <a:solidFill>
                            <a:srgbClr val="1F1F1F"/>
                          </a:solidFill>
                          <a:latin typeface="Arial"/>
                        </a:rPr>
                        <a:t>yes, $25.9M</a:t>
                      </a:r>
                    </a:p>
                  </a:txBody>
                  <a:tcPr marL="54864" marR="54864" marT="27432" marB="27432">
                    <a:solidFill>
                      <a:srgbClr val="FFFFFF"/>
                    </a:solidFill>
                  </a:tcPr>
                </a:tc>
              </a:tr>
            </a:tbl>
          </a:graphicData>
        </a:graphic>
      </p:graphicFrame>
      <p:sp>
        <p:nvSpPr>
          <p:cNvPr id="8" name="TextBox 7"/>
          <p:cNvSpPr txBox="1"/>
          <p:nvPr/>
        </p:nvSpPr>
        <p:spPr>
          <a:xfrm>
            <a:off x="7040880" y="4343400"/>
            <a:ext cx="4663440" cy="196596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  No random 16-batch came within a floor of either extreme.</a:t>
            </a:r>
          </a:p>
          <a:p>
            <a:pPr algn="l">
              <a:lnSpc>
                <a:spcPct val="105000"/>
              </a:lnSpc>
              <a:spcAft>
                <a:spcPts val="400"/>
              </a:spcAft>
            </a:pPr>
            <a:r>
              <a:rPr sz="1200" b="0" i="0">
                <a:solidFill>
                  <a:srgbClr val="1F1F1F"/>
                </a:solidFill>
                <a:latin typeface="Arial"/>
              </a:rPr>
              <a:t>•  Both extremes are corners.</a:t>
            </a:r>
          </a:p>
          <a:p>
            <a:pPr algn="l">
              <a:lnSpc>
                <a:spcPct val="105000"/>
              </a:lnSpc>
              <a:spcAft>
                <a:spcPts val="400"/>
              </a:spcAft>
            </a:pPr>
            <a:r>
              <a:rPr sz="1200" b="0" i="0">
                <a:solidFill>
                  <a:srgbClr val="1F1F1F"/>
                </a:solidFill>
                <a:latin typeface="Arial"/>
              </a:rPr>
              <a:t>•  A minimum-build heuristic would likely find the cost corner; it was not run.</a:t>
            </a:r>
          </a:p>
          <a:p>
            <a:pPr algn="l">
              <a:lnSpc>
                <a:spcPct val="105000"/>
              </a:lnSpc>
              <a:spcAft>
                <a:spcPts val="400"/>
              </a:spcAft>
            </a:pPr>
            <a:r>
              <a:rPr sz="1200" b="0" i="0">
                <a:solidFill>
                  <a:srgbClr val="1F1F1F"/>
                </a:solidFill>
                <a:latin typeface="Arial"/>
              </a:rPr>
              <a:t>•  The curtailment extreme puts the nuclear band at ω = 1.0: its hydrogen is nuclear energy, and gas replaces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The recipe narrows to two rules; prompt 35 tests them out of sample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approve the narrowed recipe wording</a:t>
            </a:r>
          </a:p>
        </p:txBody>
      </p:sp>
      <p:graphicFrame>
        <p:nvGraphicFramePr>
          <p:cNvPr id="6" name="Table 5"/>
          <p:cNvGraphicFramePr>
            <a:graphicFrameLocks noGrp="1"/>
          </p:cNvGraphicFramePr>
          <p:nvPr/>
        </p:nvGraphicFramePr>
        <p:xfrm>
          <a:off x="457200" y="1188720"/>
          <a:ext cx="11247116" cy="1792224"/>
        </p:xfrm>
        <a:graphic>
          <a:graphicData uri="http://schemas.openxmlformats.org/drawingml/2006/table">
            <a:tbl>
              <a:tblPr firstRow="1" bandRow="1">
                <a:tableStyleId>{5C22544A-7EE6-4342-B048-85BDC9FD1C3A}</a:tableStyleId>
              </a:tblPr>
              <a:tblGrid>
                <a:gridCol w="1606731"/>
                <a:gridCol w="1178269"/>
                <a:gridCol w="1178269"/>
                <a:gridCol w="1285385"/>
                <a:gridCol w="1285385"/>
                <a:gridCol w="2142308"/>
                <a:gridCol w="1392500"/>
                <a:gridCol w="1178269"/>
              </a:tblGrid>
              <a:tr h="256032">
                <a:tc>
                  <a:txBody>
                    <a:bodyPr wrap="square"/>
                    <a:lstStyle/>
                    <a:p>
                      <a:r>
                        <a:rPr sz="1100" b="1" i="0">
                          <a:solidFill>
                            <a:srgbClr val="1F1F1F"/>
                          </a:solidFill>
                          <a:latin typeface="Arial"/>
                        </a:rPr>
                        <a:t>Normalization</a:t>
                      </a:r>
                    </a:p>
                  </a:txBody>
                  <a:tcPr marL="54864" marR="54864" marT="27432" marB="27432">
                    <a:solidFill>
                      <a:srgbClr val="DCE3EE"/>
                    </a:solidFill>
                  </a:tcPr>
                </a:tc>
                <a:tc>
                  <a:txBody>
                    <a:bodyPr wrap="square"/>
                    <a:lstStyle/>
                    <a:p>
                      <a:r>
                        <a:rPr sz="1100" b="1" i="0">
                          <a:solidFill>
                            <a:srgbClr val="1F1F1F"/>
                          </a:solidFill>
                          <a:latin typeface="Arial"/>
                        </a:rPr>
                        <a:t>Knee</a:t>
                      </a:r>
                    </a:p>
                  </a:txBody>
                  <a:tcPr marL="54864" marR="54864" marT="27432" marB="27432">
                    <a:solidFill>
                      <a:srgbClr val="DCE3EE"/>
                    </a:solidFill>
                  </a:tcPr>
                </a:tc>
                <a:tc>
                  <a:txBody>
                    <a:bodyPr wrap="square"/>
                    <a:lstStyle/>
                    <a:p>
                      <a:r>
                        <a:rPr sz="1100" b="1" i="0">
                          <a:solidFill>
                            <a:srgbClr val="1F1F1F"/>
                          </a:solidFill>
                          <a:latin typeface="Arial"/>
                        </a:rPr>
                        <a:t>Source</a:t>
                      </a:r>
                    </a:p>
                  </a:txBody>
                  <a:tcPr marL="54864" marR="54864" marT="27432" marB="27432">
                    <a:solidFill>
                      <a:srgbClr val="DCE3EE"/>
                    </a:solidFill>
                  </a:tcPr>
                </a:tc>
                <a:tc>
                  <a:txBody>
                    <a:bodyPr wrap="square"/>
                    <a:lstStyle/>
                    <a:p>
                      <a:r>
                        <a:rPr sz="1100" b="1" i="0">
                          <a:solidFill>
                            <a:srgbClr val="1F1F1F"/>
                          </a:solidFill>
                          <a:latin typeface="Arial"/>
                        </a:rPr>
                        <a:t>Nuclear ω</a:t>
                      </a:r>
                    </a:p>
                  </a:txBody>
                  <a:tcPr marL="54864" marR="54864" marT="27432" marB="27432">
                    <a:solidFill>
                      <a:srgbClr val="DCE3EE"/>
                    </a:solidFill>
                  </a:tcPr>
                </a:tc>
                <a:tc>
                  <a:txBody>
                    <a:bodyPr wrap="square"/>
                    <a:lstStyle/>
                    <a:p>
                      <a:r>
                        <a:rPr sz="1100" b="1" i="0">
                          <a:solidFill>
                            <a:srgbClr val="1F1F1F"/>
                          </a:solidFill>
                          <a:latin typeface="Arial"/>
                        </a:rPr>
                        <a:t>Total MW</a:t>
                      </a:r>
                    </a:p>
                  </a:txBody>
                  <a:tcPr marL="54864" marR="54864" marT="27432" marB="27432">
                    <a:solidFill>
                      <a:srgbClr val="DCE3EE"/>
                    </a:solidFill>
                  </a:tcPr>
                </a:tc>
                <a:tc>
                  <a:txBody>
                    <a:bodyPr wrap="square"/>
                    <a:lstStyle/>
                    <a:p>
                      <a:r>
                        <a:rPr sz="1100" b="1" i="0">
                          <a:solidFill>
                            <a:srgbClr val="1F1F1F"/>
                          </a:solidFill>
                          <a:latin typeface="Arial"/>
                        </a:rPr>
                        <a:t>wind_303+317 share</a:t>
                      </a:r>
                    </a:p>
                  </a:txBody>
                  <a:tcPr marL="54864" marR="54864" marT="27432" marB="27432">
                    <a:solidFill>
                      <a:srgbClr val="DCE3EE"/>
                    </a:solidFill>
                  </a:tcPr>
                </a:tc>
                <a:tc>
                  <a:txBody>
                    <a:bodyPr wrap="square"/>
                    <a:lstStyle/>
                    <a:p>
                      <a:r>
                        <a:rPr sz="1100" b="1" i="0">
                          <a:solidFill>
                            <a:srgbClr val="1F1F1F"/>
                          </a:solidFill>
                          <a:latin typeface="Arial"/>
                        </a:rPr>
                        <a:t>wind_122 ω</a:t>
                      </a:r>
                    </a:p>
                  </a:txBody>
                  <a:tcPr marL="54864" marR="54864" marT="27432" marB="27432">
                    <a:solidFill>
                      <a:srgbClr val="DCE3EE"/>
                    </a:solidFill>
                  </a:tcPr>
                </a:tc>
                <a:tc>
                  <a:txBody>
                    <a:bodyPr wrap="square"/>
                    <a:lstStyle/>
                    <a:p>
                      <a:r>
                        <a:rPr sz="1100" b="1" i="0">
                          <a:solidFill>
                            <a:srgbClr val="1F1F1F"/>
                          </a:solidFill>
                          <a:latin typeface="Arial"/>
                        </a:rPr>
                        <a:t>In old R</a:t>
                      </a:r>
                    </a:p>
                  </a:txBody>
                  <a:tcPr marL="54864" marR="54864" marT="27432" marB="27432">
                    <a:solidFill>
                      <a:srgbClr val="DCE3EE"/>
                    </a:solidFill>
                  </a:tcPr>
                </a:tc>
              </a:tr>
              <a:tr h="256032">
                <a:tc>
                  <a:txBody>
                    <a:bodyPr wrap="square"/>
                    <a:lstStyle/>
                    <a:p>
                      <a:r>
                        <a:rPr sz="1100" b="0" i="0">
                          <a:solidFill>
                            <a:srgbClr val="1F1F1F"/>
                          </a:solidFill>
                          <a:latin typeface="Arial"/>
                        </a:rPr>
                        <a:t>full</a:t>
                      </a:r>
                    </a:p>
                  </a:txBody>
                  <a:tcPr marL="54864" marR="54864" marT="27432" marB="27432">
                    <a:solidFill>
                      <a:srgbClr val="FFFFFF"/>
                    </a:solidFill>
                  </a:tcPr>
                </a:tc>
                <a:tc>
                  <a:txBody>
                    <a:bodyPr wrap="square"/>
                    <a:lstStyle/>
                    <a:p>
                      <a:r>
                        <a:rPr sz="1100" b="0" i="0">
                          <a:solidFill>
                            <a:srgbClr val="1F1F1F"/>
                          </a:solidFill>
                          <a:latin typeface="Arial"/>
                        </a:rPr>
                        <a:t>rnd#2</a:t>
                      </a:r>
                    </a:p>
                  </a:txBody>
                  <a:tcPr marL="54864" marR="54864" marT="27432" marB="27432">
                    <a:solidFill>
                      <a:srgbClr val="FFFFFF"/>
                    </a:solidFill>
                  </a:tcPr>
                </a:tc>
                <a:tc>
                  <a:txBody>
                    <a:bodyPr wrap="square"/>
                    <a:lstStyle/>
                    <a:p>
                      <a:r>
                        <a:rPr sz="1100" b="0" i="0">
                          <a:solidFill>
                            <a:srgbClr val="1F1F1F"/>
                          </a:solidFill>
                          <a:latin typeface="Arial"/>
                        </a:rPr>
                        <a:t>random</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1,491</a:t>
                      </a:r>
                    </a:p>
                  </a:txBody>
                  <a:tcPr marL="54864" marR="54864" marT="27432" marB="27432">
                    <a:solidFill>
                      <a:srgbClr val="FFFFFF"/>
                    </a:solidFill>
                  </a:tcPr>
                </a:tc>
                <a:tc>
                  <a:txBody>
                    <a:bodyPr wrap="square"/>
                    <a:lstStyle/>
                    <a:p>
                      <a:r>
                        <a:rPr sz="1100" b="0" i="0">
                          <a:solidFill>
                            <a:srgbClr val="1F1F1F"/>
                          </a:solidFill>
                          <a:latin typeface="Arial"/>
                        </a:rPr>
                        <a:t>0.70</a:t>
                      </a:r>
                    </a:p>
                  </a:txBody>
                  <a:tcPr marL="54864" marR="54864" marT="27432" marB="27432">
                    <a:solidFill>
                      <a:srgbClr val="FFFFFF"/>
                    </a:solidFill>
                  </a:tcPr>
                </a:tc>
                <a:tc>
                  <a:txBody>
                    <a:bodyPr wrap="square"/>
                    <a:lstStyle/>
                    <a:p>
                      <a:r>
                        <a:rPr sz="1100" b="0" i="0">
                          <a:solidFill>
                            <a:srgbClr val="1F1F1F"/>
                          </a:solidFill>
                          <a:latin typeface="Arial"/>
                        </a:rPr>
                        <a:t>0.169</a:t>
                      </a:r>
                    </a:p>
                  </a:txBody>
                  <a:tcPr marL="54864" marR="54864" marT="27432" marB="27432">
                    <a:solidFill>
                      <a:srgbClr val="FFFFFF"/>
                    </a:solidFill>
                  </a:tcPr>
                </a:tc>
                <a:tc>
                  <a:txBody>
                    <a:bodyPr wrap="square"/>
                    <a:lstStyle/>
                    <a:p>
                      <a:r>
                        <a:rPr sz="1100" b="0" i="0">
                          <a:solidFill>
                            <a:srgbClr val="1F1F1F"/>
                          </a:solidFill>
                          <a:latin typeface="Arial"/>
                        </a:rPr>
                        <a:t>no</a:t>
                      </a:r>
                    </a:p>
                  </a:txBody>
                  <a:tcPr marL="54864" marR="54864" marT="27432" marB="27432">
                    <a:solidFill>
                      <a:srgbClr val="FFFFFF"/>
                    </a:solidFill>
                  </a:tcPr>
                </a:tc>
              </a:tr>
              <a:tr h="256032">
                <a:tc>
                  <a:txBody>
                    <a:bodyPr wrap="square"/>
                    <a:lstStyle/>
                    <a:p>
                      <a:r>
                        <a:rPr sz="1100" b="0" i="0">
                          <a:solidFill>
                            <a:srgbClr val="1F1F1F"/>
                          </a:solidFill>
                          <a:latin typeface="Arial"/>
                        </a:rPr>
                        <a:t>full</a:t>
                      </a:r>
                    </a:p>
                  </a:txBody>
                  <a:tcPr marL="54864" marR="54864" marT="27432" marB="27432">
                    <a:solidFill>
                      <a:srgbClr val="F6F6F6"/>
                    </a:solidFill>
                  </a:tcPr>
                </a:tc>
                <a:tc>
                  <a:txBody>
                    <a:bodyPr wrap="square"/>
                    <a:lstStyle/>
                    <a:p>
                      <a:r>
                        <a:rPr sz="1100" b="0" i="0">
                          <a:solidFill>
                            <a:srgbClr val="1F1F1F"/>
                          </a:solidFill>
                          <a:latin typeface="Arial"/>
                        </a:rPr>
                        <a:t>n0b#8</a:t>
                      </a:r>
                    </a:p>
                  </a:txBody>
                  <a:tcPr marL="54864" marR="54864" marT="27432" marB="27432">
                    <a:solidFill>
                      <a:srgbClr val="F6F6F6"/>
                    </a:solidFill>
                  </a:tcPr>
                </a:tc>
                <a:tc>
                  <a:txBody>
                    <a:bodyPr wrap="square"/>
                    <a:lstStyle/>
                    <a:p>
                      <a:r>
                        <a:rPr sz="1100" b="0" i="0">
                          <a:solidFill>
                            <a:srgbClr val="1F1F1F"/>
                          </a:solidFill>
                          <a:latin typeface="Arial"/>
                        </a:rPr>
                        <a:t>start</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1,699</a:t>
                      </a:r>
                    </a:p>
                  </a:txBody>
                  <a:tcPr marL="54864" marR="54864" marT="27432" marB="27432">
                    <a:solidFill>
                      <a:srgbClr val="F6F6F6"/>
                    </a:solidFill>
                  </a:tcPr>
                </a:tc>
                <a:tc>
                  <a:txBody>
                    <a:bodyPr wrap="square"/>
                    <a:lstStyle/>
                    <a:p>
                      <a:r>
                        <a:rPr sz="1100" b="0" i="0">
                          <a:solidFill>
                            <a:srgbClr val="1F1F1F"/>
                          </a:solidFill>
                          <a:latin typeface="Arial"/>
                        </a:rPr>
                        <a:t>0.79</a:t>
                      </a:r>
                    </a:p>
                  </a:txBody>
                  <a:tcPr marL="54864" marR="54864" marT="27432" marB="27432">
                    <a:solidFill>
                      <a:srgbClr val="F6F6F6"/>
                    </a:solidFill>
                  </a:tcPr>
                </a:tc>
                <a:tc>
                  <a:txBody>
                    <a:bodyPr wrap="square"/>
                    <a:lstStyle/>
                    <a:p>
                      <a:r>
                        <a:rPr sz="1100" b="0" i="0">
                          <a:solidFill>
                            <a:srgbClr val="1F1F1F"/>
                          </a:solidFill>
                          <a:latin typeface="Arial"/>
                        </a:rPr>
                        <a:t>0.169</a:t>
                      </a:r>
                    </a:p>
                  </a:txBody>
                  <a:tcPr marL="54864" marR="54864" marT="27432" marB="27432">
                    <a:solidFill>
                      <a:srgbClr val="F6F6F6"/>
                    </a:solidFill>
                  </a:tcPr>
                </a:tc>
                <a:tc>
                  <a:txBody>
                    <a:bodyPr wrap="square"/>
                    <a:lstStyle/>
                    <a:p>
                      <a:r>
                        <a:rPr sz="1100" b="0" i="0">
                          <a:solidFill>
                            <a:srgbClr val="1F1F1F"/>
                          </a:solidFill>
                          <a:latin typeface="Arial"/>
                        </a:rPr>
                        <a:t>yes</a:t>
                      </a:r>
                    </a:p>
                  </a:txBody>
                  <a:tcPr marL="54864" marR="54864" marT="27432" marB="27432">
                    <a:solidFill>
                      <a:srgbClr val="F6F6F6"/>
                    </a:solidFill>
                  </a:tcPr>
                </a:tc>
              </a:tr>
              <a:tr h="256032">
                <a:tc>
                  <a:txBody>
                    <a:bodyPr wrap="square"/>
                    <a:lstStyle/>
                    <a:p>
                      <a:r>
                        <a:rPr sz="1100" b="0" i="0">
                          <a:solidFill>
                            <a:srgbClr val="1F1F1F"/>
                          </a:solidFill>
                          <a:latin typeface="Arial"/>
                        </a:rPr>
                        <a:t>full</a:t>
                      </a:r>
                    </a:p>
                  </a:txBody>
                  <a:tcPr marL="54864" marR="54864" marT="27432" marB="27432">
                    <a:solidFill>
                      <a:srgbClr val="FFFFFF"/>
                    </a:solidFill>
                  </a:tcPr>
                </a:tc>
                <a:tc>
                  <a:txBody>
                    <a:bodyPr wrap="square"/>
                    <a:lstStyle/>
                    <a:p>
                      <a:r>
                        <a:rPr sz="1100" b="0" i="0">
                          <a:solidFill>
                            <a:srgbClr val="1F1F1F"/>
                          </a:solidFill>
                          <a:latin typeface="Arial"/>
                        </a:rPr>
                        <a:t>r1#2</a:t>
                      </a:r>
                    </a:p>
                  </a:txBody>
                  <a:tcPr marL="54864" marR="54864" marT="27432" marB="27432">
                    <a:solidFill>
                      <a:srgbClr val="FFFFFF"/>
                    </a:solidFill>
                  </a:tcPr>
                </a:tc>
                <a:tc>
                  <a:txBody>
                    <a:bodyPr wrap="square"/>
                    <a:lstStyle/>
                    <a:p>
                      <a:r>
                        <a:rPr sz="1100" b="0" i="0">
                          <a:solidFill>
                            <a:srgbClr val="1F1F1F"/>
                          </a:solidFill>
                          <a:latin typeface="Arial"/>
                        </a:rPr>
                        <a:t>BO</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1,705</a:t>
                      </a:r>
                    </a:p>
                  </a:txBody>
                  <a:tcPr marL="54864" marR="54864" marT="27432" marB="27432">
                    <a:solidFill>
                      <a:srgbClr val="FFFFFF"/>
                    </a:solidFill>
                  </a:tcPr>
                </a:tc>
                <a:tc>
                  <a:txBody>
                    <a:bodyPr wrap="square"/>
                    <a:lstStyle/>
                    <a:p>
                      <a:r>
                        <a:rPr sz="1100" b="0" i="0">
                          <a:solidFill>
                            <a:srgbClr val="1F1F1F"/>
                          </a:solidFill>
                          <a:latin typeface="Arial"/>
                        </a:rPr>
                        <a:t>0.68</a:t>
                      </a:r>
                    </a:p>
                  </a:txBody>
                  <a:tcPr marL="54864" marR="54864" marT="27432" marB="27432">
                    <a:solidFill>
                      <a:srgbClr val="FFFFFF"/>
                    </a:solidFill>
                  </a:tcPr>
                </a:tc>
                <a:tc>
                  <a:txBody>
                    <a:bodyPr wrap="square"/>
                    <a:lstStyle/>
                    <a:p>
                      <a:r>
                        <a:rPr sz="1100" b="0" i="0">
                          <a:solidFill>
                            <a:srgbClr val="1F1F1F"/>
                          </a:solidFill>
                          <a:latin typeface="Arial"/>
                        </a:rPr>
                        <a:t>0.288</a:t>
                      </a:r>
                    </a:p>
                  </a:txBody>
                  <a:tcPr marL="54864" marR="54864" marT="27432" marB="27432">
                    <a:solidFill>
                      <a:srgbClr val="FFFFFF"/>
                    </a:solidFill>
                  </a:tcPr>
                </a:tc>
                <a:tc>
                  <a:txBody>
                    <a:bodyPr wrap="square"/>
                    <a:lstStyle/>
                    <a:p>
                      <a:r>
                        <a:rPr sz="1100" b="0" i="0">
                          <a:solidFill>
                            <a:srgbClr val="1F1F1F"/>
                          </a:solidFill>
                          <a:latin typeface="Arial"/>
                        </a:rPr>
                        <a:t>yes</a:t>
                      </a:r>
                    </a:p>
                  </a:txBody>
                  <a:tcPr marL="54864" marR="54864" marT="27432" marB="27432">
                    <a:solidFill>
                      <a:srgbClr val="FFFFFF"/>
                    </a:solidFill>
                  </a:tcPr>
                </a:tc>
              </a:tr>
              <a:tr h="256032">
                <a:tc>
                  <a:txBody>
                    <a:bodyPr wrap="square"/>
                    <a:lstStyle/>
                    <a:p>
                      <a:r>
                        <a:rPr sz="1100" b="0" i="0">
                          <a:solidFill>
                            <a:srgbClr val="1F1F1F"/>
                          </a:solidFill>
                          <a:latin typeface="Arial"/>
                        </a:rPr>
                        <a:t>clipped</a:t>
                      </a:r>
                    </a:p>
                  </a:txBody>
                  <a:tcPr marL="54864" marR="54864" marT="27432" marB="27432">
                    <a:solidFill>
                      <a:srgbClr val="F6F6F6"/>
                    </a:solidFill>
                  </a:tcPr>
                </a:tc>
                <a:tc>
                  <a:txBody>
                    <a:bodyPr wrap="square"/>
                    <a:lstStyle/>
                    <a:p>
                      <a:r>
                        <a:rPr sz="1100" b="0" i="0">
                          <a:solidFill>
                            <a:srgbClr val="1F1F1F"/>
                          </a:solidFill>
                          <a:latin typeface="Arial"/>
                        </a:rPr>
                        <a:t>r2#1</a:t>
                      </a:r>
                    </a:p>
                  </a:txBody>
                  <a:tcPr marL="54864" marR="54864" marT="27432" marB="27432">
                    <a:solidFill>
                      <a:srgbClr val="F6F6F6"/>
                    </a:solidFill>
                  </a:tcPr>
                </a:tc>
                <a:tc>
                  <a:txBody>
                    <a:bodyPr wrap="square"/>
                    <a:lstStyle/>
                    <a:p>
                      <a:r>
                        <a:rPr sz="1100" b="0" i="0">
                          <a:solidFill>
                            <a:srgbClr val="1F1F1F"/>
                          </a:solidFill>
                          <a:latin typeface="Arial"/>
                        </a:rPr>
                        <a:t>BO</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1,825</a:t>
                      </a:r>
                    </a:p>
                  </a:txBody>
                  <a:tcPr marL="54864" marR="54864" marT="27432" marB="27432">
                    <a:solidFill>
                      <a:srgbClr val="F6F6F6"/>
                    </a:solidFill>
                  </a:tcPr>
                </a:tc>
                <a:tc>
                  <a:txBody>
                    <a:bodyPr wrap="square"/>
                    <a:lstStyle/>
                    <a:p>
                      <a:r>
                        <a:rPr sz="1100" b="0" i="0">
                          <a:solidFill>
                            <a:srgbClr val="1F1F1F"/>
                          </a:solidFill>
                          <a:latin typeface="Arial"/>
                        </a:rPr>
                        <a:t>0.58</a:t>
                      </a:r>
                    </a:p>
                  </a:txBody>
                  <a:tcPr marL="54864" marR="54864" marT="27432" marB="27432">
                    <a:solidFill>
                      <a:srgbClr val="F6F6F6"/>
                    </a:solidFill>
                  </a:tcPr>
                </a:tc>
                <a:tc>
                  <a:txBody>
                    <a:bodyPr wrap="square"/>
                    <a:lstStyle/>
                    <a:p>
                      <a:r>
                        <a:rPr sz="1100" b="0" i="0">
                          <a:solidFill>
                            <a:srgbClr val="1F1F1F"/>
                          </a:solidFill>
                          <a:latin typeface="Arial"/>
                        </a:rPr>
                        <a:t>0.525</a:t>
                      </a:r>
                    </a:p>
                  </a:txBody>
                  <a:tcPr marL="54864" marR="54864" marT="27432" marB="27432">
                    <a:solidFill>
                      <a:srgbClr val="F6F6F6"/>
                    </a:solidFill>
                  </a:tcPr>
                </a:tc>
                <a:tc>
                  <a:txBody>
                    <a:bodyPr wrap="square"/>
                    <a:lstStyle/>
                    <a:p>
                      <a:r>
                        <a:rPr sz="1100" b="0" i="0">
                          <a:solidFill>
                            <a:srgbClr val="1F1F1F"/>
                          </a:solidFill>
                          <a:latin typeface="Arial"/>
                        </a:rPr>
                        <a:t>no</a:t>
                      </a:r>
                    </a:p>
                  </a:txBody>
                  <a:tcPr marL="54864" marR="54864" marT="27432" marB="27432">
                    <a:solidFill>
                      <a:srgbClr val="F6F6F6"/>
                    </a:solidFill>
                  </a:tcPr>
                </a:tc>
              </a:tr>
              <a:tr h="256032">
                <a:tc>
                  <a:txBody>
                    <a:bodyPr wrap="square"/>
                    <a:lstStyle/>
                    <a:p>
                      <a:r>
                        <a:rPr sz="1100" b="0" i="0">
                          <a:solidFill>
                            <a:srgbClr val="1F1F1F"/>
                          </a:solidFill>
                          <a:latin typeface="Arial"/>
                        </a:rPr>
                        <a:t>clipped</a:t>
                      </a:r>
                    </a:p>
                  </a:txBody>
                  <a:tcPr marL="54864" marR="54864" marT="27432" marB="27432">
                    <a:solidFill>
                      <a:srgbClr val="FFFFFF"/>
                    </a:solidFill>
                  </a:tcPr>
                </a:tc>
                <a:tc>
                  <a:txBody>
                    <a:bodyPr wrap="square"/>
                    <a:lstStyle/>
                    <a:p>
                      <a:r>
                        <a:rPr sz="1100" b="0" i="0">
                          <a:solidFill>
                            <a:srgbClr val="1F1F1F"/>
                          </a:solidFill>
                          <a:latin typeface="Arial"/>
                        </a:rPr>
                        <a:t>rnd#43</a:t>
                      </a:r>
                    </a:p>
                  </a:txBody>
                  <a:tcPr marL="54864" marR="54864" marT="27432" marB="27432">
                    <a:solidFill>
                      <a:srgbClr val="FFFFFF"/>
                    </a:solidFill>
                  </a:tcPr>
                </a:tc>
                <a:tc>
                  <a:txBody>
                    <a:bodyPr wrap="square"/>
                    <a:lstStyle/>
                    <a:p>
                      <a:r>
                        <a:rPr sz="1100" b="0" i="0">
                          <a:solidFill>
                            <a:srgbClr val="1F1F1F"/>
                          </a:solidFill>
                          <a:latin typeface="Arial"/>
                        </a:rPr>
                        <a:t>random</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2,084</a:t>
                      </a:r>
                    </a:p>
                  </a:txBody>
                  <a:tcPr marL="54864" marR="54864" marT="27432" marB="27432">
                    <a:solidFill>
                      <a:srgbClr val="FFFFFF"/>
                    </a:solidFill>
                  </a:tcPr>
                </a:tc>
                <a:tc>
                  <a:txBody>
                    <a:bodyPr wrap="square"/>
                    <a:lstStyle/>
                    <a:p>
                      <a:r>
                        <a:rPr sz="1100" b="0" i="0">
                          <a:solidFill>
                            <a:srgbClr val="1F1F1F"/>
                          </a:solidFill>
                          <a:latin typeface="Arial"/>
                        </a:rPr>
                        <a:t>0.55</a:t>
                      </a:r>
                    </a:p>
                  </a:txBody>
                  <a:tcPr marL="54864" marR="54864" marT="27432" marB="27432">
                    <a:solidFill>
                      <a:srgbClr val="FFFFFF"/>
                    </a:solidFill>
                  </a:tcPr>
                </a:tc>
                <a:tc>
                  <a:txBody>
                    <a:bodyPr wrap="square"/>
                    <a:lstStyle/>
                    <a:p>
                      <a:r>
                        <a:rPr sz="1100" b="0" i="0">
                          <a:solidFill>
                            <a:srgbClr val="1F1F1F"/>
                          </a:solidFill>
                          <a:latin typeface="Arial"/>
                        </a:rPr>
                        <a:t>0.644</a:t>
                      </a:r>
                    </a:p>
                  </a:txBody>
                  <a:tcPr marL="54864" marR="54864" marT="27432" marB="27432">
                    <a:solidFill>
                      <a:srgbClr val="FFFFFF"/>
                    </a:solidFill>
                  </a:tcPr>
                </a:tc>
                <a:tc>
                  <a:txBody>
                    <a:bodyPr wrap="square"/>
                    <a:lstStyle/>
                    <a:p>
                      <a:r>
                        <a:rPr sz="1100" b="0" i="0">
                          <a:solidFill>
                            <a:srgbClr val="1F1F1F"/>
                          </a:solidFill>
                          <a:latin typeface="Arial"/>
                        </a:rPr>
                        <a:t>no</a:t>
                      </a:r>
                    </a:p>
                  </a:txBody>
                  <a:tcPr marL="54864" marR="54864" marT="27432" marB="27432">
                    <a:solidFill>
                      <a:srgbClr val="FFFFFF"/>
                    </a:solidFill>
                  </a:tcPr>
                </a:tc>
              </a:tr>
              <a:tr h="256032">
                <a:tc>
                  <a:txBody>
                    <a:bodyPr wrap="square"/>
                    <a:lstStyle/>
                    <a:p>
                      <a:r>
                        <a:rPr sz="1100" b="0" i="0">
                          <a:solidFill>
                            <a:srgbClr val="1F1F1F"/>
                          </a:solidFill>
                          <a:latin typeface="Arial"/>
                        </a:rPr>
                        <a:t>clipped</a:t>
                      </a:r>
                    </a:p>
                  </a:txBody>
                  <a:tcPr marL="54864" marR="54864" marT="27432" marB="27432">
                    <a:solidFill>
                      <a:srgbClr val="F6F6F6"/>
                    </a:solidFill>
                  </a:tcPr>
                </a:tc>
                <a:tc>
                  <a:txBody>
                    <a:bodyPr wrap="square"/>
                    <a:lstStyle/>
                    <a:p>
                      <a:r>
                        <a:rPr sz="1100" b="0" i="0">
                          <a:solidFill>
                            <a:srgbClr val="1F1F1F"/>
                          </a:solidFill>
                          <a:latin typeface="Arial"/>
                        </a:rPr>
                        <a:t>r1#2</a:t>
                      </a:r>
                    </a:p>
                  </a:txBody>
                  <a:tcPr marL="54864" marR="54864" marT="27432" marB="27432">
                    <a:solidFill>
                      <a:srgbClr val="F6F6F6"/>
                    </a:solidFill>
                  </a:tcPr>
                </a:tc>
                <a:tc>
                  <a:txBody>
                    <a:bodyPr wrap="square"/>
                    <a:lstStyle/>
                    <a:p>
                      <a:r>
                        <a:rPr sz="1100" b="0" i="0">
                          <a:solidFill>
                            <a:srgbClr val="1F1F1F"/>
                          </a:solidFill>
                          <a:latin typeface="Arial"/>
                        </a:rPr>
                        <a:t>BO</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1,705</a:t>
                      </a:r>
                    </a:p>
                  </a:txBody>
                  <a:tcPr marL="54864" marR="54864" marT="27432" marB="27432">
                    <a:solidFill>
                      <a:srgbClr val="F6F6F6"/>
                    </a:solidFill>
                  </a:tcPr>
                </a:tc>
                <a:tc>
                  <a:txBody>
                    <a:bodyPr wrap="square"/>
                    <a:lstStyle/>
                    <a:p>
                      <a:r>
                        <a:rPr sz="1100" b="0" i="0">
                          <a:solidFill>
                            <a:srgbClr val="1F1F1F"/>
                          </a:solidFill>
                          <a:latin typeface="Arial"/>
                        </a:rPr>
                        <a:t>0.68</a:t>
                      </a:r>
                    </a:p>
                  </a:txBody>
                  <a:tcPr marL="54864" marR="54864" marT="27432" marB="27432">
                    <a:solidFill>
                      <a:srgbClr val="F6F6F6"/>
                    </a:solidFill>
                  </a:tcPr>
                </a:tc>
                <a:tc>
                  <a:txBody>
                    <a:bodyPr wrap="square"/>
                    <a:lstStyle/>
                    <a:p>
                      <a:r>
                        <a:rPr sz="1100" b="0" i="0">
                          <a:solidFill>
                            <a:srgbClr val="1F1F1F"/>
                          </a:solidFill>
                          <a:latin typeface="Arial"/>
                        </a:rPr>
                        <a:t>0.288</a:t>
                      </a:r>
                    </a:p>
                  </a:txBody>
                  <a:tcPr marL="54864" marR="54864" marT="27432" marB="27432">
                    <a:solidFill>
                      <a:srgbClr val="F6F6F6"/>
                    </a:solidFill>
                  </a:tcPr>
                </a:tc>
                <a:tc>
                  <a:txBody>
                    <a:bodyPr wrap="square"/>
                    <a:lstStyle/>
                    <a:p>
                      <a:r>
                        <a:rPr sz="1100" b="0" i="0">
                          <a:solidFill>
                            <a:srgbClr val="1F1F1F"/>
                          </a:solidFill>
                          <a:latin typeface="Arial"/>
                        </a:rPr>
                        <a:t>yes</a:t>
                      </a:r>
                    </a:p>
                  </a:txBody>
                  <a:tcPr marL="54864" marR="54864" marT="27432" marB="27432">
                    <a:solidFill>
                      <a:srgbClr val="F6F6F6"/>
                    </a:solidFill>
                  </a:tcPr>
                </a:tc>
              </a:tr>
            </a:tbl>
          </a:graphicData>
        </a:graphic>
      </p:graphicFrame>
      <p:sp>
        <p:nvSpPr>
          <p:cNvPr id="7" name="Rounded Rectangle 6"/>
          <p:cNvSpPr/>
          <p:nvPr/>
        </p:nvSpPr>
        <p:spPr>
          <a:xfrm>
            <a:off x="457200" y="3108960"/>
            <a:ext cx="4206240" cy="15087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3154680"/>
            <a:ext cx="3931920" cy="1417320"/>
          </a:xfrm>
          <a:prstGeom prst="rect">
            <a:avLst/>
          </a:prstGeom>
          <a:noFill/>
        </p:spPr>
        <p:txBody>
          <a:bodyPr wrap="square" anchor="t" lIns="45720" rIns="45720" tIns="27432" bIns="27432">
            <a:spAutoFit/>
          </a:bodyPr>
          <a:lstStyle/>
          <a:p>
            <a:pPr algn="l">
              <a:lnSpc>
                <a:spcPct val="105000"/>
              </a:lnSpc>
              <a:spcAft>
                <a:spcPts val="200"/>
              </a:spcAft>
            </a:pPr>
            <a:r>
              <a:rPr sz="1200" b="1" i="0">
                <a:solidFill>
                  <a:srgbClr val="1E8449"/>
                </a:solidFill>
                <a:latin typeface="Arial"/>
              </a:rPr>
              <a:t>Holds</a:t>
            </a:r>
          </a:p>
          <a:p>
            <a:pPr algn="l">
              <a:lnSpc>
                <a:spcPct val="105000"/>
              </a:lnSpc>
              <a:spcAft>
                <a:spcPts val="200"/>
              </a:spcAft>
            </a:pPr>
            <a:r>
              <a:rPr sz="1200" b="0" i="0">
                <a:solidFill>
                  <a:srgbClr val="1F1F1F"/>
                </a:solidFill>
                <a:latin typeface="Arial"/>
              </a:rPr>
              <a:t>Nuclear at 0.05; wind_303 + wind_317 share ≥ 0.5 (0.55–0.79).</a:t>
            </a:r>
          </a:p>
          <a:p>
            <a:pPr algn="l">
              <a:lnSpc>
                <a:spcPct val="105000"/>
              </a:lnSpc>
              <a:spcAft>
                <a:spcPts val="200"/>
              </a:spcAft>
            </a:pPr>
            <a:r>
              <a:rPr sz="1200" b="1" i="0">
                <a:solidFill>
                  <a:srgbClr val="C0392B"/>
                </a:solidFill>
                <a:latin typeface="Arial"/>
              </a:rPr>
              <a:t>Fails</a:t>
            </a:r>
          </a:p>
          <a:p>
            <a:pPr algn="l">
              <a:lnSpc>
                <a:spcPct val="105000"/>
              </a:lnSpc>
              <a:spcAft>
                <a:spcPts val="200"/>
              </a:spcAft>
            </a:pPr>
            <a:r>
              <a:rPr sz="1200" b="0" i="0">
                <a:solidFill>
                  <a:srgbClr val="1F1F1F"/>
                </a:solidFill>
                <a:latin typeface="Arial"/>
              </a:rPr>
              <a:t>The 1.6–2.0 GW band; the wind_122 cap (drop it).</a:t>
            </a:r>
          </a:p>
        </p:txBody>
      </p:sp>
      <p:sp>
        <p:nvSpPr>
          <p:cNvPr id="9" name="Rounded Rectangle 8"/>
          <p:cNvSpPr/>
          <p:nvPr/>
        </p:nvSpPr>
        <p:spPr>
          <a:xfrm>
            <a:off x="4846320" y="3108960"/>
            <a:ext cx="6858000" cy="15087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83480" y="3154680"/>
            <a:ext cx="6583680" cy="1417320"/>
          </a:xfrm>
          <a:prstGeom prst="rect">
            <a:avLst/>
          </a:prstGeom>
          <a:noFill/>
        </p:spPr>
        <p:txBody>
          <a:bodyPr wrap="square" anchor="ctr" lIns="45720" rIns="45720" tIns="27432" bIns="27432">
            <a:spAutoFit/>
          </a:bodyPr>
          <a:lstStyle/>
          <a:p>
            <a:pPr algn="l">
              <a:lnSpc>
                <a:spcPct val="105000"/>
              </a:lnSpc>
              <a:spcAft>
                <a:spcPts val="300"/>
              </a:spcAft>
            </a:pPr>
            <a:r>
              <a:rPr sz="1200" b="1" i="0">
                <a:solidFill>
                  <a:srgbClr val="0C2340"/>
                </a:solidFill>
                <a:latin typeface="Arial"/>
              </a:rPr>
              <a:t>Key point</a:t>
            </a:r>
          </a:p>
          <a:p>
            <a:pPr algn="l">
              <a:lnSpc>
                <a:spcPct val="105000"/>
              </a:lnSpc>
              <a:spcAft>
                <a:spcPts val="300"/>
              </a:spcAft>
            </a:pPr>
            <a:r>
              <a:rPr sz="1200" b="0" i="0">
                <a:solidFill>
                  <a:srgbClr val="1F1F1F"/>
                </a:solidFill>
                <a:latin typeface="Arial"/>
              </a:rPr>
              <a:t>Total MW is the position along the front, not a size rule. Across 1.49 → 2.08 GW cost rises about 5 % and curtailment falls about 44 %. The size is a curtailment-vs-cost choice.</a:t>
            </a:r>
          </a:p>
          <a:p>
            <a:pPr algn="l">
              <a:lnSpc>
                <a:spcPct val="105000"/>
              </a:lnSpc>
              <a:spcAft>
                <a:spcPts val="300"/>
              </a:spcAft>
            </a:pPr>
            <a:r>
              <a:rPr sz="1200" b="0" i="0">
                <a:solidFill>
                  <a:srgbClr val="1F1F1F"/>
                </a:solidFill>
                <a:latin typeface="Arial"/>
              </a:rPr>
              <a:t>Physics: a nuclear PEM diverts cheap baseload, so it never wins on cost.</a:t>
            </a:r>
          </a:p>
        </p:txBody>
      </p:sp>
      <p:sp>
        <p:nvSpPr>
          <p:cNvPr id="11" name="TextBox 10"/>
          <p:cNvSpPr txBox="1"/>
          <p:nvPr/>
        </p:nvSpPr>
        <p:spPr>
          <a:xfrm>
            <a:off x="457200" y="4681728"/>
            <a:ext cx="11247120" cy="292608"/>
          </a:xfrm>
          <a:prstGeom prst="rect">
            <a:avLst/>
          </a:prstGeom>
          <a:noFill/>
        </p:spPr>
        <p:txBody>
          <a:bodyPr wrap="square" anchor="t" lIns="45720" rIns="45720" tIns="27432" bIns="27432">
            <a:spAutoFit/>
          </a:bodyPr>
          <a:lstStyle/>
          <a:p>
            <a:pPr algn="l">
              <a:lnSpc>
                <a:spcPct val="105000"/>
              </a:lnSpc>
              <a:spcAft>
                <a:spcPts val="400"/>
              </a:spcAft>
            </a:pPr>
            <a:r>
              <a:rPr sz="1200" b="1" i="0">
                <a:solidFill>
                  <a:srgbClr val="6B6B6B"/>
                </a:solidFill>
                <a:latin typeface="Arial"/>
              </a:rPr>
              <a:t>Caveats</a:t>
            </a:r>
          </a:p>
        </p:txBody>
      </p:sp>
      <p:sp>
        <p:nvSpPr>
          <p:cNvPr id="12" name="TextBox 11"/>
          <p:cNvSpPr txBox="1"/>
          <p:nvPr/>
        </p:nvSpPr>
        <p:spPr>
          <a:xfrm>
            <a:off x="457200" y="4956048"/>
            <a:ext cx="11247120" cy="1325880"/>
          </a:xfrm>
          <a:prstGeom prst="rect">
            <a:avLst/>
          </a:prstGeom>
          <a:noFill/>
        </p:spPr>
        <p:txBody>
          <a:bodyPr wrap="square" anchor="t" lIns="45720" rIns="45720" tIns="27432" bIns="27432">
            <a:spAutoFit/>
          </a:bodyPr>
          <a:lstStyle/>
          <a:p>
            <a:pPr algn="l">
              <a:lnSpc>
                <a:spcPct val="105000"/>
              </a:lnSpc>
              <a:spcAft>
                <a:spcPts val="200"/>
              </a:spcAft>
            </a:pPr>
            <a:r>
              <a:rPr sz="1200" b="0" i="0">
                <a:solidFill>
                  <a:srgbClr val="1F1F1F"/>
                </a:solidFill>
                <a:latin typeface="Arial"/>
              </a:rPr>
              <a:t>•  Designs within 0.03 of the knee distance include some with wind share &lt; 0.5, so the share rule describes the knees, not the whole front.</a:t>
            </a:r>
          </a:p>
          <a:p>
            <a:pPr algn="l">
              <a:lnSpc>
                <a:spcPct val="105000"/>
              </a:lnSpc>
              <a:spcAft>
                <a:spcPts val="200"/>
              </a:spcAft>
            </a:pPr>
            <a:r>
              <a:rPr sz="1200" b="0" i="0">
                <a:solidFill>
                  <a:srgbClr val="1F1F1F"/>
                </a:solidFill>
                <a:latin typeface="Arial"/>
              </a:rPr>
              <a:t>•  ω = 0.05 is the lattice floor, so "nuclear at the floor" means "no nuclear retrofit" in practice.</a:t>
            </a:r>
          </a:p>
          <a:p>
            <a:pPr algn="l">
              <a:lnSpc>
                <a:spcPct val="105000"/>
              </a:lnSpc>
              <a:spcAft>
                <a:spcPts val="200"/>
              </a:spcAft>
            </a:pPr>
            <a:r>
              <a:rPr sz="1200" b="0" i="0">
                <a:solidFill>
                  <a:srgbClr val="1F1F1F"/>
                </a:solidFill>
                <a:latin typeface="Arial"/>
              </a:rPr>
              <a:t>•  r2#1 was already outside the old R at write time (a gap in the prompt-34 pre-submission check).</a:t>
            </a:r>
          </a:p>
          <a:p>
            <a:pPr algn="l">
              <a:lnSpc>
                <a:spcPct val="105000"/>
              </a:lnSpc>
              <a:spcAft>
                <a:spcPts val="200"/>
              </a:spcAft>
            </a:pPr>
            <a:r>
              <a:rPr sz="1200" b="0" i="0">
                <a:solidFill>
                  <a:srgbClr val="1F1F1F"/>
                </a:solidFill>
                <a:latin typeface="Arial"/>
              </a:rPr>
              <a:t>•  R′ was derived from P1; P2/P3 are the out-of-sample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Paper wording: what we can say now and what we cannot</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34440"/>
            <a:ext cx="6309360" cy="5029200"/>
          </a:xfrm>
          <a:prstGeom prst="roundRect">
            <a:avLst>
              <a:gd name="adj" fmla="val 4000"/>
            </a:avLst>
          </a:prstGeom>
          <a:solidFill>
            <a:srgbClr val="F2F4F7"/>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325880"/>
            <a:ext cx="5943600" cy="41148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1E8449"/>
                </a:solidFill>
                <a:latin typeface="Arial"/>
              </a:rPr>
              <a:t>Can say</a:t>
            </a:r>
          </a:p>
        </p:txBody>
      </p:sp>
      <p:sp>
        <p:nvSpPr>
          <p:cNvPr id="7" name="TextBox 6"/>
          <p:cNvSpPr txBox="1"/>
          <p:nvPr/>
        </p:nvSpPr>
        <p:spPr>
          <a:xfrm>
            <a:off x="640080" y="1783080"/>
            <a:ext cx="5943600" cy="4389120"/>
          </a:xfrm>
          <a:prstGeom prst="rect">
            <a:avLst/>
          </a:prstGeom>
          <a:noFill/>
        </p:spPr>
        <p:txBody>
          <a:bodyPr wrap="square" anchor="t" lIns="45720" rIns="45720" tIns="27432" bIns="27432">
            <a:spAutoFit/>
          </a:bodyPr>
          <a:lstStyle/>
          <a:p>
            <a:pPr algn="l">
              <a:lnSpc>
                <a:spcPct val="105000"/>
              </a:lnSpc>
              <a:spcAft>
                <a:spcPts val="1000"/>
              </a:spcAft>
            </a:pPr>
            <a:r>
              <a:rPr sz="1500" b="0" i="0">
                <a:solidFill>
                  <a:srgbClr val="1F1F1F"/>
                </a:solidFill>
                <a:latin typeface="Arial"/>
              </a:rPr>
              <a:t>•  "An automated, pre-registered MOBO campaign on a real PCM terminated under its rule within budget."</a:t>
            </a:r>
          </a:p>
          <a:p>
            <a:pPr algn="l">
              <a:lnSpc>
                <a:spcPct val="105000"/>
              </a:lnSpc>
              <a:spcAft>
                <a:spcPts val="1000"/>
              </a:spcAft>
            </a:pPr>
            <a:r>
              <a:rPr sz="1500" b="0" i="0">
                <a:solidFill>
                  <a:srgbClr val="1F1F1F"/>
                </a:solidFill>
                <a:latin typeface="Arial"/>
              </a:rPr>
              <a:t>•  "This BO run's HV exceeded 94 % of random 16-design batches (+0.027 HV₀, below our 8 % materiality bar, sensitive to sub-floor load-shed differences). Its clearer distinction is reaching the cost and curtailment extremes, $26M and 13 GWh beyond any of 48 random designs."</a:t>
            </a:r>
          </a:p>
          <a:p>
            <a:pPr algn="l">
              <a:lnSpc>
                <a:spcPct val="105000"/>
              </a:lnSpc>
              <a:spcAft>
                <a:spcPts val="1000"/>
              </a:spcAft>
            </a:pPr>
            <a:r>
              <a:rPr sz="1500" b="0" i="0">
                <a:solidFill>
                  <a:srgbClr val="1F1F1F"/>
                </a:solidFill>
                <a:latin typeface="Arial"/>
              </a:rPr>
              <a:t>•  Found designs are consistent with the LOCATION sensitivity structure (claim iii: supported).</a:t>
            </a:r>
          </a:p>
          <a:p>
            <a:pPr algn="l">
              <a:lnSpc>
                <a:spcPct val="105000"/>
              </a:lnSpc>
              <a:spcAft>
                <a:spcPts val="1000"/>
              </a:spcAft>
            </a:pPr>
            <a:r>
              <a:rPr sz="1500" b="0" i="0">
                <a:solidFill>
                  <a:srgbClr val="1F1F1F"/>
                </a:solidFill>
                <a:latin typeface="Arial"/>
              </a:rPr>
              <a:t>•  The narrowed recipe (slide 13).</a:t>
            </a:r>
          </a:p>
        </p:txBody>
      </p:sp>
      <p:sp>
        <p:nvSpPr>
          <p:cNvPr id="8" name="Rounded Rectangle 7"/>
          <p:cNvSpPr/>
          <p:nvPr/>
        </p:nvSpPr>
        <p:spPr>
          <a:xfrm>
            <a:off x="6949440" y="1234440"/>
            <a:ext cx="4754880" cy="5029200"/>
          </a:xfrm>
          <a:prstGeom prst="roundRect">
            <a:avLst>
              <a:gd name="adj" fmla="val 4000"/>
            </a:avLst>
          </a:prstGeom>
          <a:solidFill>
            <a:srgbClr val="F2F4F7"/>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0" y="1325880"/>
            <a:ext cx="4389120" cy="41148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C0392B"/>
                </a:solidFill>
                <a:latin typeface="Arial"/>
              </a:rPr>
              <a:t>Cannot say</a:t>
            </a:r>
          </a:p>
        </p:txBody>
      </p:sp>
      <p:sp>
        <p:nvSpPr>
          <p:cNvPr id="10" name="TextBox 9"/>
          <p:cNvSpPr txBox="1"/>
          <p:nvPr/>
        </p:nvSpPr>
        <p:spPr>
          <a:xfrm>
            <a:off x="7132320" y="1783080"/>
            <a:ext cx="4389120" cy="4389120"/>
          </a:xfrm>
          <a:prstGeom prst="rect">
            <a:avLst/>
          </a:prstGeom>
          <a:noFill/>
        </p:spPr>
        <p:txBody>
          <a:bodyPr wrap="square" anchor="t" lIns="45720" rIns="45720" tIns="27432" bIns="27432">
            <a:spAutoFit/>
          </a:bodyPr>
          <a:lstStyle/>
          <a:p>
            <a:pPr algn="l">
              <a:lnSpc>
                <a:spcPct val="105000"/>
              </a:lnSpc>
              <a:spcAft>
                <a:spcPts val="800"/>
              </a:spcAft>
            </a:pPr>
            <a:r>
              <a:rPr sz="1500" b="0" i="0">
                <a:solidFill>
                  <a:srgbClr val="1F1F1F"/>
                </a:solidFill>
                <a:latin typeface="Arial"/>
              </a:rPr>
              <a:t>•  "beat random", "significant", "robust", any p-value</a:t>
            </a:r>
          </a:p>
          <a:p>
            <a:pPr algn="l">
              <a:lnSpc>
                <a:spcPct val="105000"/>
              </a:lnSpc>
              <a:spcAft>
                <a:spcPts val="800"/>
              </a:spcAft>
            </a:pPr>
            <a:r>
              <a:rPr sz="1500" b="0" i="0">
                <a:solidFill>
                  <a:srgbClr val="1F1F1F"/>
                </a:solidFill>
                <a:latin typeface="Arial"/>
              </a:rPr>
              <a:t>•  anything about q-ParEGO in general (one seed) or seed stability (claim ii: not shown)</a:t>
            </a:r>
          </a:p>
          <a:p>
            <a:pPr algn="l">
              <a:lnSpc>
                <a:spcPct val="105000"/>
              </a:lnSpc>
              <a:spcAft>
                <a:spcPts val="800"/>
              </a:spcAft>
            </a:pPr>
            <a:r>
              <a:rPr sz="1500" b="0" i="0">
                <a:solidFill>
                  <a:srgbClr val="1F1F1F"/>
                </a:solidFill>
                <a:latin typeface="Arial"/>
              </a:rPr>
              <a:t>•  "converged" (claim i: not shown)</a:t>
            </a:r>
          </a:p>
          <a:p>
            <a:pPr algn="l">
              <a:lnSpc>
                <a:spcPct val="105000"/>
              </a:lnSpc>
              <a:spcAft>
                <a:spcPts val="800"/>
              </a:spcAft>
            </a:pPr>
            <a:r>
              <a:rPr sz="1500" b="0" i="0">
                <a:solidFill>
                  <a:srgbClr val="1F1F1F"/>
                </a:solidFill>
                <a:latin typeface="Arial"/>
              </a:rPr>
              <a:t>•  anything vs Sobol or a heuristic; the R_union [1, 1] as certainty; the ~70 % model-world figure</a:t>
            </a:r>
          </a:p>
          <a:p>
            <a:pPr algn="l">
              <a:lnSpc>
                <a:spcPct val="105000"/>
              </a:lnSpc>
              <a:spcAft>
                <a:spcPts val="800"/>
              </a:spcAft>
            </a:pPr>
            <a:r>
              <a:rPr sz="1500" b="0" i="0">
                <a:solidFill>
                  <a:srgbClr val="1F1F1F"/>
                </a:solidFill>
                <a:latin typeface="Arial"/>
              </a:rPr>
              <a:t>•  anything beyond scenario C (A/B not run)</a:t>
            </a:r>
          </a:p>
          <a:p>
            <a:pPr algn="l">
              <a:lnSpc>
                <a:spcPct val="105000"/>
              </a:lnSpc>
              <a:spcAft>
                <a:spcPts val="800"/>
              </a:spcAft>
            </a:pPr>
            <a:r>
              <a:rPr sz="1500" b="0" i="0">
                <a:solidFill>
                  <a:srgbClr val="1F1F1F"/>
                </a:solidFill>
                <a:latin typeface="Arial"/>
              </a:rPr>
              <a:t>•  reliability benefit of PEM (prompt 38 open)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Pre-registered or post hoc: every deviation on one page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34440"/>
          <a:ext cx="11247120" cy="4425696"/>
        </p:xfrm>
        <a:graphic>
          <a:graphicData uri="http://schemas.openxmlformats.org/drawingml/2006/table">
            <a:tbl>
              <a:tblPr firstRow="1" bandRow="1">
                <a:tableStyleId>{5C22544A-7EE6-4342-B048-85BDC9FD1C3A}</a:tableStyleId>
              </a:tblPr>
              <a:tblGrid>
                <a:gridCol w="2743200"/>
                <a:gridCol w="2468880"/>
                <a:gridCol w="2926080"/>
                <a:gridCol w="731520"/>
                <a:gridCol w="2377440"/>
              </a:tblGrid>
              <a:tr h="402336">
                <a:tc>
                  <a:txBody>
                    <a:bodyPr wrap="square"/>
                    <a:lstStyle/>
                    <a:p>
                      <a:r>
                        <a:rPr sz="1100" b="1" i="0">
                          <a:solidFill>
                            <a:srgbClr val="1F1F1F"/>
                          </a:solidFill>
                          <a:latin typeface="Arial"/>
                        </a:rPr>
                        <a:t>Item</a:t>
                      </a:r>
                    </a:p>
                  </a:txBody>
                  <a:tcPr marL="54864" marR="54864" marT="27432" marB="27432">
                    <a:solidFill>
                      <a:srgbClr val="DCE3EE"/>
                    </a:solidFill>
                  </a:tcPr>
                </a:tc>
                <a:tc>
                  <a:txBody>
                    <a:bodyPr wrap="square"/>
                    <a:lstStyle/>
                    <a:p>
                      <a:r>
                        <a:rPr sz="1100" b="1" i="0">
                          <a:solidFill>
                            <a:srgbClr val="1F1F1F"/>
                          </a:solidFill>
                          <a:latin typeface="Arial"/>
                        </a:rPr>
                        <a:t>Pre-registered?</a:t>
                      </a:r>
                    </a:p>
                  </a:txBody>
                  <a:tcPr marL="54864" marR="54864" marT="27432" marB="27432">
                    <a:solidFill>
                      <a:srgbClr val="DCE3EE"/>
                    </a:solidFill>
                  </a:tcPr>
                </a:tc>
                <a:tc>
                  <a:txBody>
                    <a:bodyPr wrap="square"/>
                    <a:lstStyle/>
                    <a:p>
                      <a:r>
                        <a:rPr sz="1100" b="1" i="0">
                          <a:solidFill>
                            <a:srgbClr val="1F1F1F"/>
                          </a:solidFill>
                          <a:latin typeface="Arial"/>
                        </a:rPr>
                        <a:t>What changed</a:t>
                      </a:r>
                    </a:p>
                  </a:txBody>
                  <a:tcPr marL="54864" marR="54864" marT="27432" marB="27432">
                    <a:solidFill>
                      <a:srgbClr val="DCE3EE"/>
                    </a:solidFill>
                  </a:tcPr>
                </a:tc>
                <a:tc>
                  <a:txBody>
                    <a:bodyPr wrap="square"/>
                    <a:lstStyle/>
                    <a:p>
                      <a:r>
                        <a:rPr sz="1100" b="1" i="0">
                          <a:solidFill>
                            <a:srgbClr val="1F1F1F"/>
                          </a:solidFill>
                          <a:latin typeface="Arial"/>
                        </a:rPr>
                        <a:t>When</a:t>
                      </a:r>
                    </a:p>
                  </a:txBody>
                  <a:tcPr marL="54864" marR="54864" marT="27432" marB="27432">
                    <a:solidFill>
                      <a:srgbClr val="DCE3EE"/>
                    </a:solidFill>
                  </a:tcPr>
                </a:tc>
                <a:tc>
                  <a:txBody>
                    <a:bodyPr wrap="square"/>
                    <a:lstStyle/>
                    <a:p>
                      <a:r>
                        <a:rPr sz="1100" b="1" i="0">
                          <a:solidFill>
                            <a:srgbClr val="1F1F1F"/>
                          </a:solidFill>
                          <a:latin typeface="Arial"/>
                        </a:rPr>
                        <a:t>Disclosure</a:t>
                      </a:r>
                    </a:p>
                  </a:txBody>
                  <a:tcPr marL="54864" marR="54864" marT="27432" marB="27432">
                    <a:solidFill>
                      <a:srgbClr val="DCE3EE"/>
                    </a:solidFill>
                  </a:tcPr>
                </a:tc>
              </a:tr>
              <a:tr h="402336">
                <a:tc>
                  <a:txBody>
                    <a:bodyPr wrap="square"/>
                    <a:lstStyle/>
                    <a:p>
                      <a:r>
                        <a:rPr sz="1100" b="0" i="0">
                          <a:solidFill>
                            <a:srgbClr val="1F1F1F"/>
                          </a:solidFill>
                          <a:latin typeface="Arial"/>
                        </a:rPr>
                        <a:t>Stop rule, τ, R_frozen</a:t>
                      </a:r>
                    </a:p>
                  </a:txBody>
                  <a:tcPr marL="54864" marR="54864" marT="27432" marB="27432">
                    <a:solidFill>
                      <a:srgbClr val="FFFFFF"/>
                    </a:solidFill>
                  </a:tcPr>
                </a:tc>
                <a:tc>
                  <a:txBody>
                    <a:bodyPr wrap="square"/>
                    <a:lstStyle/>
                    <a:p>
                      <a:r>
                        <a:rPr sz="1100" b="0" i="0">
                          <a:solidFill>
                            <a:srgbClr val="1F1F1F"/>
                          </a:solidFill>
                          <a:latin typeface="Arial"/>
                        </a:rPr>
                        <a:t>yes (prompt 30)</a:t>
                      </a:r>
                    </a:p>
                  </a:txBody>
                  <a:tcPr marL="54864" marR="54864" marT="27432" marB="27432">
                    <a:solidFill>
                      <a:srgbClr val="FFFFFF"/>
                    </a:solidFill>
                  </a:tcPr>
                </a:tc>
                <a:tc>
                  <a:txBody>
                    <a:bodyPr wrap="square"/>
                    <a:lstStyle/>
                    <a:p>
                      <a:r>
                        <a:rPr sz="1100" b="0" i="0">
                          <a:solidFill>
                            <a:srgbClr val="1F1F1F"/>
                          </a:solidFill>
                          <a:latin typeface="Arial"/>
                        </a:rPr>
                        <a:t>—</a:t>
                      </a:r>
                    </a:p>
                  </a:txBody>
                  <a:tcPr marL="54864" marR="54864" marT="27432" marB="27432">
                    <a:solidFill>
                      <a:srgbClr val="FFFFFF"/>
                    </a:solidFill>
                  </a:tcPr>
                </a:tc>
                <a:tc>
                  <a:txBody>
                    <a:bodyPr wrap="square"/>
                    <a:lstStyle/>
                    <a:p>
                      <a:r>
                        <a:rPr sz="1100" b="0" i="0">
                          <a:solidFill>
                            <a:srgbClr val="1F1F1F"/>
                          </a:solidFill>
                          <a:latin typeface="Arial"/>
                        </a:rPr>
                        <a:t>10-06</a:t>
                      </a:r>
                    </a:p>
                  </a:txBody>
                  <a:tcPr marL="54864" marR="54864" marT="27432" marB="27432">
                    <a:solidFill>
                      <a:srgbClr val="FFFFFF"/>
                    </a:solidFill>
                  </a:tcPr>
                </a:tc>
                <a:tc>
                  <a:txBody>
                    <a:bodyPr wrap="square"/>
                    <a:lstStyle/>
                    <a:p>
                      <a:r>
                        <a:rPr sz="1100" b="0" i="0">
                          <a:solidFill>
                            <a:srgbClr val="1F1F1F"/>
                          </a:solidFill>
                          <a:latin typeface="Arial"/>
                        </a:rPr>
                        <a:t>—</a:t>
                      </a:r>
                    </a:p>
                  </a:txBody>
                  <a:tcPr marL="54864" marR="54864" marT="27432" marB="27432">
                    <a:solidFill>
                      <a:srgbClr val="FFFFFF"/>
                    </a:solidFill>
                  </a:tcPr>
                </a:tc>
              </a:tr>
              <a:tr h="402336">
                <a:tc>
                  <a:txBody>
                    <a:bodyPr wrap="square"/>
                    <a:lstStyle/>
                    <a:p>
                      <a:r>
                        <a:rPr sz="1100" b="0" i="0">
                          <a:solidFill>
                            <a:srgbClr val="1F1F1F"/>
                          </a:solidFill>
                          <a:latin typeface="Arial"/>
                        </a:rPr>
                        <a:t>M = 3 objectives</a:t>
                      </a:r>
                    </a:p>
                  </a:txBody>
                  <a:tcPr marL="54864" marR="54864" marT="27432" marB="27432">
                    <a:solidFill>
                      <a:srgbClr val="F6F6F6"/>
                    </a:solidFill>
                  </a:tcPr>
                </a:tc>
                <a:tc>
                  <a:txBody>
                    <a:bodyPr wrap="square"/>
                    <a:lstStyle/>
                    <a:p>
                      <a:r>
                        <a:rPr sz="1100" b="0" i="0">
                          <a:solidFill>
                            <a:srgbClr val="1F1F1F"/>
                          </a:solidFill>
                          <a:latin typeface="Arial"/>
                        </a:rPr>
                        <a:t>decided after the 32 starts landed</a:t>
                      </a:r>
                    </a:p>
                  </a:txBody>
                  <a:tcPr marL="54864" marR="54864" marT="27432" marB="27432">
                    <a:solidFill>
                      <a:srgbClr val="F6F6F6"/>
                    </a:solidFill>
                  </a:tcPr>
                </a:tc>
                <a:tc>
                  <a:txBody>
                    <a:bodyPr wrap="square"/>
                    <a:lstStyle/>
                    <a:p>
                      <a:r>
                        <a:rPr sz="1100" b="0" i="0">
                          <a:solidFill>
                            <a:srgbClr val="1F1F1F"/>
                          </a:solidFill>
                          <a:latin typeface="Arial"/>
                        </a:rPr>
                        <a:t>—</a:t>
                      </a:r>
                    </a:p>
                  </a:txBody>
                  <a:tcPr marL="54864" marR="54864" marT="27432" marB="27432">
                    <a:solidFill>
                      <a:srgbClr val="F6F6F6"/>
                    </a:solidFill>
                  </a:tcPr>
                </a:tc>
                <a:tc>
                  <a:txBody>
                    <a:bodyPr wrap="square"/>
                    <a:lstStyle/>
                    <a:p>
                      <a:r>
                        <a:rPr sz="1100" b="0" i="0">
                          <a:solidFill>
                            <a:srgbClr val="1F1F1F"/>
                          </a:solidFill>
                          <a:latin typeface="Arial"/>
                        </a:rPr>
                        <a:t>10-06</a:t>
                      </a:r>
                    </a:p>
                  </a:txBody>
                  <a:tcPr marL="54864" marR="54864" marT="27432" marB="27432">
                    <a:solidFill>
                      <a:srgbClr val="F6F6F6"/>
                    </a:solidFill>
                  </a:tcPr>
                </a:tc>
                <a:tc>
                  <a:txBody>
                    <a:bodyPr wrap="square"/>
                    <a:lstStyle/>
                    <a:p>
                      <a:r>
                        <a:rPr sz="1100" b="0" i="0">
                          <a:solidFill>
                            <a:srgbClr val="1F1F1F"/>
                          </a:solidFill>
                          <a:latin typeface="Arial"/>
                        </a:rPr>
                        <a:t>state in paper</a:t>
                      </a:r>
                    </a:p>
                  </a:txBody>
                  <a:tcPr marL="54864" marR="54864" marT="27432" marB="27432">
                    <a:solidFill>
                      <a:srgbClr val="F6F6F6"/>
                    </a:solidFill>
                  </a:tcPr>
                </a:tc>
              </a:tr>
              <a:tr h="402336">
                <a:tc>
                  <a:txBody>
                    <a:bodyPr wrap="square"/>
                    <a:lstStyle/>
                    <a:p>
                      <a:r>
                        <a:rPr sz="1100" b="0" i="0">
                          <a:solidFill>
                            <a:srgbClr val="1F1F1F"/>
                          </a:solidFill>
                          <a:latin typeface="Arial"/>
                        </a:rPr>
                        <a:t>Random-baseline wording</a:t>
                      </a:r>
                    </a:p>
                  </a:txBody>
                  <a:tcPr marL="54864" marR="54864" marT="27432" marB="27432">
                    <a:solidFill>
                      <a:srgbClr val="FFFFFF"/>
                    </a:solidFill>
                  </a:tcPr>
                </a:tc>
                <a:tc>
                  <a:txBody>
                    <a:bodyPr wrap="square"/>
                    <a:lstStyle/>
                    <a:p>
                      <a:r>
                        <a:rPr sz="1100" b="0" i="0">
                          <a:solidFill>
                            <a:srgbClr val="1F1F1F"/>
                          </a:solidFill>
                          <a:latin typeface="Arial"/>
                        </a:rPr>
                        <a:t>yes (prompt 34)</a:t>
                      </a:r>
                    </a:p>
                  </a:txBody>
                  <a:tcPr marL="54864" marR="54864" marT="27432" marB="27432">
                    <a:solidFill>
                      <a:srgbClr val="FFFFFF"/>
                    </a:solidFill>
                  </a:tcPr>
                </a:tc>
                <a:tc>
                  <a:txBody>
                    <a:bodyPr wrap="square"/>
                    <a:lstStyle/>
                    <a:p>
                      <a:r>
                        <a:rPr sz="1100" b="0" i="0">
                          <a:solidFill>
                            <a:srgbClr val="1F1F1F"/>
                          </a:solidFill>
                          <a:latin typeface="Arial"/>
                        </a:rPr>
                        <a:t>—</a:t>
                      </a:r>
                    </a:p>
                  </a:txBody>
                  <a:tcPr marL="54864" marR="54864" marT="27432" marB="27432">
                    <a:solidFill>
                      <a:srgbClr val="FFFFFF"/>
                    </a:solidFill>
                  </a:tcPr>
                </a:tc>
                <a:tc>
                  <a:txBody>
                    <a:bodyPr wrap="square"/>
                    <a:lstStyle/>
                    <a:p>
                      <a:r>
                        <a:rPr sz="1100" b="0" i="0">
                          <a:solidFill>
                            <a:srgbClr val="1F1F1F"/>
                          </a:solidFill>
                          <a:latin typeface="Arial"/>
                        </a:rPr>
                        <a:t>10-10</a:t>
                      </a:r>
                    </a:p>
                  </a:txBody>
                  <a:tcPr marL="54864" marR="54864" marT="27432" marB="27432">
                    <a:solidFill>
                      <a:srgbClr val="FFFFFF"/>
                    </a:solidFill>
                  </a:tcPr>
                </a:tc>
                <a:tc>
                  <a:txBody>
                    <a:bodyPr wrap="square"/>
                    <a:lstStyle/>
                    <a:p>
                      <a:r>
                        <a:rPr sz="1100" b="0" i="0">
                          <a:solidFill>
                            <a:srgbClr val="1F1F1F"/>
                          </a:solidFill>
                          <a:latin typeface="Arial"/>
                        </a:rPr>
                        <a:t>—</a:t>
                      </a:r>
                    </a:p>
                  </a:txBody>
                  <a:tcPr marL="54864" marR="54864" marT="27432" marB="27432">
                    <a:solidFill>
                      <a:srgbClr val="FFFFFF"/>
                    </a:solidFill>
                  </a:tcPr>
                </a:tc>
              </a:tr>
              <a:tr h="402336">
                <a:tc>
                  <a:txBody>
                    <a:bodyPr wrap="square"/>
                    <a:lstStyle/>
                    <a:p>
                      <a:r>
                        <a:rPr sz="1100" b="0" i="0">
                          <a:solidFill>
                            <a:srgbClr val="1F1F1F"/>
                          </a:solidFill>
                          <a:latin typeface="Arial"/>
                        </a:rPr>
                        <a:t>Primary reference for 35 = R_union</a:t>
                      </a:r>
                    </a:p>
                  </a:txBody>
                  <a:tcPr marL="54864" marR="54864" marT="27432" marB="27432">
                    <a:solidFill>
                      <a:srgbClr val="F6F6F6"/>
                    </a:solidFill>
                  </a:tcPr>
                </a:tc>
                <a:tc>
                  <a:txBody>
                    <a:bodyPr wrap="square"/>
                    <a:lstStyle/>
                    <a:p>
                      <a:r>
                        <a:rPr sz="1100" b="0" i="0">
                          <a:solidFill>
                            <a:srgbClr val="1F1F1F"/>
                          </a:solidFill>
                          <a:latin typeface="Arial"/>
                        </a:rPr>
                        <a:t>frozen 10-12, after R_union gave p̂ = 1.00</a:t>
                      </a:r>
                    </a:p>
                  </a:txBody>
                  <a:tcPr marL="54864" marR="54864" marT="27432" marB="27432">
                    <a:solidFill>
                      <a:srgbClr val="F6F6F6"/>
                    </a:solidFill>
                  </a:tcPr>
                </a:tc>
                <a:tc>
                  <a:txBody>
                    <a:bodyPr wrap="square"/>
                    <a:lstStyle/>
                    <a:p>
                      <a:r>
                        <a:rPr sz="1100" b="0" i="0">
                          <a:solidFill>
                            <a:srgbClr val="1F1F1F"/>
                          </a:solidFill>
                          <a:latin typeface="Arial"/>
                        </a:rPr>
                        <a:t>lead reference changed from R_frozen</a:t>
                      </a:r>
                    </a:p>
                  </a:txBody>
                  <a:tcPr marL="54864" marR="54864" marT="27432" marB="27432">
                    <a:solidFill>
                      <a:srgbClr val="F6F6F6"/>
                    </a:solidFill>
                  </a:tcPr>
                </a:tc>
                <a:tc>
                  <a:txBody>
                    <a:bodyPr wrap="square"/>
                    <a:lstStyle/>
                    <a:p>
                      <a:r>
                        <a:rPr sz="1100" b="0" i="0">
                          <a:solidFill>
                            <a:srgbClr val="1F1F1F"/>
                          </a:solidFill>
                          <a:latin typeface="Arial"/>
                        </a:rPr>
                        <a:t>10-12</a:t>
                      </a:r>
                    </a:p>
                  </a:txBody>
                  <a:tcPr marL="54864" marR="54864" marT="27432" marB="27432">
                    <a:solidFill>
                      <a:srgbClr val="F6F6F6"/>
                    </a:solidFill>
                  </a:tcPr>
                </a:tc>
                <a:tc>
                  <a:txBody>
                    <a:bodyPr wrap="square"/>
                    <a:lstStyle/>
                    <a:p>
                      <a:r>
                        <a:rPr sz="1100" b="0" i="0">
                          <a:solidFill>
                            <a:srgbClr val="1F1F1F"/>
                          </a:solidFill>
                          <a:latin typeface="Arial"/>
                        </a:rPr>
                        <a:t>justify or make R_frozen co-primary (decision)</a:t>
                      </a:r>
                    </a:p>
                  </a:txBody>
                  <a:tcPr marL="54864" marR="54864" marT="27432" marB="27432">
                    <a:solidFill>
                      <a:srgbClr val="F6F6F6"/>
                    </a:solidFill>
                  </a:tcPr>
                </a:tc>
              </a:tr>
              <a:tr h="402336">
                <a:tc>
                  <a:txBody>
                    <a:bodyPr wrap="square"/>
                    <a:lstStyle/>
                    <a:p>
                      <a:r>
                        <a:rPr sz="1100" b="0" i="0">
                          <a:solidFill>
                            <a:srgbClr val="1F1F1F"/>
                          </a:solidFill>
                          <a:latin typeface="Arial"/>
                        </a:rPr>
                        <a:t>Shed-noise diagnostic, recipe narrowing</a:t>
                      </a:r>
                    </a:p>
                  </a:txBody>
                  <a:tcPr marL="54864" marR="54864" marT="27432" marB="27432">
                    <a:solidFill>
                      <a:srgbClr val="FFFFFF"/>
                    </a:solidFill>
                  </a:tcPr>
                </a:tc>
                <a:tc>
                  <a:txBody>
                    <a:bodyPr wrap="square"/>
                    <a:lstStyle/>
                    <a:p>
                      <a:r>
                        <a:rPr sz="1100" b="0" i="0">
                          <a:solidFill>
                            <a:srgbClr val="1F1F1F"/>
                          </a:solidFill>
                          <a:latin typeface="Arial"/>
                        </a:rPr>
                        <a:t>post hoc</a:t>
                      </a:r>
                    </a:p>
                  </a:txBody>
                  <a:tcPr marL="54864" marR="54864" marT="27432" marB="27432">
                    <a:solidFill>
                      <a:srgbClr val="FFFFFF"/>
                    </a:solidFill>
                  </a:tcPr>
                </a:tc>
                <a:tc>
                  <a:txBody>
                    <a:bodyPr wrap="square"/>
                    <a:lstStyle/>
                    <a:p>
                      <a:r>
                        <a:rPr sz="1100" b="0" i="0">
                          <a:solidFill>
                            <a:srgbClr val="1F1F1F"/>
                          </a:solidFill>
                          <a:latin typeface="Arial"/>
                        </a:rPr>
                        <a:t>—</a:t>
                      </a:r>
                    </a:p>
                  </a:txBody>
                  <a:tcPr marL="54864" marR="54864" marT="27432" marB="27432">
                    <a:solidFill>
                      <a:srgbClr val="FFFFFF"/>
                    </a:solidFill>
                  </a:tcPr>
                </a:tc>
                <a:tc>
                  <a:txBody>
                    <a:bodyPr wrap="square"/>
                    <a:lstStyle/>
                    <a:p>
                      <a:r>
                        <a:rPr sz="1100" b="0" i="0">
                          <a:solidFill>
                            <a:srgbClr val="1F1F1F"/>
                          </a:solidFill>
                          <a:latin typeface="Arial"/>
                        </a:rPr>
                        <a:t>10-12</a:t>
                      </a:r>
                    </a:p>
                  </a:txBody>
                  <a:tcPr marL="54864" marR="54864" marT="27432" marB="27432">
                    <a:solidFill>
                      <a:srgbClr val="FFFFFF"/>
                    </a:solidFill>
                  </a:tcPr>
                </a:tc>
                <a:tc>
                  <a:txBody>
                    <a:bodyPr wrap="square"/>
                    <a:lstStyle/>
                    <a:p>
                      <a:r>
                        <a:rPr sz="1100" b="0" i="0">
                          <a:solidFill>
                            <a:srgbClr val="1F1F1F"/>
                          </a:solidFill>
                          <a:latin typeface="Arial"/>
                        </a:rPr>
                        <a:t>labelled post hoc</a:t>
                      </a:r>
                    </a:p>
                  </a:txBody>
                  <a:tcPr marL="54864" marR="54864" marT="27432" marB="27432">
                    <a:solidFill>
                      <a:srgbClr val="FFFFFF"/>
                    </a:solidFill>
                  </a:tcPr>
                </a:tc>
              </a:tr>
              <a:tr h="402336">
                <a:tc>
                  <a:txBody>
                    <a:bodyPr wrap="square"/>
                    <a:lstStyle/>
                    <a:p>
                      <a:r>
                        <a:rPr sz="1100" b="0" i="0">
                          <a:solidFill>
                            <a:srgbClr val="1F1F1F"/>
                          </a:solidFill>
                          <a:latin typeface="Arial"/>
                        </a:rPr>
                        <a:t>N1 replay gate</a:t>
                      </a:r>
                    </a:p>
                  </a:txBody>
                  <a:tcPr marL="54864" marR="54864" marT="27432" marB="27432">
                    <a:solidFill>
                      <a:srgbClr val="F6F6F6"/>
                    </a:solidFill>
                  </a:tcPr>
                </a:tc>
                <a:tc>
                  <a:txBody>
                    <a:bodyPr wrap="square"/>
                    <a:lstStyle/>
                    <a:p>
                      <a:r>
                        <a:rPr sz="1100" b="0" i="0">
                          <a:solidFill>
                            <a:srgbClr val="1F1F1F"/>
                          </a:solidFill>
                          <a:latin typeface="Arial"/>
                        </a:rPr>
                        <a:t>yes (two-sided)</a:t>
                      </a:r>
                    </a:p>
                  </a:txBody>
                  <a:tcPr marL="54864" marR="54864" marT="27432" marB="27432">
                    <a:solidFill>
                      <a:srgbClr val="F6F6F6"/>
                    </a:solidFill>
                  </a:tcPr>
                </a:tc>
                <a:tc>
                  <a:txBody>
                    <a:bodyPr wrap="square"/>
                    <a:lstStyle/>
                    <a:p>
                      <a:r>
                        <a:rPr sz="1100" b="0" i="0">
                          <a:solidFill>
                            <a:srgbClr val="1F1F1F"/>
                          </a:solidFill>
                          <a:latin typeface="Arial"/>
                        </a:rPr>
                        <a:t>made one-sided after the result</a:t>
                      </a:r>
                    </a:p>
                  </a:txBody>
                  <a:tcPr marL="54864" marR="54864" marT="27432" marB="27432">
                    <a:solidFill>
                      <a:srgbClr val="F6F6F6"/>
                    </a:solidFill>
                  </a:tcPr>
                </a:tc>
                <a:tc>
                  <a:txBody>
                    <a:bodyPr wrap="square"/>
                    <a:lstStyle/>
                    <a:p>
                      <a:r>
                        <a:rPr sz="1100" b="0" i="0">
                          <a:solidFill>
                            <a:srgbClr val="1F1F1F"/>
                          </a:solidFill>
                          <a:latin typeface="Arial"/>
                        </a:rPr>
                        <a:t>10-12</a:t>
                      </a:r>
                    </a:p>
                  </a:txBody>
                  <a:tcPr marL="54864" marR="54864" marT="27432" marB="27432">
                    <a:solidFill>
                      <a:srgbClr val="F6F6F6"/>
                    </a:solidFill>
                  </a:tcPr>
                </a:tc>
                <a:tc>
                  <a:txBody>
                    <a:bodyPr wrap="square"/>
                    <a:lstStyle/>
                    <a:p>
                      <a:r>
                        <a:rPr sz="1100" b="0" i="0">
                          <a:solidFill>
                            <a:srgbClr val="1F1F1F"/>
                          </a:solidFill>
                          <a:latin typeface="Arial"/>
                        </a:rPr>
                        <a:t>P13 (next slide)</a:t>
                      </a:r>
                    </a:p>
                  </a:txBody>
                  <a:tcPr marL="54864" marR="54864" marT="27432" marB="27432">
                    <a:solidFill>
                      <a:srgbClr val="F6F6F6"/>
                    </a:solidFill>
                  </a:tcPr>
                </a:tc>
              </a:tr>
              <a:tr h="402336">
                <a:tc>
                  <a:txBody>
                    <a:bodyPr wrap="square"/>
                    <a:lstStyle/>
                    <a:p>
                      <a:r>
                        <a:rPr sz="1100" b="0" i="0">
                          <a:solidFill>
                            <a:srgbClr val="1F1F1F"/>
                          </a:solidFill>
                          <a:latin typeface="Arial"/>
                        </a:rPr>
                        <a:t>37 Amendment 1</a:t>
                      </a:r>
                    </a:p>
                  </a:txBody>
                  <a:tcPr marL="54864" marR="54864" marT="27432" marB="27432">
                    <a:solidFill>
                      <a:srgbClr val="FFFFFF"/>
                    </a:solidFill>
                  </a:tcPr>
                </a:tc>
                <a:tc>
                  <a:txBody>
                    <a:bodyPr wrap="square"/>
                    <a:lstStyle/>
                    <a:p>
                      <a:r>
                        <a:rPr sz="1100" b="0" i="0">
                          <a:solidFill>
                            <a:srgbClr val="1F1F1F"/>
                          </a:solidFill>
                          <a:latin typeface="Arial"/>
                        </a:rPr>
                        <a:t>before results</a:t>
                      </a:r>
                    </a:p>
                  </a:txBody>
                  <a:tcPr marL="54864" marR="54864" marT="27432" marB="27432">
                    <a:solidFill>
                      <a:srgbClr val="FFFFFF"/>
                    </a:solidFill>
                  </a:tcPr>
                </a:tc>
                <a:tc>
                  <a:txBody>
                    <a:bodyPr wrap="square"/>
                    <a:lstStyle/>
                    <a:p>
                      <a:r>
                        <a:rPr sz="1100" b="0" i="0">
                          <a:solidFill>
                            <a:srgbClr val="1F1F1F"/>
                          </a:solidFill>
                          <a:latin typeface="Arial"/>
                        </a:rPr>
                        <a:t>400 local 6-D random runs quarantined</a:t>
                      </a:r>
                    </a:p>
                  </a:txBody>
                  <a:tcPr marL="54864" marR="54864" marT="27432" marB="27432">
                    <a:solidFill>
                      <a:srgbClr val="FFFFFF"/>
                    </a:solidFill>
                  </a:tcPr>
                </a:tc>
                <a:tc>
                  <a:txBody>
                    <a:bodyPr wrap="square"/>
                    <a:lstStyle/>
                    <a:p>
                      <a:r>
                        <a:rPr sz="1100" b="0" i="0">
                          <a:solidFill>
                            <a:srgbClr val="1F1F1F"/>
                          </a:solidFill>
                          <a:latin typeface="Arial"/>
                        </a:rPr>
                        <a:t>10-12</a:t>
                      </a:r>
                    </a:p>
                  </a:txBody>
                  <a:tcPr marL="54864" marR="54864" marT="27432" marB="27432">
                    <a:solidFill>
                      <a:srgbClr val="FFFFFF"/>
                    </a:solidFill>
                  </a:tcPr>
                </a:tc>
                <a:tc>
                  <a:txBody>
                    <a:bodyPr wrap="square"/>
                    <a:lstStyle/>
                    <a:p>
                      <a:r>
                        <a:rPr sz="1100" b="0" i="0">
                          <a:solidFill>
                            <a:srgbClr val="1F1F1F"/>
                          </a:solidFill>
                          <a:latin typeface="Arial"/>
                        </a:rPr>
                        <a:t>PREREG amendment</a:t>
                      </a:r>
                    </a:p>
                  </a:txBody>
                  <a:tcPr marL="54864" marR="54864" marT="27432" marB="27432">
                    <a:solidFill>
                      <a:srgbClr val="FFFFFF"/>
                    </a:solidFill>
                  </a:tcPr>
                </a:tc>
              </a:tr>
              <a:tr h="402336">
                <a:tc>
                  <a:txBody>
                    <a:bodyPr wrap="square"/>
                    <a:lstStyle/>
                    <a:p>
                      <a:r>
                        <a:rPr sz="1100" b="0" i="0">
                          <a:solidFill>
                            <a:srgbClr val="1F1F1F"/>
                          </a:solidFill>
                          <a:latin typeface="Arial"/>
                        </a:rPr>
                        <a:t>ERCOT smoke gate</a:t>
                      </a:r>
                    </a:p>
                  </a:txBody>
                  <a:tcPr marL="54864" marR="54864" marT="27432" marB="27432">
                    <a:solidFill>
                      <a:srgbClr val="F6F6F6"/>
                    </a:solidFill>
                  </a:tcPr>
                </a:tc>
                <a:tc>
                  <a:txBody>
                    <a:bodyPr wrap="square"/>
                    <a:lstStyle/>
                    <a:p>
                      <a:r>
                        <a:rPr sz="1100" b="0" i="0">
                          <a:solidFill>
                            <a:srgbClr val="1F1F1F"/>
                          </a:solidFill>
                          <a:latin typeface="Arial"/>
                        </a:rPr>
                        <a:t>amended before results</a:t>
                      </a:r>
                    </a:p>
                  </a:txBody>
                  <a:tcPr marL="54864" marR="54864" marT="27432" marB="27432">
                    <a:solidFill>
                      <a:srgbClr val="F6F6F6"/>
                    </a:solidFill>
                  </a:tcPr>
                </a:tc>
                <a:tc>
                  <a:txBody>
                    <a:bodyPr wrap="square"/>
                    <a:lstStyle/>
                    <a:p>
                      <a:r>
                        <a:rPr sz="1100" b="0" i="0">
                          <a:solidFill>
                            <a:srgbClr val="1F1F1F"/>
                          </a:solidFill>
                          <a:latin typeface="Arial"/>
                        </a:rPr>
                        <a:t>cost ±15 % vs authors' SCUC</a:t>
                      </a:r>
                    </a:p>
                  </a:txBody>
                  <a:tcPr marL="54864" marR="54864" marT="27432" marB="27432">
                    <a:solidFill>
                      <a:srgbClr val="F6F6F6"/>
                    </a:solidFill>
                  </a:tcPr>
                </a:tc>
                <a:tc>
                  <a:txBody>
                    <a:bodyPr wrap="square"/>
                    <a:lstStyle/>
                    <a:p>
                      <a:r>
                        <a:rPr sz="1100" b="0" i="0">
                          <a:solidFill>
                            <a:srgbClr val="1F1F1F"/>
                          </a:solidFill>
                          <a:latin typeface="Arial"/>
                        </a:rPr>
                        <a:t>10-12</a:t>
                      </a:r>
                    </a:p>
                  </a:txBody>
                  <a:tcPr marL="54864" marR="54864" marT="27432" marB="27432">
                    <a:solidFill>
                      <a:srgbClr val="F6F6F6"/>
                    </a:solidFill>
                  </a:tcPr>
                </a:tc>
                <a:tc>
                  <a:txBody>
                    <a:bodyPr wrap="square"/>
                    <a:lstStyle/>
                    <a:p>
                      <a:r>
                        <a:rPr sz="1100" b="0" i="0">
                          <a:solidFill>
                            <a:srgbClr val="1F1F1F"/>
                          </a:solidFill>
                          <a:latin typeface="Arial"/>
                        </a:rPr>
                        <a:t>ERCOT_COST_FIX</a:t>
                      </a:r>
                    </a:p>
                  </a:txBody>
                  <a:tcPr marL="54864" marR="54864" marT="27432" marB="27432">
                    <a:solidFill>
                      <a:srgbClr val="F6F6F6"/>
                    </a:solidFill>
                  </a:tcPr>
                </a:tc>
              </a:tr>
              <a:tr h="402336">
                <a:tc>
                  <a:txBody>
                    <a:bodyPr wrap="square"/>
                    <a:lstStyle/>
                    <a:p>
                      <a:r>
                        <a:rPr sz="1100" b="0" i="0">
                          <a:solidFill>
                            <a:srgbClr val="1F1F1F"/>
                          </a:solidFill>
                          <a:latin typeface="Arial"/>
                        </a:rPr>
                        <a:t>ERCOT wave-D site rule</a:t>
                      </a:r>
                    </a:p>
                  </a:txBody>
                  <a:tcPr marL="54864" marR="54864" marT="27432" marB="27432">
                    <a:solidFill>
                      <a:srgbClr val="FFFFFF"/>
                    </a:solidFill>
                  </a:tcPr>
                </a:tc>
                <a:tc>
                  <a:txBody>
                    <a:bodyPr wrap="square"/>
                    <a:lstStyle/>
                    <a:p>
                      <a:r>
                        <a:rPr sz="1100" b="0" i="0">
                          <a:solidFill>
                            <a:srgbClr val="1F1F1F"/>
                          </a:solidFill>
                          <a:latin typeface="Arial"/>
                        </a:rPr>
                        <a:t>yes, text unchanged</a:t>
                      </a:r>
                    </a:p>
                  </a:txBody>
                  <a:tcPr marL="54864" marR="54864" marT="27432" marB="27432">
                    <a:solidFill>
                      <a:srgbClr val="FFFFFF"/>
                    </a:solidFill>
                  </a:tcPr>
                </a:tc>
                <a:tc>
                  <a:txBody>
                    <a:bodyPr wrap="square"/>
                    <a:lstStyle/>
                    <a:p>
                      <a:r>
                        <a:rPr sz="1100" b="0" i="0">
                          <a:solidFill>
                            <a:srgbClr val="1F1F1F"/>
                          </a:solidFill>
                          <a:latin typeface="Arial"/>
                        </a:rPr>
                        <a:t>committed after B landed, before any per-site value was read</a:t>
                      </a:r>
                    </a:p>
                  </a:txBody>
                  <a:tcPr marL="54864" marR="54864" marT="27432" marB="27432">
                    <a:solidFill>
                      <a:srgbClr val="FFFFFF"/>
                    </a:solidFill>
                  </a:tcPr>
                </a:tc>
                <a:tc>
                  <a:txBody>
                    <a:bodyPr wrap="square"/>
                    <a:lstStyle/>
                    <a:p>
                      <a:r>
                        <a:rPr sz="1100" b="0" i="0">
                          <a:solidFill>
                            <a:srgbClr val="1F1F1F"/>
                          </a:solidFill>
                          <a:latin typeface="Arial"/>
                        </a:rPr>
                        <a:t>10-13</a:t>
                      </a:r>
                    </a:p>
                  </a:txBody>
                  <a:tcPr marL="54864" marR="54864" marT="27432" marB="27432">
                    <a:solidFill>
                      <a:srgbClr val="FFFFFF"/>
                    </a:solidFill>
                  </a:tcPr>
                </a:tc>
                <a:tc>
                  <a:txBody>
                    <a:bodyPr wrap="square"/>
                    <a:lstStyle/>
                    <a:p>
                      <a:r>
                        <a:rPr sz="1100" b="0" i="0">
                          <a:solidFill>
                            <a:srgbClr val="1F1F1F"/>
                          </a:solidFill>
                          <a:latin typeface="Arial"/>
                        </a:rPr>
                        <a:t>CARRIED_OVER / T3</a:t>
                      </a:r>
                    </a:p>
                  </a:txBody>
                  <a:tcPr marL="54864" marR="54864" marT="27432" marB="27432">
                    <a:solidFill>
                      <a:srgbClr val="FFFFFF"/>
                    </a:solidFill>
                  </a:tcPr>
                </a:tc>
              </a:tr>
              <a:tr h="402336">
                <a:tc>
                  <a:txBody>
                    <a:bodyPr wrap="square"/>
                    <a:lstStyle/>
                    <a:p>
                      <a:r>
                        <a:rPr sz="1100" b="0" i="0">
                          <a:solidFill>
                            <a:srgbClr val="1F1F1F"/>
                          </a:solidFill>
                          <a:latin typeface="Arial"/>
                        </a:rPr>
                        <a:t>35 relaunch, software stack</a:t>
                      </a:r>
                    </a:p>
                  </a:txBody>
                  <a:tcPr marL="54864" marR="54864" marT="27432" marB="27432">
                    <a:solidFill>
                      <a:srgbClr val="F6F6F6"/>
                    </a:solidFill>
                  </a:tcPr>
                </a:tc>
                <a:tc>
                  <a:txBody>
                    <a:bodyPr wrap="square"/>
                    <a:lstStyle/>
                    <a:p>
                      <a:r>
                        <a:rPr sz="1100" b="0" i="0">
                          <a:solidFill>
                            <a:srgbClr val="1F1F1F"/>
                          </a:solidFill>
                          <a:latin typeface="Arial"/>
                        </a:rPr>
                        <a:t>—</a:t>
                      </a:r>
                    </a:p>
                  </a:txBody>
                  <a:tcPr marL="54864" marR="54864" marT="27432" marB="27432">
                    <a:solidFill>
                      <a:srgbClr val="F6F6F6"/>
                    </a:solidFill>
                  </a:tcPr>
                </a:tc>
                <a:tc>
                  <a:txBody>
                    <a:bodyPr wrap="square"/>
                    <a:lstStyle/>
                    <a:p>
                      <a:r>
                        <a:rPr sz="1100" b="0" i="0">
                          <a:solidFill>
                            <a:srgbClr val="1F1F1F"/>
                          </a:solidFill>
                          <a:latin typeface="Arial"/>
                        </a:rPr>
                        <a:t>~/.local packages are part of the frozen stack</a:t>
                      </a:r>
                    </a:p>
                  </a:txBody>
                  <a:tcPr marL="54864" marR="54864" marT="27432" marB="27432">
                    <a:solidFill>
                      <a:srgbClr val="F6F6F6"/>
                    </a:solidFill>
                  </a:tcPr>
                </a:tc>
                <a:tc>
                  <a:txBody>
                    <a:bodyPr wrap="square"/>
                    <a:lstStyle/>
                    <a:p>
                      <a:r>
                        <a:rPr sz="1100" b="0" i="0">
                          <a:solidFill>
                            <a:srgbClr val="1F1F1F"/>
                          </a:solidFill>
                          <a:latin typeface="Arial"/>
                        </a:rPr>
                        <a:t>10-12</a:t>
                      </a:r>
                    </a:p>
                  </a:txBody>
                  <a:tcPr marL="54864" marR="54864" marT="27432" marB="27432">
                    <a:solidFill>
                      <a:srgbClr val="F6F6F6"/>
                    </a:solidFill>
                  </a:tcPr>
                </a:tc>
                <a:tc>
                  <a:txBody>
                    <a:bodyPr wrap="square"/>
                    <a:lstStyle/>
                    <a:p>
                      <a:r>
                        <a:rPr sz="1100" b="0" i="0">
                          <a:solidFill>
                            <a:srgbClr val="1F1F1F"/>
                          </a:solidFill>
                          <a:latin typeface="Arial"/>
                        </a:rPr>
                        <a:t>P14</a:t>
                      </a:r>
                    </a:p>
                  </a:txBody>
                  <a:tcPr marL="54864" marR="54864" marT="27432" marB="27432">
                    <a:solidFill>
                      <a:srgbClr val="F6F6F6"/>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The N1 gate was changed after its result: three items to sign off</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PI sign-off</a:t>
            </a:r>
          </a:p>
        </p:txBody>
      </p:sp>
      <p:sp>
        <p:nvSpPr>
          <p:cNvPr id="6" name="Rounded Rectangle 5"/>
          <p:cNvSpPr/>
          <p:nvPr/>
        </p:nvSpPr>
        <p:spPr>
          <a:xfrm>
            <a:off x="457200" y="1234440"/>
            <a:ext cx="5486400" cy="49834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436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0C2340"/>
                </a:solidFill>
                <a:latin typeface="Arial"/>
              </a:rPr>
              <a:t>What happened</a:t>
            </a:r>
          </a:p>
        </p:txBody>
      </p:sp>
      <p:sp>
        <p:nvSpPr>
          <p:cNvPr id="8" name="TextBox 7"/>
          <p:cNvSpPr txBox="1"/>
          <p:nvPr/>
        </p:nvSpPr>
        <p:spPr>
          <a:xfrm>
            <a:off x="594360" y="1737360"/>
            <a:ext cx="5212080" cy="4389120"/>
          </a:xfrm>
          <a:prstGeom prst="rect">
            <a:avLst/>
          </a:prstGeom>
          <a:noFill/>
        </p:spPr>
        <p:txBody>
          <a:bodyPr wrap="square" anchor="t" lIns="45720" rIns="45720" tIns="27432" bIns="27432">
            <a:spAutoFit/>
          </a:bodyPr>
          <a:lstStyle/>
          <a:p>
            <a:pPr algn="l">
              <a:lnSpc>
                <a:spcPct val="105000"/>
              </a:lnSpc>
              <a:spcAft>
                <a:spcPts val="1000"/>
              </a:spcAft>
            </a:pPr>
            <a:r>
              <a:rPr sz="1400" b="0" i="0">
                <a:solidFill>
                  <a:srgbClr val="1F1F1F"/>
                </a:solidFill>
                <a:latin typeface="Arial"/>
              </a:rPr>
              <a:t>•  Pre-registered gate (35 §3.2): the qNEHVI replay median must lie INSIDE the q-ParEGO smoke range at n = 16 and 24.</a:t>
            </a:r>
          </a:p>
          <a:p>
            <a:pPr algn="l">
              <a:lnSpc>
                <a:spcPct val="105000"/>
              </a:lnSpc>
              <a:spcAft>
                <a:spcPts val="1000"/>
              </a:spcAft>
            </a:pPr>
            <a:r>
              <a:rPr sz="1400" b="0" i="0">
                <a:solidFill>
                  <a:srgbClr val="1F1F1F"/>
                </a:solidFill>
                <a:latin typeface="Arial"/>
              </a:rPr>
              <a:t>•  Result: n = 16: 0.9166, inside. n = 24: 0.9534, above the q-ParEGO maximum 0.9518.</a:t>
            </a:r>
          </a:p>
          <a:p>
            <a:pPr algn="l">
              <a:lnSpc>
                <a:spcPct val="105000"/>
              </a:lnSpc>
              <a:spcAft>
                <a:spcPts val="1000"/>
              </a:spcAft>
            </a:pPr>
            <a:r>
              <a:rPr sz="1400" b="1" i="0">
                <a:solidFill>
                  <a:srgbClr val="C0392B"/>
                </a:solidFill>
                <a:latin typeface="Arial"/>
              </a:rPr>
              <a:t>•  The gate failed HIGH.</a:t>
            </a:r>
          </a:p>
          <a:p>
            <a:pPr algn="l">
              <a:lnSpc>
                <a:spcPct val="105000"/>
              </a:lnSpc>
              <a:spcAft>
                <a:spcPts val="1000"/>
              </a:spcAft>
            </a:pPr>
            <a:r>
              <a:rPr sz="1400" b="0" i="0">
                <a:solidFill>
                  <a:srgbClr val="1F1F1F"/>
                </a:solidFill>
                <a:latin typeface="Arial"/>
              </a:rPr>
              <a:t>•  Amendment 10-12, after the result: one-sided (median ≥ q-ParEGO minimum) → PASS. N1 now runs.</a:t>
            </a:r>
          </a:p>
        </p:txBody>
      </p:sp>
      <p:sp>
        <p:nvSpPr>
          <p:cNvPr id="9" name="Rounded Rectangle 8"/>
          <p:cNvSpPr/>
          <p:nvPr/>
        </p:nvSpPr>
        <p:spPr>
          <a:xfrm>
            <a:off x="6217920" y="1234440"/>
            <a:ext cx="5486400" cy="4983480"/>
          </a:xfrm>
          <a:prstGeom prst="roundRect">
            <a:avLst>
              <a:gd name="adj" fmla="val 4000"/>
            </a:avLst>
          </a:prstGeom>
          <a:solidFill>
            <a:srgbClr val="F2F4F7"/>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5508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1E8449"/>
                </a:solidFill>
                <a:latin typeface="Arial"/>
              </a:rPr>
              <a:t>Sign off</a:t>
            </a:r>
          </a:p>
        </p:txBody>
      </p:sp>
      <p:sp>
        <p:nvSpPr>
          <p:cNvPr id="11" name="TextBox 10"/>
          <p:cNvSpPr txBox="1"/>
          <p:nvPr/>
        </p:nvSpPr>
        <p:spPr>
          <a:xfrm>
            <a:off x="6355080" y="1737360"/>
            <a:ext cx="5212080" cy="4389120"/>
          </a:xfrm>
          <a:prstGeom prst="rect">
            <a:avLst/>
          </a:prstGeom>
          <a:noFill/>
        </p:spPr>
        <p:txBody>
          <a:bodyPr wrap="square" anchor="t" lIns="45720" rIns="45720" tIns="27432" bIns="27432">
            <a:spAutoFit/>
          </a:bodyPr>
          <a:lstStyle/>
          <a:p>
            <a:pPr algn="l">
              <a:lnSpc>
                <a:spcPct val="105000"/>
              </a:lnSpc>
              <a:spcAft>
                <a:spcPts val="1000"/>
              </a:spcAft>
            </a:pPr>
            <a:r>
              <a:rPr sz="1400" b="0" i="0">
                <a:solidFill>
                  <a:srgbClr val="1F1F1F"/>
                </a:solidFill>
                <a:latin typeface="Arial"/>
              </a:rPr>
              <a:t>•  (a) Accept the amendment and its disclosure text (P13).</a:t>
            </a:r>
          </a:p>
          <a:p>
            <a:pPr algn="l">
              <a:lnSpc>
                <a:spcPct val="105000"/>
              </a:lnSpc>
              <a:spcAft>
                <a:spcPts val="1000"/>
              </a:spcAft>
            </a:pPr>
            <a:r>
              <a:rPr sz="1400" b="0" i="0">
                <a:solidFill>
                  <a:srgbClr val="1F1F1F"/>
                </a:solidFill>
                <a:latin typeface="Arial"/>
              </a:rPr>
              <a:t>•  (b) N1 vs P1 is reported as "consistent with" at most: one seed; model, acquisition and noise handling change together.</a:t>
            </a:r>
          </a:p>
          <a:p>
            <a:pPr algn="l">
              <a:lnSpc>
                <a:spcPct val="105000"/>
              </a:lnSpc>
              <a:spcAft>
                <a:spcPts val="1000"/>
              </a:spcAft>
            </a:pPr>
            <a:r>
              <a:rPr sz="1400" b="0" i="0">
                <a:solidFill>
                  <a:srgbClr val="1F1F1F"/>
                </a:solidFill>
                <a:latin typeface="Arial"/>
              </a:rPr>
              <a:t>•  (c) Fix now: if qNEHVI beats q-ParEGO on real runs by more than the P1–P3 spread, the paper reports both and keeps q-ParEGO as the workflow default because ______ (agree today: cost, simplicity, or prior pre-registration).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Prompt 35 decides claim (ii) by a fixed four-part rule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TextBox 4"/>
          <p:cNvSpPr txBox="1"/>
          <p:nvPr/>
        </p:nvSpPr>
        <p:spPr>
          <a:xfrm>
            <a:off x="457200" y="1280160"/>
            <a:ext cx="11247120" cy="4983480"/>
          </a:xfrm>
          <a:prstGeom prst="rect">
            <a:avLst/>
          </a:prstGeom>
          <a:noFill/>
        </p:spPr>
        <p:txBody>
          <a:bodyPr wrap="square" anchor="t" lIns="45720" rIns="45720" tIns="27432" bIns="27432">
            <a:spAutoFit/>
          </a:bodyPr>
          <a:lstStyle/>
          <a:p>
            <a:pPr algn="l">
              <a:lnSpc>
                <a:spcPct val="105000"/>
              </a:lnSpc>
              <a:spcAft>
                <a:spcPts val="800"/>
              </a:spcAft>
            </a:pPr>
            <a:r>
              <a:rPr sz="1500" b="1" i="0">
                <a:solidFill>
                  <a:srgbClr val="1F1F1F"/>
                </a:solidFill>
                <a:latin typeface="Arial"/>
              </a:rPr>
              <a:t>•  Claim (ii) holds only if ALL four parts pass:</a:t>
            </a:r>
          </a:p>
          <a:p>
            <a:pPr algn="l">
              <a:lnSpc>
                <a:spcPct val="105000"/>
              </a:lnSpc>
              <a:spcAft>
                <a:spcPts val="800"/>
              </a:spcAft>
            </a:pPr>
            <a:r>
              <a:rPr sz="1500" b="0" i="0">
                <a:solidFill>
                  <a:srgbClr val="1F1F1F"/>
                </a:solidFill>
                <a:latin typeface="Arial"/>
              </a:rPr>
              <a:t>      –  (1) P1, P2, P3 each p̂48 ≥ 0.8 at R_union, raw and floor-robust HV.</a:t>
            </a:r>
          </a:p>
          <a:p>
            <a:pPr algn="l">
              <a:lnSpc>
                <a:spcPct val="105000"/>
              </a:lnSpc>
              <a:spcAft>
                <a:spcPts val="800"/>
              </a:spcAft>
            </a:pPr>
            <a:r>
              <a:rPr sz="1500" b="0" i="0">
                <a:solidFill>
                  <a:srgbClr val="1F1F1F"/>
                </a:solidFill>
                <a:latin typeface="Arial"/>
              </a:rPr>
              <a:t>      –  (2) HV range across P1–P3 at n = 64 ≤ 1 τ̄.</a:t>
            </a:r>
          </a:p>
          <a:p>
            <a:pPr algn="l">
              <a:lnSpc>
                <a:spcPct val="105000"/>
              </a:lnSpc>
              <a:spcAft>
                <a:spcPts val="800"/>
              </a:spcAft>
            </a:pPr>
            <a:r>
              <a:rPr sz="1500" b="0" i="0">
                <a:solidFill>
                  <a:srgbClr val="1F1F1F"/>
                </a:solidFill>
                <a:latin typeface="Arial"/>
              </a:rPr>
              <a:t>      –  (3) Each replicate's top-3 knees satisfy R′ above the base rate.</a:t>
            </a:r>
          </a:p>
          <a:p>
            <a:pPr algn="l">
              <a:lnSpc>
                <a:spcPct val="105000"/>
              </a:lnSpc>
              <a:spcAft>
                <a:spcPts val="800"/>
              </a:spcAft>
            </a:pPr>
            <a:r>
              <a:rPr sz="1500" b="0" i="0">
                <a:solidFill>
                  <a:srgbClr val="1F1F1F"/>
                </a:solidFill>
                <a:latin typeface="Arial"/>
              </a:rPr>
              <a:t>      –  (4) Curtailment extreme beyond the pool's best by &gt; floor in ≥ 2 of 3.</a:t>
            </a:r>
          </a:p>
          <a:p>
            <a:pPr algn="l">
              <a:lnSpc>
                <a:spcPct val="105000"/>
              </a:lnSpc>
              <a:spcAft>
                <a:spcPts val="800"/>
              </a:spcAft>
            </a:pPr>
            <a:r>
              <a:rPr sz="1500" b="0" i="0">
                <a:solidFill>
                  <a:srgbClr val="1F1F1F"/>
                </a:solidFill>
                <a:latin typeface="Arial"/>
              </a:rPr>
              <a:t>•  Reading fixed now: all pass → supported at C. P1 passes, P2/P3 fail → "one of three"; the result depends on the start set. All fail → not shown. The workflow claim stands in every case.</a:t>
            </a:r>
          </a:p>
          <a:p>
            <a:pPr algn="l">
              <a:lnSpc>
                <a:spcPct val="105000"/>
              </a:lnSpc>
              <a:spcAft>
                <a:spcPts val="800"/>
              </a:spcAft>
            </a:pPr>
            <a:r>
              <a:rPr sz="1500" b="1" i="0">
                <a:solidFill>
                  <a:srgbClr val="1F1F1F"/>
                </a:solidFill>
                <a:latin typeface="Arial"/>
              </a:rPr>
              <a:t>•  Likely outcome (methods review): the AND-rule fails on at least one part. Plan the "one of three" wording now.</a:t>
            </a:r>
          </a:p>
          <a:p>
            <a:pPr algn="l">
              <a:lnSpc>
                <a:spcPct val="105000"/>
              </a:lnSpc>
              <a:spcAft>
                <a:spcPts val="800"/>
              </a:spcAft>
            </a:pPr>
            <a:r>
              <a:rPr sz="1500" b="0" i="0">
                <a:solidFill>
                  <a:srgbClr val="1F1F1F"/>
                </a:solidFill>
                <a:latin typeface="Arial"/>
              </a:rPr>
              <a:t>•  P1 rounds 3–4 test the live stop on real data: any post-stop round &gt; τ is an early stop.</a:t>
            </a:r>
          </a:p>
          <a:p>
            <a:pPr algn="l">
              <a:lnSpc>
                <a:spcPct val="105000"/>
              </a:lnSpc>
              <a:spcAft>
                <a:spcPts val="800"/>
              </a:spcAft>
            </a:pPr>
            <a:r>
              <a:rPr sz="1500" b="0" i="0">
                <a:solidFill>
                  <a:srgbClr val="1F1F1F"/>
                </a:solidFill>
                <a:latin typeface="Arial"/>
              </a:rPr>
              <a:t>•  Sobol Q1–Q3: descriptive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Prompt 37 has one confirmatory test with fixed acceptance thresholds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TextBox 4"/>
          <p:cNvSpPr txBox="1"/>
          <p:nvPr/>
        </p:nvSpPr>
        <p:spPr>
          <a:xfrm>
            <a:off x="457200" y="1280160"/>
            <a:ext cx="11247120" cy="4983480"/>
          </a:xfrm>
          <a:prstGeom prst="rect">
            <a:avLst/>
          </a:prstGeom>
          <a:noFill/>
        </p:spPr>
        <p:txBody>
          <a:bodyPr wrap="square" anchor="t" lIns="45720" rIns="45720" tIns="27432" bIns="27432">
            <a:spAutoFit/>
          </a:bodyPr>
          <a:lstStyle/>
          <a:p>
            <a:pPr algn="l">
              <a:lnSpc>
                <a:spcPct val="105000"/>
              </a:lnSpc>
              <a:spcAft>
                <a:spcPts val="1400"/>
              </a:spcAft>
            </a:pPr>
            <a:r>
              <a:rPr sz="1600" b="0" i="0">
                <a:solidFill>
                  <a:srgbClr val="1F1F1F"/>
                </a:solidFill>
                <a:latin typeface="Arial"/>
              </a:rPr>
              <a:t>•  Primary cell: emulator sample paths E-path-1…5 × q-ParEGO × live rule S0 (τ = 1·τ_j, w = 2, q = 8, cap 4), 50 seeds.</a:t>
            </a:r>
          </a:p>
          <a:p>
            <a:pPr algn="l">
              <a:lnSpc>
                <a:spcPct val="105000"/>
              </a:lnSpc>
              <a:spcAft>
                <a:spcPts val="1400"/>
              </a:spcAft>
            </a:pPr>
            <a:r>
              <a:rPr sz="1600" b="1" i="0">
                <a:solidFill>
                  <a:srgbClr val="1F1F1F"/>
                </a:solidFill>
                <a:latin typeface="Arial"/>
              </a:rPr>
              <a:t>•  Accept only if: early-stop rate ≤ 20 % AND median regret ≤ 1 τ AND S0 on or below the fixed-budget line S-fix-k, on the primary problems AND on the needle problem.</a:t>
            </a:r>
          </a:p>
          <a:p>
            <a:pPr algn="l">
              <a:lnSpc>
                <a:spcPct val="105000"/>
              </a:lnSpc>
              <a:spcAft>
                <a:spcPts val="1400"/>
              </a:spcAft>
            </a:pPr>
            <a:r>
              <a:rPr sz="1600" b="0" i="0">
                <a:solidFill>
                  <a:srgbClr val="1F1F1F"/>
                </a:solidFill>
                <a:latin typeface="Arial"/>
              </a:rPr>
              <a:t>•  Comparators: S-fix-1…8, relative-gain rule, model-based rule (qNEHVI), OCD-style test, oracle.</a:t>
            </a:r>
          </a:p>
          <a:p>
            <a:pPr algn="l">
              <a:lnSpc>
                <a:spcPct val="105000"/>
              </a:lnSpc>
              <a:spcAft>
                <a:spcPts val="1400"/>
              </a:spcAft>
            </a:pPr>
            <a:r>
              <a:rPr sz="1600" b="0" i="0">
                <a:solidFill>
                  <a:srgbClr val="1F1F1F"/>
                </a:solidFill>
                <a:latin typeface="Arial"/>
              </a:rPr>
              <a:t>•  Pre-registered reading: S0 ≡ S-fix-2 almost everywhere → "the rule acts as a 2-round budget at this τ".</a:t>
            </a:r>
          </a:p>
          <a:p>
            <a:pPr algn="l">
              <a:lnSpc>
                <a:spcPct val="105000"/>
              </a:lnSpc>
              <a:spcAft>
                <a:spcPts val="1400"/>
              </a:spcAft>
            </a:pPr>
            <a:r>
              <a:rPr sz="1600" b="0" i="0">
                <a:solidFill>
                  <a:srgbClr val="C0392B"/>
                </a:solidFill>
                <a:latin typeface="Arial"/>
              </a:rPr>
              <a:t>•  Limit: the emulators are fit on scenario-C data. They are not a second problem instance.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Two RTS mechanism questions gate the shed axis; prompt 38 answers them</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80160"/>
          <a:ext cx="11247120" cy="3291840"/>
        </p:xfrm>
        <a:graphic>
          <a:graphicData uri="http://schemas.openxmlformats.org/drawingml/2006/table">
            <a:tbl>
              <a:tblPr firstRow="1" bandRow="1">
                <a:tableStyleId>{5C22544A-7EE6-4342-B048-85BDC9FD1C3A}</a:tableStyleId>
              </a:tblPr>
              <a:tblGrid>
                <a:gridCol w="2377440"/>
                <a:gridCol w="5852160"/>
                <a:gridCol w="3017520"/>
              </a:tblGrid>
              <a:tr h="822960">
                <a:tc>
                  <a:txBody>
                    <a:bodyPr wrap="square"/>
                    <a:lstStyle/>
                    <a:p>
                      <a:r>
                        <a:rPr sz="1200" b="1" i="0">
                          <a:solidFill>
                            <a:srgbClr val="1F1F1F"/>
                          </a:solidFill>
                          <a:latin typeface="Arial"/>
                        </a:rPr>
                        <a:t>Question</a:t>
                      </a:r>
                    </a:p>
                  </a:txBody>
                  <a:tcPr marL="54864" marR="54864" marT="27432" marB="27432">
                    <a:solidFill>
                      <a:srgbClr val="DCE3EE"/>
                    </a:solidFill>
                  </a:tcPr>
                </a:tc>
                <a:tc>
                  <a:txBody>
                    <a:bodyPr wrap="square"/>
                    <a:lstStyle/>
                    <a:p>
                      <a:r>
                        <a:rPr sz="1200" b="1" i="0">
                          <a:solidFill>
                            <a:srgbClr val="1F1F1F"/>
                          </a:solidFill>
                          <a:latin typeface="Arial"/>
                        </a:rPr>
                        <a:t>Most likely answer</a:t>
                      </a:r>
                    </a:p>
                  </a:txBody>
                  <a:tcPr marL="54864" marR="54864" marT="27432" marB="27432">
                    <a:solidFill>
                      <a:srgbClr val="DCE3EE"/>
                    </a:solidFill>
                  </a:tcPr>
                </a:tc>
                <a:tc>
                  <a:txBody>
                    <a:bodyPr wrap="square"/>
                    <a:lstStyle/>
                    <a:p>
                      <a:r>
                        <a:rPr sz="1200" b="1" i="0">
                          <a:solidFill>
                            <a:srgbClr val="1F1F1F"/>
                          </a:solidFill>
                          <a:latin typeface="Arial"/>
                        </a:rPr>
                        <a:t>Check (prompt 38)</a:t>
                      </a:r>
                    </a:p>
                  </a:txBody>
                  <a:tcPr marL="54864" marR="54864" marT="27432" marB="27432">
                    <a:solidFill>
                      <a:srgbClr val="DCE3EE"/>
                    </a:solidFill>
                  </a:tcPr>
                </a:tc>
              </a:tr>
              <a:tr h="822960">
                <a:tc>
                  <a:txBody>
                    <a:bodyPr wrap="square"/>
                    <a:lstStyle/>
                    <a:p>
                      <a:r>
                        <a:rPr sz="1200" b="0" i="0">
                          <a:solidFill>
                            <a:srgbClr val="1F1F1F"/>
                          </a:solidFill>
                          <a:latin typeface="Arial"/>
                        </a:rPr>
                        <a:t>Why does shed fall as withheld MW rises (Spearman −0.94)?</a:t>
                      </a:r>
                    </a:p>
                  </a:txBody>
                  <a:tcPr marL="54864" marR="54864" marT="27432" marB="27432">
                    <a:solidFill>
                      <a:srgbClr val="FFFFFF"/>
                    </a:solidFill>
                  </a:tcPr>
                </a:tc>
                <a:tc>
                  <a:txBody>
                    <a:bodyPr wrap="square"/>
                    <a:lstStyle/>
                    <a:p>
                      <a:r>
                        <a:rPr sz="1200" b="0" i="0">
                          <a:solidFill>
                            <a:srgbClr val="1F1F1F"/>
                          </a:solidFill>
                          <a:latin typeface="Arial"/>
                        </a:rPr>
                        <a:t>H1: in the RUC the slice is a $40 resource, so more thermal is committed and real-time headroom grows. H2: the slice sells when the price exceeds B, so it delivers in scarcity hours.</a:t>
                      </a:r>
                    </a:p>
                  </a:txBody>
                  <a:tcPr marL="54864" marR="54864" marT="27432" marB="27432">
                    <a:solidFill>
                      <a:srgbClr val="FFFFFF"/>
                    </a:solidFill>
                  </a:tcPr>
                </a:tc>
                <a:tc>
                  <a:txBody>
                    <a:bodyPr wrap="square"/>
                    <a:lstStyle/>
                    <a:p>
                      <a:r>
                        <a:rPr sz="1200" b="0" i="0">
                          <a:solidFill>
                            <a:srgbClr val="1F1F1F"/>
                          </a:solidFill>
                          <a:latin typeface="Arial"/>
                        </a:rPr>
                        <a:t>Committed MW and headroom on shed hours, low- vs high-MW designs; shed hours vs price &gt; B.</a:t>
                      </a:r>
                    </a:p>
                  </a:txBody>
                  <a:tcPr marL="54864" marR="54864" marT="27432" marB="27432">
                    <a:solidFill>
                      <a:srgbClr val="FFFFFF"/>
                    </a:solidFill>
                  </a:tcPr>
                </a:tc>
              </a:tr>
              <a:tr h="822960">
                <a:tc>
                  <a:txBody>
                    <a:bodyPr wrap="square"/>
                    <a:lstStyle/>
                    <a:p>
                      <a:r>
                        <a:rPr sz="1200" b="0" i="0">
                          <a:solidFill>
                            <a:srgbClr val="1F1F1F"/>
                          </a:solidFill>
                          <a:latin typeface="Arial"/>
                        </a:rPr>
                        <a:t>Is shed traded for reserve shortfall (H4)?</a:t>
                      </a:r>
                    </a:p>
                  </a:txBody>
                  <a:tcPr marL="54864" marR="54864" marT="27432" marB="27432">
                    <a:solidFill>
                      <a:srgbClr val="F6F6F6"/>
                    </a:solidFill>
                  </a:tcPr>
                </a:tc>
                <a:tc>
                  <a:txBody>
                    <a:bodyPr wrap="square"/>
                    <a:lstStyle/>
                    <a:p>
                      <a:r>
                        <a:rPr sz="1200" b="0" i="0">
                          <a:solidFill>
                            <a:srgbClr val="1F1F1F"/>
                          </a:solidFill>
                          <a:latin typeface="Arial"/>
                        </a:rPr>
                        <a:t>Unknown</a:t>
                      </a:r>
                    </a:p>
                  </a:txBody>
                  <a:tcPr marL="54864" marR="54864" marT="27432" marB="27432">
                    <a:solidFill>
                      <a:srgbClr val="F6F6F6"/>
                    </a:solidFill>
                  </a:tcPr>
                </a:tc>
                <a:tc>
                  <a:txBody>
                    <a:bodyPr wrap="square"/>
                    <a:lstStyle/>
                    <a:p>
                      <a:r>
                        <a:rPr sz="1200" b="0" i="0">
                          <a:solidFill>
                            <a:srgbClr val="1F1F1F"/>
                          </a:solidFill>
                          <a:latin typeface="Arial"/>
                        </a:rPr>
                        <a:t>Reserve shortfall vs total MW over 96 designs. If yes, the shed axis, τ and HV need rework.</a:t>
                      </a:r>
                    </a:p>
                  </a:txBody>
                  <a:tcPr marL="54864" marR="54864" marT="27432" marB="27432">
                    <a:solidFill>
                      <a:srgbClr val="F6F6F6"/>
                    </a:solidFill>
                  </a:tcPr>
                </a:tc>
              </a:tr>
              <a:tr h="822960">
                <a:tc>
                  <a:txBody>
                    <a:bodyPr wrap="square"/>
                    <a:lstStyle/>
                    <a:p>
                      <a:r>
                        <a:rPr sz="1200" b="0" i="0">
                          <a:solidFill>
                            <a:srgbClr val="1F1F1F"/>
                          </a:solidFill>
                          <a:latin typeface="Arial"/>
                        </a:rPr>
                        <a:t>Why do 7 front designs share shed = 22.426 MWh?</a:t>
                      </a:r>
                    </a:p>
                  </a:txBody>
                  <a:tcPr marL="54864" marR="54864" marT="27432" marB="27432">
                    <a:solidFill>
                      <a:srgbClr val="FFFFFF"/>
                    </a:solidFill>
                  </a:tcPr>
                </a:tc>
                <a:tc>
                  <a:txBody>
                    <a:bodyPr wrap="square"/>
                    <a:lstStyle/>
                    <a:p>
                      <a:r>
                        <a:rPr sz="1200" b="0" i="0">
                          <a:solidFill>
                            <a:srgbClr val="1F1F1F"/>
                          </a:solidFill>
                          <a:latin typeface="Arial"/>
                        </a:rPr>
                        <a:t>One PEM-independent event</a:t>
                      </a:r>
                    </a:p>
                  </a:txBody>
                  <a:tcPr marL="54864" marR="54864" marT="27432" marB="27432">
                    <a:solidFill>
                      <a:srgbClr val="FFFFFF"/>
                    </a:solidFill>
                  </a:tcPr>
                </a:tc>
                <a:tc>
                  <a:txBody>
                    <a:bodyPr wrap="square"/>
                    <a:lstStyle/>
                    <a:p>
                      <a:r>
                        <a:rPr sz="1200" b="0" i="0">
                          <a:solidFill>
                            <a:srgbClr val="1F1F1F"/>
                          </a:solidFill>
                          <a:latin typeface="Arial"/>
                        </a:rPr>
                        <a:t>Bus-hour of the shed; is it in the no-PEM base?</a:t>
                      </a:r>
                    </a:p>
                  </a:txBody>
                  <a:tcPr marL="54864" marR="54864" marT="27432" marB="27432">
                    <a:solidFill>
                      <a:srgbClr val="FFFFFF"/>
                    </a:solidFill>
                  </a:tcPr>
                </a:tc>
              </a:tr>
            </a:tbl>
          </a:graphicData>
        </a:graphic>
      </p:graphicFrame>
      <p:sp>
        <p:nvSpPr>
          <p:cNvPr id="6" name="TextBox 5"/>
          <p:cNvSpPr txBox="1"/>
          <p:nvPr/>
        </p:nvSpPr>
        <p:spPr>
          <a:xfrm>
            <a:off x="457200" y="5120640"/>
            <a:ext cx="11247120" cy="64008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6B6B6B"/>
                </a:solidFill>
                <a:latin typeface="Arial"/>
              </a:rPr>
              <a:t>Curtailment netting is closed: prompt 35 G1 closure PASS. Owner: hand off prompt 38 now (0 PCM runs).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ERCOT v2 runs clean at the system level; the fuel mix needs a check</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34440"/>
          <a:ext cx="6675119" cy="3840480"/>
        </p:xfrm>
        <a:graphic>
          <a:graphicData uri="http://schemas.openxmlformats.org/drawingml/2006/table">
            <a:tbl>
              <a:tblPr firstRow="1" bandRow="1">
                <a:tableStyleId>{5C22544A-7EE6-4342-B048-85BDC9FD1C3A}</a:tableStyleId>
              </a:tblPr>
              <a:tblGrid>
                <a:gridCol w="2011680"/>
                <a:gridCol w="2011680"/>
                <a:gridCol w="2651759"/>
              </a:tblGrid>
              <a:tr h="384048">
                <a:tc>
                  <a:txBody>
                    <a:bodyPr wrap="square"/>
                    <a:lstStyle/>
                    <a:p>
                      <a:r>
                        <a:rPr sz="1200" b="1" i="0">
                          <a:solidFill>
                            <a:srgbClr val="1F1F1F"/>
                          </a:solidFill>
                          <a:latin typeface="Arial"/>
                        </a:rPr>
                        <a:t>Quantity (2019, base)</a:t>
                      </a:r>
                    </a:p>
                  </a:txBody>
                  <a:tcPr marL="54864" marR="54864" marT="27432" marB="27432">
                    <a:solidFill>
                      <a:srgbClr val="DCE3EE"/>
                    </a:solidFill>
                  </a:tcPr>
                </a:tc>
                <a:tc>
                  <a:txBody>
                    <a:bodyPr wrap="square"/>
                    <a:lstStyle/>
                    <a:p>
                      <a:r>
                        <a:rPr sz="1200" b="1" i="0">
                          <a:solidFill>
                            <a:srgbClr val="1F1F1F"/>
                          </a:solidFill>
                          <a:latin typeface="Arial"/>
                        </a:rPr>
                        <a:t>v1 (mis-converted costs)</a:t>
                      </a:r>
                    </a:p>
                  </a:txBody>
                  <a:tcPr marL="54864" marR="54864" marT="27432" marB="27432">
                    <a:solidFill>
                      <a:srgbClr val="DCE3EE"/>
                    </a:solidFill>
                  </a:tcPr>
                </a:tc>
                <a:tc>
                  <a:txBody>
                    <a:bodyPr wrap="square"/>
                    <a:lstStyle/>
                    <a:p>
                      <a:r>
                        <a:rPr sz="1200" b="1" i="0">
                          <a:solidFill>
                            <a:srgbClr val="1F1F1F"/>
                          </a:solidFill>
                          <a:latin typeface="Arial"/>
                        </a:rPr>
                        <a:t>v2 (corrected)</a:t>
                      </a:r>
                    </a:p>
                  </a:txBody>
                  <a:tcPr marL="54864" marR="54864" marT="27432" marB="27432">
                    <a:solidFill>
                      <a:srgbClr val="DCE3EE"/>
                    </a:solidFill>
                  </a:tcPr>
                </a:tc>
              </a:tr>
              <a:tr h="384048">
                <a:tc>
                  <a:txBody>
                    <a:bodyPr wrap="square"/>
                    <a:lstStyle/>
                    <a:p>
                      <a:r>
                        <a:rPr sz="1200" b="0" i="0">
                          <a:solidFill>
                            <a:srgbClr val="1F1F1F"/>
                          </a:solidFill>
                          <a:latin typeface="Arial"/>
                        </a:rPr>
                        <a:t>Real-time LMP, mean</a:t>
                      </a:r>
                    </a:p>
                  </a:txBody>
                  <a:tcPr marL="54864" marR="54864" marT="27432" marB="27432">
                    <a:solidFill>
                      <a:srgbClr val="FFFFFF"/>
                    </a:solidFill>
                  </a:tcPr>
                </a:tc>
                <a:tc>
                  <a:txBody>
                    <a:bodyPr wrap="square"/>
                    <a:lstStyle/>
                    <a:p>
                      <a:r>
                        <a:rPr sz="1200" b="0" i="0">
                          <a:solidFill>
                            <a:srgbClr val="1F1F1F"/>
                          </a:solidFill>
                          <a:latin typeface="Arial"/>
                        </a:rPr>
                        <a:t>$14.5/MWh</a:t>
                      </a:r>
                    </a:p>
                  </a:txBody>
                  <a:tcPr marL="54864" marR="54864" marT="27432" marB="27432">
                    <a:solidFill>
                      <a:srgbClr val="FFFFFF"/>
                    </a:solidFill>
                  </a:tcPr>
                </a:tc>
                <a:tc>
                  <a:txBody>
                    <a:bodyPr wrap="square"/>
                    <a:lstStyle/>
                    <a:p>
                      <a:r>
                        <a:rPr sz="1200" b="0" i="0">
                          <a:solidFill>
                            <a:srgbClr val="1F1F1F"/>
                          </a:solidFill>
                          <a:latin typeface="Arial"/>
                        </a:rPr>
                        <a:t>$33.8/MWh</a:t>
                      </a:r>
                    </a:p>
                  </a:txBody>
                  <a:tcPr marL="54864" marR="54864" marT="27432" marB="27432">
                    <a:solidFill>
                      <a:srgbClr val="FFFFFF"/>
                    </a:solidFill>
                  </a:tcPr>
                </a:tc>
              </a:tr>
              <a:tr h="384048">
                <a:tc>
                  <a:txBody>
                    <a:bodyPr wrap="square"/>
                    <a:lstStyle/>
                    <a:p>
                      <a:r>
                        <a:rPr sz="1200" b="0" i="0">
                          <a:solidFill>
                            <a:srgbClr val="1F1F1F"/>
                          </a:solidFill>
                          <a:latin typeface="Arial"/>
                        </a:rPr>
                        <a:t>Fixed cost</a:t>
                      </a:r>
                    </a:p>
                  </a:txBody>
                  <a:tcPr marL="54864" marR="54864" marT="27432" marB="27432">
                    <a:solidFill>
                      <a:srgbClr val="F6F6F6"/>
                    </a:solidFill>
                  </a:tcPr>
                </a:tc>
                <a:tc>
                  <a:txBody>
                    <a:bodyPr wrap="square"/>
                    <a:lstStyle/>
                    <a:p>
                      <a:r>
                        <a:rPr sz="1200" b="0" i="0">
                          <a:solidFill>
                            <a:srgbClr val="1F1F1F"/>
                          </a:solidFill>
                          <a:latin typeface="Arial"/>
                        </a:rPr>
                        <a:t>$6.75 B</a:t>
                      </a:r>
                    </a:p>
                  </a:txBody>
                  <a:tcPr marL="54864" marR="54864" marT="27432" marB="27432">
                    <a:solidFill>
                      <a:srgbClr val="F6F6F6"/>
                    </a:solidFill>
                  </a:tcPr>
                </a:tc>
                <a:tc>
                  <a:txBody>
                    <a:bodyPr wrap="square"/>
                    <a:lstStyle/>
                    <a:p>
                      <a:r>
                        <a:rPr sz="1200" b="0" i="0">
                          <a:solidFill>
                            <a:srgbClr val="1F1F1F"/>
                          </a:solidFill>
                          <a:latin typeface="Arial"/>
                        </a:rPr>
                        <a:t>$3.63 B</a:t>
                      </a:r>
                    </a:p>
                  </a:txBody>
                  <a:tcPr marL="54864" marR="54864" marT="27432" marB="27432">
                    <a:solidFill>
                      <a:srgbClr val="F6F6F6"/>
                    </a:solidFill>
                  </a:tcPr>
                </a:tc>
              </a:tr>
              <a:tr h="384048">
                <a:tc>
                  <a:txBody>
                    <a:bodyPr wrap="square"/>
                    <a:lstStyle/>
                    <a:p>
                      <a:r>
                        <a:rPr sz="1200" b="0" i="0">
                          <a:solidFill>
                            <a:srgbClr val="1F1F1F"/>
                          </a:solidFill>
                          <a:latin typeface="Arial"/>
                        </a:rPr>
                        <a:t>Variable cost</a:t>
                      </a:r>
                    </a:p>
                  </a:txBody>
                  <a:tcPr marL="54864" marR="54864" marT="27432" marB="27432">
                    <a:solidFill>
                      <a:srgbClr val="FFFFFF"/>
                    </a:solidFill>
                  </a:tcPr>
                </a:tc>
                <a:tc>
                  <a:txBody>
                    <a:bodyPr wrap="square"/>
                    <a:lstStyle/>
                    <a:p>
                      <a:r>
                        <a:rPr sz="1200" b="0" i="0">
                          <a:solidFill>
                            <a:srgbClr val="1F1F1F"/>
                          </a:solidFill>
                          <a:latin typeface="Arial"/>
                        </a:rPr>
                        <a:t>$1.19 B</a:t>
                      </a:r>
                    </a:p>
                  </a:txBody>
                  <a:tcPr marL="54864" marR="54864" marT="27432" marB="27432">
                    <a:solidFill>
                      <a:srgbClr val="FFFFFF"/>
                    </a:solidFill>
                  </a:tcPr>
                </a:tc>
                <a:tc>
                  <a:txBody>
                    <a:bodyPr wrap="square"/>
                    <a:lstStyle/>
                    <a:p>
                      <a:r>
                        <a:rPr sz="1200" b="0" i="0">
                          <a:solidFill>
                            <a:srgbClr val="1F1F1F"/>
                          </a:solidFill>
                          <a:latin typeface="Arial"/>
                        </a:rPr>
                        <a:t>$4.46 B</a:t>
                      </a:r>
                    </a:p>
                  </a:txBody>
                  <a:tcPr marL="54864" marR="54864" marT="27432" marB="27432">
                    <a:solidFill>
                      <a:srgbClr val="FFFFFF"/>
                    </a:solidFill>
                  </a:tcPr>
                </a:tc>
              </a:tr>
              <a:tr h="384048">
                <a:tc>
                  <a:txBody>
                    <a:bodyPr wrap="square"/>
                    <a:lstStyle/>
                    <a:p>
                      <a:r>
                        <a:rPr sz="1200" b="0" i="0">
                          <a:solidFill>
                            <a:srgbClr val="1F1F1F"/>
                          </a:solidFill>
                          <a:latin typeface="Arial"/>
                        </a:rPr>
                        <a:t>True curtailment</a:t>
                      </a:r>
                    </a:p>
                  </a:txBody>
                  <a:tcPr marL="54864" marR="54864" marT="27432" marB="27432">
                    <a:solidFill>
                      <a:srgbClr val="F6F6F6"/>
                    </a:solidFill>
                  </a:tcPr>
                </a:tc>
                <a:tc>
                  <a:txBody>
                    <a:bodyPr wrap="square"/>
                    <a:lstStyle/>
                    <a:p>
                      <a:r>
                        <a:rPr sz="1200" b="0" i="0">
                          <a:solidFill>
                            <a:srgbClr val="1F1F1F"/>
                          </a:solidFill>
                          <a:latin typeface="Arial"/>
                        </a:rPr>
                        <a:t>9.44 M MWh</a:t>
                      </a:r>
                    </a:p>
                  </a:txBody>
                  <a:tcPr marL="54864" marR="54864" marT="27432" marB="27432">
                    <a:solidFill>
                      <a:srgbClr val="F6F6F6"/>
                    </a:solidFill>
                  </a:tcPr>
                </a:tc>
                <a:tc>
                  <a:txBody>
                    <a:bodyPr wrap="square"/>
                    <a:lstStyle/>
                    <a:p>
                      <a:r>
                        <a:rPr sz="1200" b="0" i="0">
                          <a:solidFill>
                            <a:srgbClr val="1F1F1F"/>
                          </a:solidFill>
                          <a:latin typeface="Arial"/>
                        </a:rPr>
                        <a:t>5.92 M MWh</a:t>
                      </a:r>
                    </a:p>
                  </a:txBody>
                  <a:tcPr marL="54864" marR="54864" marT="27432" marB="27432">
                    <a:solidFill>
                      <a:srgbClr val="F6F6F6"/>
                    </a:solidFill>
                  </a:tcPr>
                </a:tc>
              </a:tr>
              <a:tr h="384048">
                <a:tc>
                  <a:txBody>
                    <a:bodyPr wrap="square"/>
                    <a:lstStyle/>
                    <a:p>
                      <a:r>
                        <a:rPr sz="1200" b="0" i="0">
                          <a:solidFill>
                            <a:srgbClr val="1F1F1F"/>
                          </a:solidFill>
                          <a:latin typeface="Arial"/>
                        </a:rPr>
                        <a:t>Nuclear</a:t>
                      </a:r>
                    </a:p>
                  </a:txBody>
                  <a:tcPr marL="54864" marR="54864" marT="27432" marB="27432">
                    <a:solidFill>
                      <a:srgbClr val="FFFFFF"/>
                    </a:solidFill>
                  </a:tcPr>
                </a:tc>
                <a:tc>
                  <a:txBody>
                    <a:bodyPr wrap="square"/>
                    <a:lstStyle/>
                    <a:p>
                      <a:r>
                        <a:rPr sz="1200" b="0" i="0">
                          <a:solidFill>
                            <a:srgbClr val="1F1F1F"/>
                          </a:solidFill>
                          <a:latin typeface="Arial"/>
                        </a:rPr>
                        <a:t>gen-1 cycles (≈ 25 starts)</a:t>
                      </a:r>
                    </a:p>
                  </a:txBody>
                  <a:tcPr marL="54864" marR="54864" marT="27432" marB="27432">
                    <a:solidFill>
                      <a:srgbClr val="FFFFFF"/>
                    </a:solidFill>
                  </a:tcPr>
                </a:tc>
                <a:tc>
                  <a:txBody>
                    <a:bodyPr wrap="square"/>
                    <a:lstStyle/>
                    <a:p>
                      <a:r>
                        <a:rPr sz="1200" b="0" i="0">
                          <a:solidFill>
                            <a:srgbClr val="1F1F1F"/>
                          </a:solidFill>
                          <a:latin typeface="Arial"/>
                        </a:rPr>
                        <a:t>both units on all 8,760 h, 0 starts</a:t>
                      </a:r>
                    </a:p>
                  </a:txBody>
                  <a:tcPr marL="54864" marR="54864" marT="27432" marB="27432">
                    <a:solidFill>
                      <a:srgbClr val="FFFFFF"/>
                    </a:solidFill>
                  </a:tcPr>
                </a:tc>
              </a:tr>
              <a:tr h="384048">
                <a:tc>
                  <a:txBody>
                    <a:bodyPr wrap="square"/>
                    <a:lstStyle/>
                    <a:p>
                      <a:r>
                        <a:rPr sz="1200" b="0" i="0">
                          <a:solidFill>
                            <a:srgbClr val="1F1F1F"/>
                          </a:solidFill>
                          <a:latin typeface="Arial"/>
                        </a:rPr>
                        <a:t>RUC quality</a:t>
                      </a:r>
                    </a:p>
                  </a:txBody>
                  <a:tcPr marL="54864" marR="54864" marT="27432" marB="27432">
                    <a:solidFill>
                      <a:srgbClr val="F6F6F6"/>
                    </a:solidFill>
                  </a:tcPr>
                </a:tc>
                <a:tc>
                  <a:txBody>
                    <a:bodyPr wrap="square"/>
                    <a:lstStyle/>
                    <a:p>
                      <a:r>
                        <a:rPr sz="1200" b="0" i="0">
                          <a:solidFill>
                            <a:srgbClr val="1F1F1F"/>
                          </a:solidFill>
                          <a:latin typeface="Arial"/>
                        </a:rPr>
                        <a:t>TimeLimit races on capped days</a:t>
                      </a:r>
                    </a:p>
                  </a:txBody>
                  <a:tcPr marL="54864" marR="54864" marT="27432" marB="27432">
                    <a:solidFill>
                      <a:srgbClr val="F6F6F6"/>
                    </a:solidFill>
                  </a:tcPr>
                </a:tc>
                <a:tc>
                  <a:txBody>
                    <a:bodyPr wrap="square"/>
                    <a:lstStyle/>
                    <a:p>
                      <a:r>
                        <a:rPr sz="1200" b="0" i="0">
                          <a:solidFill>
                            <a:srgbClr val="1F1F1F"/>
                          </a:solidFill>
                          <a:latin typeface="Arial"/>
                        </a:rPr>
                        <a:t>0 % capped; 1,460 / 1,460 OPTIMAL</a:t>
                      </a:r>
                    </a:p>
                  </a:txBody>
                  <a:tcPr marL="54864" marR="54864" marT="27432" marB="27432">
                    <a:solidFill>
                      <a:srgbClr val="F6F6F6"/>
                    </a:solidFill>
                  </a:tcPr>
                </a:tc>
              </a:tr>
              <a:tr h="384048">
                <a:tc>
                  <a:txBody>
                    <a:bodyPr wrap="square"/>
                    <a:lstStyle/>
                    <a:p>
                      <a:r>
                        <a:rPr sz="1200" b="0" i="0">
                          <a:solidFill>
                            <a:srgbClr val="1F1F1F"/>
                          </a:solidFill>
                          <a:latin typeface="Arial"/>
                        </a:rPr>
                        <a:t>Replicate spread (total cost)</a:t>
                      </a:r>
                    </a:p>
                  </a:txBody>
                  <a:tcPr marL="54864" marR="54864" marT="27432" marB="27432">
                    <a:solidFill>
                      <a:srgbClr val="FFFFFF"/>
                    </a:solidFill>
                  </a:tcPr>
                </a:tc>
                <a:tc>
                  <a:txBody>
                    <a:bodyPr wrap="square"/>
                    <a:lstStyle/>
                    <a:p>
                      <a:r>
                        <a:rPr sz="1200" b="0" i="0">
                          <a:solidFill>
                            <a:srgbClr val="1F1F1F"/>
                          </a:solidFill>
                          <a:latin typeface="Arial"/>
                        </a:rPr>
                        <a:t>±$80M bimodal</a:t>
                      </a:r>
                    </a:p>
                  </a:txBody>
                  <a:tcPr marL="54864" marR="54864" marT="27432" marB="27432">
                    <a:solidFill>
                      <a:srgbClr val="FFFFFF"/>
                    </a:solidFill>
                  </a:tcPr>
                </a:tc>
                <a:tc>
                  <a:txBody>
                    <a:bodyPr wrap="square"/>
                    <a:lstStyle/>
                    <a:p>
                      <a:r>
                        <a:rPr sz="1200" b="0" i="0">
                          <a:solidFill>
                            <a:srgbClr val="1F1F1F"/>
                          </a:solidFill>
                          <a:latin typeface="Arial"/>
                        </a:rPr>
                        <a:t>0 (4 runs byte-identical)</a:t>
                      </a:r>
                    </a:p>
                  </a:txBody>
                  <a:tcPr marL="54864" marR="54864" marT="27432" marB="27432">
                    <a:solidFill>
                      <a:srgbClr val="FFFFFF"/>
                    </a:solidFill>
                  </a:tcPr>
                </a:tc>
              </a:tr>
              <a:tr h="384048">
                <a:tc>
                  <a:txBody>
                    <a:bodyPr wrap="square"/>
                    <a:lstStyle/>
                    <a:p>
                      <a:r>
                        <a:rPr sz="1200" b="0" i="0">
                          <a:solidFill>
                            <a:srgbClr val="1F1F1F"/>
                          </a:solidFill>
                          <a:latin typeface="Arial"/>
                        </a:rPr>
                        <a:t>Coal / gas share</a:t>
                      </a:r>
                    </a:p>
                  </a:txBody>
                  <a:tcPr marL="54864" marR="54864" marT="27432" marB="27432">
                    <a:solidFill>
                      <a:srgbClr val="F6F6F6"/>
                    </a:solidFill>
                  </a:tcPr>
                </a:tc>
                <a:tc>
                  <a:txBody>
                    <a:bodyPr wrap="square"/>
                    <a:lstStyle/>
                    <a:p>
                      <a:r>
                        <a:rPr sz="1200" b="0" i="0">
                          <a:solidFill>
                            <a:srgbClr val="1F1F1F"/>
                          </a:solidFill>
                          <a:latin typeface="Arial"/>
                        </a:rPr>
                        <a:t>—</a:t>
                      </a:r>
                    </a:p>
                  </a:txBody>
                  <a:tcPr marL="54864" marR="54864" marT="27432" marB="27432">
                    <a:solidFill>
                      <a:srgbClr val="F6F6F6"/>
                    </a:solidFill>
                  </a:tcPr>
                </a:tc>
                <a:tc>
                  <a:txBody>
                    <a:bodyPr wrap="square"/>
                    <a:lstStyle/>
                    <a:p>
                      <a:r>
                        <a:rPr sz="1200" b="0" i="0">
                          <a:solidFill>
                            <a:srgbClr val="1F1F1F"/>
                          </a:solidFill>
                          <a:latin typeface="Arial"/>
                        </a:rPr>
                        <a:t>32 % / 34 % (2019 actual ≈ 20 % / 47 %, verify)</a:t>
                      </a:r>
                    </a:p>
                  </a:txBody>
                  <a:tcPr marL="54864" marR="54864" marT="27432" marB="27432">
                    <a:solidFill>
                      <a:srgbClr val="F6F6F6"/>
                    </a:solidFill>
                  </a:tcPr>
                </a:tc>
              </a:tr>
              <a:tr h="384048">
                <a:tc>
                  <a:txBody>
                    <a:bodyPr wrap="square"/>
                    <a:lstStyle/>
                    <a:p>
                      <a:r>
                        <a:rPr sz="1200" b="0" i="0">
                          <a:solidFill>
                            <a:srgbClr val="1F1F1F"/>
                          </a:solidFill>
                          <a:latin typeface="Arial"/>
                        </a:rPr>
                        <a:t>PV energy</a:t>
                      </a:r>
                    </a:p>
                  </a:txBody>
                  <a:tcPr marL="54864" marR="54864" marT="27432" marB="27432">
                    <a:solidFill>
                      <a:srgbClr val="FFFFFF"/>
                    </a:solidFill>
                  </a:tcPr>
                </a:tc>
                <a:tc>
                  <a:txBody>
                    <a:bodyPr wrap="square"/>
                    <a:lstStyle/>
                    <a:p>
                      <a:r>
                        <a:rPr sz="1200" b="0" i="0">
                          <a:solidFill>
                            <a:srgbClr val="1F1F1F"/>
                          </a:solidFill>
                          <a:latin typeface="Arial"/>
                        </a:rPr>
                        <a:t>—</a:t>
                      </a:r>
                    </a:p>
                  </a:txBody>
                  <a:tcPr marL="54864" marR="54864" marT="27432" marB="27432">
                    <a:solidFill>
                      <a:srgbClr val="FFFFFF"/>
                    </a:solidFill>
                  </a:tcPr>
                </a:tc>
                <a:tc>
                  <a:txBody>
                    <a:bodyPr wrap="square"/>
                    <a:lstStyle/>
                    <a:p>
                      <a:r>
                        <a:rPr sz="1200" b="0" i="0">
                          <a:solidFill>
                            <a:srgbClr val="1F1F1F"/>
                          </a:solidFill>
                          <a:latin typeface="Arial"/>
                        </a:rPr>
                        <a:t>17.6 TWh from 8.3 GW (2019 actual ≈ 4–5 TWh, verify)</a:t>
                      </a:r>
                    </a:p>
                  </a:txBody>
                  <a:tcPr marL="54864" marR="54864" marT="27432" marB="27432">
                    <a:solidFill>
                      <a:srgbClr val="FFFFFF"/>
                    </a:solidFill>
                  </a:tcPr>
                </a:tc>
              </a:tr>
            </a:tbl>
          </a:graphicData>
        </a:graphic>
      </p:graphicFrame>
      <p:sp>
        <p:nvSpPr>
          <p:cNvPr id="6" name="TextBox 5"/>
          <p:cNvSpPr txBox="1"/>
          <p:nvPr/>
        </p:nvSpPr>
        <p:spPr>
          <a:xfrm>
            <a:off x="7315200" y="1234440"/>
            <a:ext cx="4389120" cy="5029200"/>
          </a:xfrm>
          <a:prstGeom prst="rect">
            <a:avLst/>
          </a:prstGeom>
          <a:noFill/>
        </p:spPr>
        <p:txBody>
          <a:bodyPr wrap="square" anchor="t" lIns="45720" rIns="45720" tIns="27432" bIns="27432">
            <a:spAutoFit/>
          </a:bodyPr>
          <a:lstStyle/>
          <a:p>
            <a:pPr algn="l">
              <a:lnSpc>
                <a:spcPct val="105000"/>
              </a:lnSpc>
              <a:spcAft>
                <a:spcPts val="800"/>
              </a:spcAft>
            </a:pPr>
            <a:r>
              <a:rPr sz="1300" b="0" i="0">
                <a:solidFill>
                  <a:srgbClr val="1F1F1F"/>
                </a:solidFill>
                <a:latin typeface="Arial"/>
              </a:rPr>
              <a:t>•  v1 used mis-converted cost data (start-up energy read as a heat rate). Every v1 output is replaced.</a:t>
            </a:r>
          </a:p>
          <a:p>
            <a:pPr algn="l">
              <a:lnSpc>
                <a:spcPct val="105000"/>
              </a:lnSpc>
              <a:spcAft>
                <a:spcPts val="800"/>
              </a:spcAft>
            </a:pPr>
            <a:r>
              <a:rPr sz="1300" b="1" i="0">
                <a:solidFill>
                  <a:srgbClr val="1F1F1F"/>
                </a:solidFill>
                <a:latin typeface="Arial"/>
              </a:rPr>
              <a:t>•  Corrected costs make nuclear baseload (informs NXT-D6).</a:t>
            </a:r>
          </a:p>
          <a:p>
            <a:pPr algn="l">
              <a:lnSpc>
                <a:spcPct val="105000"/>
              </a:lnSpc>
              <a:spcAft>
                <a:spcPts val="800"/>
              </a:spcAft>
            </a:pPr>
            <a:r>
              <a:rPr sz="1300" b="0" i="0">
                <a:solidFill>
                  <a:srgbClr val="C0392B"/>
                </a:solidFill>
                <a:latin typeface="Arial"/>
              </a:rPr>
              <a:t>•  The coal-gas split sets the marginal unit and the cost of replacing withheld wind. Check fuel mix and fuel prices against the TX-123BT paper and 2019 data before the AIChE figures.</a:t>
            </a:r>
          </a:p>
          <a:p>
            <a:pPr algn="l">
              <a:lnSpc>
                <a:spcPct val="105000"/>
              </a:lnSpc>
              <a:spcAft>
                <a:spcPts val="800"/>
              </a:spcAft>
            </a:pPr>
            <a:r>
              <a:rPr sz="1300" b="0" i="0">
                <a:solidFill>
                  <a:srgbClr val="1F1F1F"/>
                </a:solidFill>
                <a:latin typeface="Arial"/>
              </a:rPr>
              <a:t>•  Deterministic is not exact: the RUC still stops at ≤ 1 % gap (median 0.72 %). A bid-0 placebo row gives the real ruler.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ERCOT screening: relief is real, but a third of the "hydrogen" is diverted wind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34440"/>
            <a:ext cx="2697480" cy="1325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600" b="1" i="0">
                <a:solidFill>
                  <a:srgbClr val="0C2340"/>
                </a:solidFill>
                <a:latin typeface="Arial"/>
              </a:rPr>
              <a:t>0 MWh</a:t>
            </a:r>
          </a:p>
        </p:txBody>
      </p:sp>
      <p:sp>
        <p:nvSpPr>
          <p:cNvPr id="7" name="TextBox 6"/>
          <p:cNvSpPr txBox="1"/>
          <p:nvPr/>
        </p:nvSpPr>
        <p:spPr>
          <a:xfrm>
            <a:off x="594360" y="1874519"/>
            <a:ext cx="2423160" cy="64008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shed (4 base + 19 screening runs)</a:t>
            </a:r>
          </a:p>
        </p:txBody>
      </p:sp>
      <p:sp>
        <p:nvSpPr>
          <p:cNvPr id="8" name="Rounded Rectangle 7"/>
          <p:cNvSpPr/>
          <p:nvPr/>
        </p:nvSpPr>
        <p:spPr>
          <a:xfrm>
            <a:off x="3310128" y="1234440"/>
            <a:ext cx="2697480" cy="1325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447288"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600" b="1" i="0">
                <a:solidFill>
                  <a:srgbClr val="0C2340"/>
                </a:solidFill>
                <a:latin typeface="Arial"/>
              </a:rPr>
              <a:t>$33.8/MWh</a:t>
            </a:r>
          </a:p>
        </p:txBody>
      </p:sp>
      <p:sp>
        <p:nvSpPr>
          <p:cNvPr id="10" name="TextBox 9"/>
          <p:cNvSpPr txBox="1"/>
          <p:nvPr/>
        </p:nvSpPr>
        <p:spPr>
          <a:xfrm>
            <a:off x="3447288" y="1874519"/>
            <a:ext cx="2423160" cy="64008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mean RT LMP ($36.4 load-weighted)</a:t>
            </a:r>
          </a:p>
        </p:txBody>
      </p:sp>
      <p:sp>
        <p:nvSpPr>
          <p:cNvPr id="11" name="Rounded Rectangle 10"/>
          <p:cNvSpPr/>
          <p:nvPr/>
        </p:nvSpPr>
        <p:spPr>
          <a:xfrm>
            <a:off x="6163056" y="1234440"/>
            <a:ext cx="2697480" cy="1325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0216"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600" b="1" i="0">
                <a:solidFill>
                  <a:srgbClr val="0C2340"/>
                </a:solidFill>
                <a:latin typeface="Arial"/>
              </a:rPr>
              <a:t>0.61–0.67</a:t>
            </a:r>
          </a:p>
        </p:txBody>
      </p:sp>
      <p:sp>
        <p:nvSpPr>
          <p:cNvPr id="13" name="TextBox 12"/>
          <p:cNvSpPr txBox="1"/>
          <p:nvPr/>
        </p:nvSpPr>
        <p:spPr>
          <a:xfrm>
            <a:off x="6300216" y="1874519"/>
            <a:ext cx="2423160" cy="64008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MWh curtailment avoided per MWh H2 (top wind sites)</a:t>
            </a:r>
          </a:p>
        </p:txBody>
      </p:sp>
      <p:sp>
        <p:nvSpPr>
          <p:cNvPr id="14" name="Rounded Rectangle 13"/>
          <p:cNvSpPr/>
          <p:nvPr/>
        </p:nvSpPr>
        <p:spPr>
          <a:xfrm>
            <a:off x="9015984" y="1234440"/>
            <a:ext cx="2697480" cy="1325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53144"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600" b="1" i="0">
                <a:solidFill>
                  <a:srgbClr val="0C2340"/>
                </a:solidFill>
                <a:latin typeface="Arial"/>
              </a:rPr>
              <a:t>0.38</a:t>
            </a:r>
          </a:p>
        </p:txBody>
      </p:sp>
      <p:sp>
        <p:nvSpPr>
          <p:cNvPr id="16" name="TextBox 15"/>
          <p:cNvSpPr txBox="1"/>
          <p:nvPr/>
        </p:nvSpPr>
        <p:spPr>
          <a:xfrm>
            <a:off x="9153144" y="1874519"/>
            <a:ext cx="2423160" cy="64008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the same ratio at PV site 30</a:t>
            </a:r>
          </a:p>
        </p:txBody>
      </p:sp>
      <p:sp>
        <p:nvSpPr>
          <p:cNvPr id="17" name="TextBox 16"/>
          <p:cNvSpPr txBox="1"/>
          <p:nvPr/>
        </p:nvSpPr>
        <p:spPr>
          <a:xfrm>
            <a:off x="457200" y="2743200"/>
            <a:ext cx="11247120" cy="3520440"/>
          </a:xfrm>
          <a:prstGeom prst="rect">
            <a:avLst/>
          </a:prstGeom>
          <a:noFill/>
        </p:spPr>
        <p:txBody>
          <a:bodyPr wrap="square" anchor="t" lIns="45720" rIns="45720" tIns="27432" bIns="27432">
            <a:spAutoFit/>
          </a:bodyPr>
          <a:lstStyle/>
          <a:p>
            <a:pPr algn="l">
              <a:lnSpc>
                <a:spcPct val="105000"/>
              </a:lnSpc>
              <a:spcAft>
                <a:spcPts val="1000"/>
              </a:spcAft>
            </a:pPr>
            <a:r>
              <a:rPr sz="1500" b="0" i="0">
                <a:solidFill>
                  <a:srgbClr val="1F1F1F"/>
                </a:solidFill>
                <a:latin typeface="Arial"/>
              </a:rPr>
              <a:t>•  Shed is a checked constraint on ERCOT. Its span is zero, so any ERCOT BO uses two objectives: true curtailment and cost.</a:t>
            </a:r>
          </a:p>
          <a:p>
            <a:pPr algn="l">
              <a:lnSpc>
                <a:spcPct val="105000"/>
              </a:lnSpc>
              <a:spcAft>
                <a:spcPts val="1000"/>
              </a:spcAft>
            </a:pPr>
            <a:r>
              <a:rPr sz="1500" b="1" i="0">
                <a:solidFill>
                  <a:srgbClr val="1F1F1F"/>
                </a:solidFill>
                <a:latin typeface="Arial"/>
              </a:rPr>
              <a:t>•  B = $40 lies above the mean price and above coal, so the PEM withholds in most hours. 33–40 % of the withheld energy would have served load; thermal replaces it.</a:t>
            </a:r>
          </a:p>
          <a:p>
            <a:pPr algn="l">
              <a:lnSpc>
                <a:spcPct val="105000"/>
              </a:lnSpc>
              <a:spcAft>
                <a:spcPts val="1000"/>
              </a:spcAft>
            </a:pPr>
            <a:r>
              <a:rPr sz="1500" b="0" i="0">
                <a:solidFill>
                  <a:srgbClr val="1F1F1F"/>
                </a:solidFill>
                <a:latin typeface="Arial"/>
              </a:rPr>
              <a:t>•  Screening row 10 shows the mechanism: 15.7 TWh withheld, 3.75 TWh of it curtailment; about 12 TWh replaced by thermal → +$354M.</a:t>
            </a:r>
          </a:p>
          <a:p>
            <a:pPr algn="l">
              <a:lnSpc>
                <a:spcPct val="105000"/>
              </a:lnSpc>
              <a:spcAft>
                <a:spcPts val="1000"/>
              </a:spcAft>
            </a:pPr>
            <a:r>
              <a:rPr sz="1500" b="0" i="0">
                <a:solidFill>
                  <a:srgbClr val="1F1F1F"/>
                </a:solidFill>
                <a:latin typeface="Arial"/>
              </a:rPr>
              <a:t>•  Report curtailment avoided per MWh of hydrogen next to relief per MW.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Wave D needs contrast, a placebo and a nuclear cost fix</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approve the redesigned wave D</a:t>
            </a:r>
          </a:p>
        </p:txBody>
      </p:sp>
      <p:sp>
        <p:nvSpPr>
          <p:cNvPr id="6" name="Rounded Rectangle 5"/>
          <p:cNvSpPr/>
          <p:nvPr/>
        </p:nvSpPr>
        <p:spPr>
          <a:xfrm>
            <a:off x="457200" y="1234440"/>
            <a:ext cx="5486400" cy="3611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436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0C2340"/>
                </a:solidFill>
                <a:latin typeface="Arial"/>
              </a:rPr>
              <a:t>As proposed (rule 4fb3b1f, ruler = 0 → top 6)</a:t>
            </a:r>
          </a:p>
        </p:txBody>
      </p:sp>
      <p:sp>
        <p:nvSpPr>
          <p:cNvPr id="8" name="TextBox 7"/>
          <p:cNvSpPr txBox="1"/>
          <p:nvPr/>
        </p:nvSpPr>
        <p:spPr>
          <a:xfrm>
            <a:off x="594360" y="1737360"/>
            <a:ext cx="5212080" cy="301752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Sites 163, 140, 146, 270, 110, 274 × 60/120/180 MW + nuclear × 3 = 21 rows.</a:t>
            </a:r>
          </a:p>
          <a:p>
            <a:pPr algn="l">
              <a:lnSpc>
                <a:spcPct val="105000"/>
              </a:lnSpc>
              <a:spcAft>
                <a:spcPts val="800"/>
              </a:spcAft>
            </a:pPr>
            <a:r>
              <a:rPr sz="1400" b="1" i="0">
                <a:solidFill>
                  <a:srgbClr val="C0392B"/>
                </a:solidFill>
                <a:latin typeface="Arial"/>
              </a:rPr>
              <a:t>•  Problems:</a:t>
            </a:r>
          </a:p>
          <a:p>
            <a:pPr algn="l">
              <a:lnSpc>
                <a:spcPct val="105000"/>
              </a:lnSpc>
              <a:spcAft>
                <a:spcPts val="800"/>
              </a:spcAft>
            </a:pPr>
            <a:r>
              <a:rPr sz="1400" b="0" i="0">
                <a:solidFill>
                  <a:srgbClr val="1F1F1F"/>
                </a:solidFill>
                <a:latin typeface="Arial"/>
              </a:rPr>
              <a:t>      –  The six differ by 9 % in relief/MW and sit on 3 buses (120 ×3, 2 ×2, 75).</a:t>
            </a:r>
          </a:p>
          <a:p>
            <a:pPr algn="l">
              <a:lnSpc>
                <a:spcPct val="105000"/>
              </a:lnSpc>
              <a:spcAft>
                <a:spcPts val="800"/>
              </a:spcAft>
            </a:pPr>
            <a:r>
              <a:rPr sz="1400" b="0" i="0">
                <a:solidFill>
                  <a:srgbClr val="1F1F1F"/>
                </a:solidFill>
                <a:latin typeface="Arial"/>
              </a:rPr>
              <a:t>      –  180 MW is 97 % of site 163's nameplate but 24 % of site 274's.</a:t>
            </a:r>
          </a:p>
          <a:p>
            <a:pPr algn="l">
              <a:lnSpc>
                <a:spcPct val="105000"/>
              </a:lnSpc>
              <a:spcAft>
                <a:spcPts val="800"/>
              </a:spcAft>
            </a:pPr>
            <a:r>
              <a:rPr sz="1400" b="0" i="0">
                <a:solidFill>
                  <a:srgbClr val="1F1F1F"/>
                </a:solidFill>
                <a:latin typeface="Arial"/>
              </a:rPr>
              <a:t>      –  Nuclear rows carry the cost bias (slide 5).</a:t>
            </a:r>
          </a:p>
        </p:txBody>
      </p:sp>
      <p:sp>
        <p:nvSpPr>
          <p:cNvPr id="9" name="Rounded Rectangle 8"/>
          <p:cNvSpPr/>
          <p:nvPr/>
        </p:nvSpPr>
        <p:spPr>
          <a:xfrm>
            <a:off x="6217920" y="1234440"/>
            <a:ext cx="5486400" cy="3611880"/>
          </a:xfrm>
          <a:prstGeom prst="roundRect">
            <a:avLst>
              <a:gd name="adj" fmla="val 4000"/>
            </a:avLst>
          </a:prstGeom>
          <a:solidFill>
            <a:srgbClr val="F2F4F7"/>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55080" y="1307592"/>
            <a:ext cx="5212080" cy="384048"/>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1E8449"/>
                </a:solidFill>
                <a:latin typeface="Arial"/>
              </a:rPr>
              <a:t>Redesign (21 rows)</a:t>
            </a:r>
          </a:p>
        </p:txBody>
      </p:sp>
      <p:sp>
        <p:nvSpPr>
          <p:cNvPr id="11" name="TextBox 10"/>
          <p:cNvSpPr txBox="1"/>
          <p:nvPr/>
        </p:nvSpPr>
        <p:spPr>
          <a:xfrm>
            <a:off x="6355080" y="1737360"/>
            <a:ext cx="5212080" cy="301752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163, 140, 146 (best per bus) + PV 116, PV 30 + the last-ranked wind site, each × 60/120/180 MW.</a:t>
            </a:r>
          </a:p>
          <a:p>
            <a:pPr algn="l">
              <a:lnSpc>
                <a:spcPct val="105000"/>
              </a:lnSpc>
              <a:spcAft>
                <a:spcPts val="800"/>
              </a:spcAft>
            </a:pPr>
            <a:r>
              <a:rPr sz="1400" b="0" i="0">
                <a:solidFill>
                  <a:srgbClr val="1F1F1F"/>
                </a:solidFill>
                <a:latin typeface="Arial"/>
              </a:rPr>
              <a:t>•  + one bid-0 placebo.</a:t>
            </a:r>
          </a:p>
          <a:p>
            <a:pPr algn="l">
              <a:lnSpc>
                <a:spcPct val="105000"/>
              </a:lnSpc>
              <a:spcAft>
                <a:spcPts val="800"/>
              </a:spcAft>
            </a:pPr>
            <a:r>
              <a:rPr sz="1400" b="0" i="0">
                <a:solidFill>
                  <a:srgbClr val="1F1F1F"/>
                </a:solidFill>
                <a:latin typeface="Arial"/>
              </a:rPr>
              <a:t>•  + nuclear × 2 after the cost fix.</a:t>
            </a:r>
          </a:p>
          <a:p>
            <a:pPr algn="l">
              <a:lnSpc>
                <a:spcPct val="105000"/>
              </a:lnSpc>
              <a:spcAft>
                <a:spcPts val="800"/>
              </a:spcAft>
            </a:pPr>
            <a:r>
              <a:rPr sz="1400" b="0" i="0">
                <a:solidFill>
                  <a:srgbClr val="1F1F1F"/>
                </a:solidFill>
                <a:latin typeface="Arial"/>
              </a:rPr>
              <a:t>•  Plot the nameplate fraction too.</a:t>
            </a:r>
          </a:p>
        </p:txBody>
      </p:sp>
      <p:sp>
        <p:nvSpPr>
          <p:cNvPr id="12" name="Rounded Rectangle 11"/>
          <p:cNvSpPr/>
          <p:nvPr/>
        </p:nvSpPr>
        <p:spPr>
          <a:xfrm>
            <a:off x="457200" y="5029200"/>
            <a:ext cx="11247120" cy="10515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94360" y="5074920"/>
            <a:ext cx="10972800" cy="960120"/>
          </a:xfrm>
          <a:prstGeom prst="rect">
            <a:avLst/>
          </a:prstGeom>
          <a:noFill/>
        </p:spPr>
        <p:txBody>
          <a:bodyPr wrap="square" anchor="ctr" lIns="45720" rIns="45720" tIns="27432" bIns="27432">
            <a:spAutoFit/>
          </a:bodyPr>
          <a:lstStyle/>
          <a:p>
            <a:pPr algn="l">
              <a:lnSpc>
                <a:spcPct val="105000"/>
              </a:lnSpc>
              <a:spcAft>
                <a:spcPts val="300"/>
              </a:spcAft>
            </a:pPr>
            <a:r>
              <a:rPr sz="1500" b="0" i="0">
                <a:solidFill>
                  <a:srgbClr val="1F1F1F"/>
                </a:solidFill>
                <a:latin typeface="Arial"/>
              </a:rPr>
              <a:t>The pre-registered rule stays on record. The redesign is a disclosed amendment: the rule selects similar sites, so it cannot show the location effect.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What reviewers will require, and what is now running</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188720"/>
          <a:ext cx="11247119" cy="3200400"/>
        </p:xfrm>
        <a:graphic>
          <a:graphicData uri="http://schemas.openxmlformats.org/drawingml/2006/table">
            <a:tbl>
              <a:tblPr firstRow="1" bandRow="1">
                <a:tableStyleId>{5C22544A-7EE6-4342-B048-85BDC9FD1C3A}</a:tableStyleId>
              </a:tblPr>
              <a:tblGrid>
                <a:gridCol w="320039"/>
                <a:gridCol w="4572000"/>
                <a:gridCol w="3291840"/>
                <a:gridCol w="1325880"/>
                <a:gridCol w="1737360"/>
              </a:tblGrid>
              <a:tr h="457200">
                <a:tc>
                  <a:txBody>
                    <a:bodyPr wrap="square"/>
                    <a:lstStyle/>
                    <a:p>
                      <a:r>
                        <a:rPr sz="1100" b="1" i="0">
                          <a:solidFill>
                            <a:srgbClr val="1F1F1F"/>
                          </a:solidFill>
                          <a:latin typeface="Arial"/>
                        </a:rPr>
                        <a:t>#</a:t>
                      </a:r>
                    </a:p>
                  </a:txBody>
                  <a:tcPr marL="54864" marR="54864" marT="27432" marB="27432">
                    <a:solidFill>
                      <a:srgbClr val="DCE3EE"/>
                    </a:solidFill>
                  </a:tcPr>
                </a:tc>
                <a:tc>
                  <a:txBody>
                    <a:bodyPr wrap="square"/>
                    <a:lstStyle/>
                    <a:p>
                      <a:r>
                        <a:rPr sz="1100" b="1" i="0">
                          <a:solidFill>
                            <a:srgbClr val="1F1F1F"/>
                          </a:solidFill>
                          <a:latin typeface="Arial"/>
                        </a:rPr>
                        <a:t>Requirement</a:t>
                      </a:r>
                    </a:p>
                  </a:txBody>
                  <a:tcPr marL="54864" marR="54864" marT="27432" marB="27432">
                    <a:solidFill>
                      <a:srgbClr val="DCE3EE"/>
                    </a:solidFill>
                  </a:tcPr>
                </a:tc>
                <a:tc>
                  <a:txBody>
                    <a:bodyPr wrap="square"/>
                    <a:lstStyle/>
                    <a:p>
                      <a:r>
                        <a:rPr sz="1100" b="1" i="0">
                          <a:solidFill>
                            <a:srgbClr val="1F1F1F"/>
                          </a:solidFill>
                          <a:latin typeface="Arial"/>
                        </a:rPr>
                        <a:t>Why</a:t>
                      </a:r>
                    </a:p>
                  </a:txBody>
                  <a:tcPr marL="54864" marR="54864" marT="27432" marB="27432">
                    <a:solidFill>
                      <a:srgbClr val="DCE3EE"/>
                    </a:solidFill>
                  </a:tcPr>
                </a:tc>
                <a:tc>
                  <a:txBody>
                    <a:bodyPr wrap="square"/>
                    <a:lstStyle/>
                    <a:p>
                      <a:r>
                        <a:rPr sz="1100" b="1" i="0">
                          <a:solidFill>
                            <a:srgbClr val="1F1F1F"/>
                          </a:solidFill>
                          <a:latin typeface="Arial"/>
                        </a:rPr>
                        <a:t>Cost</a:t>
                      </a:r>
                    </a:p>
                  </a:txBody>
                  <a:tcPr marL="54864" marR="54864" marT="27432" marB="27432">
                    <a:solidFill>
                      <a:srgbClr val="DCE3EE"/>
                    </a:solidFill>
                  </a:tcPr>
                </a:tc>
                <a:tc>
                  <a:txBody>
                    <a:bodyPr wrap="square"/>
                    <a:lstStyle/>
                    <a:p>
                      <a:r>
                        <a:rPr sz="1100" b="1" i="0">
                          <a:solidFill>
                            <a:srgbClr val="1F1F1F"/>
                          </a:solidFill>
                          <a:latin typeface="Arial"/>
                        </a:rPr>
                        <a:t>Status 10-13</a:t>
                      </a:r>
                    </a:p>
                  </a:txBody>
                  <a:tcPr marL="54864" marR="54864" marT="27432" marB="27432">
                    <a:solidFill>
                      <a:srgbClr val="DCE3EE"/>
                    </a:solidFill>
                  </a:tcPr>
                </a:tc>
              </a:tr>
              <a:tr h="457200">
                <a:tc>
                  <a:txBody>
                    <a:bodyPr wrap="square"/>
                    <a:lstStyle/>
                    <a:p>
                      <a:r>
                        <a:rPr sz="1100" b="0" i="0">
                          <a:solidFill>
                            <a:srgbClr val="1F1F1F"/>
                          </a:solidFill>
                          <a:latin typeface="Arial"/>
                        </a:rPr>
                        <a:t>1</a:t>
                      </a:r>
                    </a:p>
                  </a:txBody>
                  <a:tcPr marL="54864" marR="54864" marT="27432" marB="27432">
                    <a:solidFill>
                      <a:srgbClr val="FFFFFF"/>
                    </a:solidFill>
                  </a:tcPr>
                </a:tc>
                <a:tc>
                  <a:txBody>
                    <a:bodyPr wrap="square"/>
                    <a:lstStyle/>
                    <a:p>
                      <a:r>
                        <a:rPr sz="1100" b="0" i="0">
                          <a:solidFill>
                            <a:srgbClr val="1F1F1F"/>
                          </a:solidFill>
                          <a:latin typeface="Arial"/>
                        </a:rPr>
                        <a:t>Stop-rule validation: early/late-stop rates and regret at stop on truth-known problems (replay, synthetic functions, GP emulator of Stage 2); compare with existing BO stop rules</a:t>
                      </a:r>
                    </a:p>
                  </a:txBody>
                  <a:tcPr marL="54864" marR="54864" marT="27432" marB="27432">
                    <a:solidFill>
                      <a:srgbClr val="FFFFFF"/>
                    </a:solidFill>
                  </a:tcPr>
                </a:tc>
                <a:tc>
                  <a:txBody>
                    <a:bodyPr wrap="square"/>
                    <a:lstStyle/>
                    <a:p>
                      <a:r>
                        <a:rPr sz="1100" b="0" i="0">
                          <a:solidFill>
                            <a:srgbClr val="1F1F1F"/>
                          </a:solidFill>
                          <a:latin typeface="Arial"/>
                        </a:rPr>
                        <a:t>The stop rule is the most novel part of the workflow; today it has no operating characteristic</a:t>
                      </a:r>
                    </a:p>
                  </a:txBody>
                  <a:tcPr marL="54864" marR="54864" marT="27432" marB="27432">
                    <a:solidFill>
                      <a:srgbClr val="FFFFFF"/>
                    </a:solidFill>
                  </a:tcPr>
                </a:tc>
                <a:tc>
                  <a:txBody>
                    <a:bodyPr wrap="square"/>
                    <a:lstStyle/>
                    <a:p>
                      <a:r>
                        <a:rPr sz="1100" b="0" i="0">
                          <a:solidFill>
                            <a:srgbClr val="1F1F1F"/>
                          </a:solidFill>
                          <a:latin typeface="Arial"/>
                        </a:rPr>
                        <a:t>0 PCM runs</a:t>
                      </a:r>
                    </a:p>
                  </a:txBody>
                  <a:tcPr marL="54864" marR="54864" marT="27432" marB="27432">
                    <a:solidFill>
                      <a:srgbClr val="FFFFFF"/>
                    </a:solidFill>
                  </a:tcPr>
                </a:tc>
                <a:tc>
                  <a:txBody>
                    <a:bodyPr wrap="square"/>
                    <a:lstStyle/>
                    <a:p>
                      <a:r>
                        <a:rPr sz="1100" b="0" i="0">
                          <a:solidFill>
                            <a:srgbClr val="1F1F1F"/>
                          </a:solidFill>
                          <a:latin typeface="Arial"/>
                        </a:rPr>
                        <a:t>running (37)</a:t>
                      </a:r>
                    </a:p>
                  </a:txBody>
                  <a:tcPr marL="54864" marR="54864" marT="27432" marB="27432">
                    <a:solidFill>
                      <a:srgbClr val="FFFFFF"/>
                    </a:solidFill>
                  </a:tcPr>
                </a:tc>
              </a:tr>
              <a:tr h="457200">
                <a:tc>
                  <a:txBody>
                    <a:bodyPr wrap="square"/>
                    <a:lstStyle/>
                    <a:p>
                      <a:r>
                        <a:rPr sz="1100" b="0" i="0">
                          <a:solidFill>
                            <a:srgbClr val="1F1F1F"/>
                          </a:solidFill>
                          <a:latin typeface="Arial"/>
                        </a:rPr>
                        <a:t>2</a:t>
                      </a:r>
                    </a:p>
                  </a:txBody>
                  <a:tcPr marL="54864" marR="54864" marT="27432" marB="27432">
                    <a:solidFill>
                      <a:srgbClr val="F6F6F6"/>
                    </a:solidFill>
                  </a:tcPr>
                </a:tc>
                <a:tc>
                  <a:txBody>
                    <a:bodyPr wrap="square"/>
                    <a:lstStyle/>
                    <a:p>
                      <a:r>
                        <a:rPr sz="1100" b="0" i="0">
                          <a:solidFill>
                            <a:srgbClr val="1F1F1F"/>
                          </a:solidFill>
                          <a:latin typeface="Arial"/>
                        </a:rPr>
                        <a:t>Fixed-budget comparison: every arm to 32 + 4×8; apply the stop rule post hoc to the same trajectories</a:t>
                      </a:r>
                    </a:p>
                  </a:txBody>
                  <a:tcPr marL="54864" marR="54864" marT="27432" marB="27432">
                    <a:solidFill>
                      <a:srgbClr val="F6F6F6"/>
                    </a:solidFill>
                  </a:tcPr>
                </a:tc>
                <a:tc>
                  <a:txBody>
                    <a:bodyPr wrap="square"/>
                    <a:lstStyle/>
                    <a:p>
                      <a:r>
                        <a:rPr sz="1100" b="0" i="0">
                          <a:solidFill>
                            <a:srgbClr val="1F1F1F"/>
                          </a:solidFill>
                          <a:latin typeface="Arial"/>
                        </a:rPr>
                        <a:t>BO stops on its own rule, baselines have none — budgets differ</a:t>
                      </a:r>
                    </a:p>
                  </a:txBody>
                  <a:tcPr marL="54864" marR="54864" marT="27432" marB="27432">
                    <a:solidFill>
                      <a:srgbClr val="F6F6F6"/>
                    </a:solidFill>
                  </a:tcPr>
                </a:tc>
                <a:tc>
                  <a:txBody>
                    <a:bodyPr wrap="square"/>
                    <a:lstStyle/>
                    <a:p>
                      <a:r>
                        <a:rPr sz="1100" b="0" i="0">
                          <a:solidFill>
                            <a:srgbClr val="1F1F1F"/>
                          </a:solidFill>
                          <a:latin typeface="Arial"/>
                        </a:rPr>
                        <a:t>seed 1: +16 runs</a:t>
                      </a:r>
                    </a:p>
                  </a:txBody>
                  <a:tcPr marL="54864" marR="54864" marT="27432" marB="27432">
                    <a:solidFill>
                      <a:srgbClr val="F6F6F6"/>
                    </a:solidFill>
                  </a:tcPr>
                </a:tc>
                <a:tc>
                  <a:txBody>
                    <a:bodyPr wrap="square"/>
                    <a:lstStyle/>
                    <a:p>
                      <a:r>
                        <a:rPr sz="1100" b="0" i="0">
                          <a:solidFill>
                            <a:srgbClr val="1F1F1F"/>
                          </a:solidFill>
                          <a:latin typeface="Arial"/>
                        </a:rPr>
                        <a:t>running (35)</a:t>
                      </a:r>
                    </a:p>
                  </a:txBody>
                  <a:tcPr marL="54864" marR="54864" marT="27432" marB="27432">
                    <a:solidFill>
                      <a:srgbClr val="F6F6F6"/>
                    </a:solidFill>
                  </a:tcPr>
                </a:tc>
              </a:tr>
              <a:tr h="457200">
                <a:tc>
                  <a:txBody>
                    <a:bodyPr wrap="square"/>
                    <a:lstStyle/>
                    <a:p>
                      <a:r>
                        <a:rPr sz="1100" b="0" i="0">
                          <a:solidFill>
                            <a:srgbClr val="1F1F1F"/>
                          </a:solidFill>
                          <a:latin typeface="Arial"/>
                        </a:rPr>
                        <a:t>3</a:t>
                      </a:r>
                    </a:p>
                  </a:txBody>
                  <a:tcPr marL="54864" marR="54864" marT="27432" marB="27432">
                    <a:solidFill>
                      <a:srgbClr val="FFFFFF"/>
                    </a:solidFill>
                  </a:tcPr>
                </a:tc>
                <a:tc>
                  <a:txBody>
                    <a:bodyPr wrap="square"/>
                    <a:lstStyle/>
                    <a:p>
                      <a:r>
                        <a:rPr sz="1100" b="0" i="0">
                          <a:solidFill>
                            <a:srgbClr val="1F1F1F"/>
                          </a:solidFill>
                          <a:latin typeface="Arial"/>
                        </a:rPr>
                        <a:t>q-ParEGO ≥ 3 replicates, ≥ 2 with NEW starts; qNEHVI ≥ 3 seeds paired by start set</a:t>
                      </a:r>
                    </a:p>
                  </a:txBody>
                  <a:tcPr marL="54864" marR="54864" marT="27432" marB="27432">
                    <a:solidFill>
                      <a:srgbClr val="FFFFFF"/>
                    </a:solidFill>
                  </a:tcPr>
                </a:tc>
                <a:tc>
                  <a:txBody>
                    <a:bodyPr wrap="square"/>
                    <a:lstStyle/>
                    <a:p>
                      <a:r>
                        <a:rPr sz="1100" b="0" i="0">
                          <a:solidFill>
                            <a:srgbClr val="1F1F1F"/>
                          </a:solidFill>
                          <a:latin typeface="Arial"/>
                        </a:rPr>
                        <a:t>Acquisition-only seeds share 2/3 of the data and understate variance; qNEHVI is the comparator reviewers expect</a:t>
                      </a:r>
                    </a:p>
                  </a:txBody>
                  <a:tcPr marL="54864" marR="54864" marT="27432" marB="27432">
                    <a:solidFill>
                      <a:srgbClr val="FFFFFF"/>
                    </a:solidFill>
                  </a:tcPr>
                </a:tc>
                <a:tc>
                  <a:txBody>
                    <a:bodyPr wrap="square"/>
                    <a:lstStyle/>
                    <a:p>
                      <a:r>
                        <a:rPr sz="1100" b="0" i="0">
                          <a:solidFill>
                            <a:srgbClr val="1F1F1F"/>
                          </a:solidFill>
                          <a:latin typeface="Arial"/>
                        </a:rPr>
                        <a:t>≈ 3–4k core-h at C</a:t>
                      </a:r>
                    </a:p>
                  </a:txBody>
                  <a:tcPr marL="54864" marR="54864" marT="27432" marB="27432">
                    <a:solidFill>
                      <a:srgbClr val="FFFFFF"/>
                    </a:solidFill>
                  </a:tcPr>
                </a:tc>
                <a:tc>
                  <a:txBody>
                    <a:bodyPr wrap="square"/>
                    <a:lstStyle/>
                    <a:p>
                      <a:r>
                        <a:rPr sz="1100" b="0" i="0">
                          <a:solidFill>
                            <a:srgbClr val="1F1F1F"/>
                          </a:solidFill>
                          <a:latin typeface="Arial"/>
                        </a:rPr>
                        <a:t>partly running (2 new start sets, 1 qNEHVI seed)</a:t>
                      </a:r>
                    </a:p>
                  </a:txBody>
                  <a:tcPr marL="54864" marR="54864" marT="27432" marB="27432">
                    <a:solidFill>
                      <a:srgbClr val="FFFFFF"/>
                    </a:solidFill>
                  </a:tcPr>
                </a:tc>
              </a:tr>
              <a:tr h="457200">
                <a:tc>
                  <a:txBody>
                    <a:bodyPr wrap="square"/>
                    <a:lstStyle/>
                    <a:p>
                      <a:r>
                        <a:rPr sz="1100" b="0" i="0">
                          <a:solidFill>
                            <a:srgbClr val="1F1F1F"/>
                          </a:solidFill>
                          <a:latin typeface="Arial"/>
                        </a:rPr>
                        <a:t>4</a:t>
                      </a:r>
                    </a:p>
                  </a:txBody>
                  <a:tcPr marL="54864" marR="54864" marT="27432" marB="27432">
                    <a:solidFill>
                      <a:srgbClr val="F6F6F6"/>
                    </a:solidFill>
                  </a:tcPr>
                </a:tc>
                <a:tc>
                  <a:txBody>
                    <a:bodyPr wrap="square"/>
                    <a:lstStyle/>
                    <a:p>
                      <a:r>
                        <a:rPr sz="1100" b="0" i="0">
                          <a:solidFill>
                            <a:srgbClr val="1F1F1F"/>
                          </a:solidFill>
                          <a:latin typeface="Arial"/>
                        </a:rPr>
                        <a:t>Scenarios A and B as extra problem instances (cheapest: q-ParEGO + random)</a:t>
                      </a:r>
                    </a:p>
                  </a:txBody>
                  <a:tcPr marL="54864" marR="54864" marT="27432" marB="27432">
                    <a:solidFill>
                      <a:srgbClr val="F6F6F6"/>
                    </a:solidFill>
                  </a:tcPr>
                </a:tc>
                <a:tc>
                  <a:txBody>
                    <a:bodyPr wrap="square"/>
                    <a:lstStyle/>
                    <a:p>
                      <a:r>
                        <a:rPr sz="1100" b="0" i="0">
                          <a:solidFill>
                            <a:srgbClr val="1F1F1F"/>
                          </a:solidFill>
                          <a:latin typeface="Arial"/>
                        </a:rPr>
                        <a:t>One instance = a case study, not a methods result</a:t>
                      </a:r>
                    </a:p>
                  </a:txBody>
                  <a:tcPr marL="54864" marR="54864" marT="27432" marB="27432">
                    <a:solidFill>
                      <a:srgbClr val="F6F6F6"/>
                    </a:solidFill>
                  </a:tcPr>
                </a:tc>
                <a:tc>
                  <a:txBody>
                    <a:bodyPr wrap="square"/>
                    <a:lstStyle/>
                    <a:p>
                      <a:r>
                        <a:rPr sz="1100" b="0" i="0">
                          <a:solidFill>
                            <a:srgbClr val="1F1F1F"/>
                          </a:solidFill>
                          <a:latin typeface="Arial"/>
                        </a:rPr>
                        <a:t>≈ 1–5k core-h each</a:t>
                      </a:r>
                    </a:p>
                  </a:txBody>
                  <a:tcPr marL="54864" marR="54864" marT="27432" marB="27432">
                    <a:solidFill>
                      <a:srgbClr val="F6F6F6"/>
                    </a:solidFill>
                  </a:tcPr>
                </a:tc>
                <a:tc>
                  <a:txBody>
                    <a:bodyPr wrap="square"/>
                    <a:lstStyle/>
                    <a:p>
                      <a:r>
                        <a:rPr sz="1100" b="0" i="0">
                          <a:solidFill>
                            <a:srgbClr val="1F1F1F"/>
                          </a:solidFill>
                          <a:latin typeface="Arial"/>
                        </a:rPr>
                        <a:t>no prompt (decision)</a:t>
                      </a:r>
                    </a:p>
                  </a:txBody>
                  <a:tcPr marL="54864" marR="54864" marT="27432" marB="27432">
                    <a:solidFill>
                      <a:srgbClr val="F6F6F6"/>
                    </a:solidFill>
                  </a:tcPr>
                </a:tc>
              </a:tr>
              <a:tr h="457200">
                <a:tc>
                  <a:txBody>
                    <a:bodyPr wrap="square"/>
                    <a:lstStyle/>
                    <a:p>
                      <a:r>
                        <a:rPr sz="1100" b="0" i="0">
                          <a:solidFill>
                            <a:srgbClr val="1F1F1F"/>
                          </a:solidFill>
                          <a:latin typeface="Arial"/>
                        </a:rPr>
                        <a:t>5</a:t>
                      </a:r>
                    </a:p>
                  </a:txBody>
                  <a:tcPr marL="54864" marR="54864" marT="27432" marB="27432">
                    <a:solidFill>
                      <a:srgbClr val="FFFFFF"/>
                    </a:solidFill>
                  </a:tcPr>
                </a:tc>
                <a:tc>
                  <a:txBody>
                    <a:bodyPr wrap="square"/>
                    <a:lstStyle/>
                    <a:p>
                      <a:r>
                        <a:rPr sz="1100" b="0" i="0">
                          <a:solidFill>
                            <a:srgbClr val="1F1F1F"/>
                          </a:solidFill>
                          <a:latin typeface="Arial"/>
                        </a:rPr>
                        <a:t>D3 noise floors + a floor-robust metric, pre-registered before new runs</a:t>
                      </a:r>
                    </a:p>
                  </a:txBody>
                  <a:tcPr marL="54864" marR="54864" marT="27432" marB="27432">
                    <a:solidFill>
                      <a:srgbClr val="FFFFFF"/>
                    </a:solidFill>
                  </a:tcPr>
                </a:tc>
                <a:tc>
                  <a:txBody>
                    <a:bodyPr wrap="square"/>
                    <a:lstStyle/>
                    <a:p>
                      <a:r>
                        <a:rPr sz="1100" b="0" i="0">
                          <a:solidFill>
                            <a:srgbClr val="1F1F1F"/>
                          </a:solidFill>
                          <a:latin typeface="Arial"/>
                        </a:rPr>
                        <a:t>Today's differences sit below the floor</a:t>
                      </a:r>
                    </a:p>
                  </a:txBody>
                  <a:tcPr marL="54864" marR="54864" marT="27432" marB="27432">
                    <a:solidFill>
                      <a:srgbClr val="FFFFFF"/>
                    </a:solidFill>
                  </a:tcPr>
                </a:tc>
                <a:tc>
                  <a:txBody>
                    <a:bodyPr wrap="square"/>
                    <a:lstStyle/>
                    <a:p>
                      <a:r>
                        <a:rPr sz="1100" b="0" i="0">
                          <a:solidFill>
                            <a:srgbClr val="1F1F1F"/>
                          </a:solidFill>
                          <a:latin typeface="Arial"/>
                        </a:rPr>
                        <a:t>spec first</a:t>
                      </a:r>
                    </a:p>
                  </a:txBody>
                  <a:tcPr marL="54864" marR="54864" marT="27432" marB="27432">
                    <a:solidFill>
                      <a:srgbClr val="FFFFFF"/>
                    </a:solidFill>
                  </a:tcPr>
                </a:tc>
                <a:tc>
                  <a:txBody>
                    <a:bodyPr wrap="square"/>
                    <a:lstStyle/>
                    <a:p>
                      <a:r>
                        <a:rPr sz="1100" b="0" i="0">
                          <a:solidFill>
                            <a:srgbClr val="1F1F1F"/>
                          </a:solidFill>
                          <a:latin typeface="Arial"/>
                        </a:rPr>
                        <a:t>spec only</a:t>
                      </a:r>
                    </a:p>
                  </a:txBody>
                  <a:tcPr marL="54864" marR="54864" marT="27432" marB="27432">
                    <a:solidFill>
                      <a:srgbClr val="FFFFFF"/>
                    </a:solidFill>
                  </a:tcPr>
                </a:tc>
              </a:tr>
              <a:tr h="457200">
                <a:tc>
                  <a:txBody>
                    <a:bodyPr wrap="square"/>
                    <a:lstStyle/>
                    <a:p>
                      <a:r>
                        <a:rPr sz="1100" b="0" i="0">
                          <a:solidFill>
                            <a:srgbClr val="1F1F1F"/>
                          </a:solidFill>
                          <a:latin typeface="Arial"/>
                        </a:rPr>
                        <a:t>6</a:t>
                      </a:r>
                    </a:p>
                  </a:txBody>
                  <a:tcPr marL="54864" marR="54864" marT="27432" marB="27432">
                    <a:solidFill>
                      <a:srgbClr val="F6F6F6"/>
                    </a:solidFill>
                  </a:tcPr>
                </a:tc>
                <a:tc>
                  <a:txBody>
                    <a:bodyPr wrap="square"/>
                    <a:lstStyle/>
                    <a:p>
                      <a:r>
                        <a:rPr sz="1100" b="0" i="0">
                          <a:solidFill>
                            <a:srgbClr val="1F1F1F"/>
                          </a:solidFill>
                          <a:latin typeface="Arial"/>
                        </a:rPr>
                        <a:t>Emulator benchmark (≥ 20 seeds per method); calibration audit with a decision role</a:t>
                      </a:r>
                    </a:p>
                  </a:txBody>
                  <a:tcPr marL="54864" marR="54864" marT="27432" marB="27432">
                    <a:solidFill>
                      <a:srgbClr val="F6F6F6"/>
                    </a:solidFill>
                  </a:tcPr>
                </a:tc>
                <a:tc>
                  <a:txBody>
                    <a:bodyPr wrap="square"/>
                    <a:lstStyle/>
                    <a:p>
                      <a:r>
                        <a:rPr sz="1100" b="0" i="0">
                          <a:solidFill>
                            <a:srgbClr val="1F1F1F"/>
                          </a:solidFill>
                          <a:latin typeface="Arial"/>
                        </a:rPr>
                        <a:t>Cheap method-level statistics; the audit failed 2 of 3 objectives with no consequence</a:t>
                      </a:r>
                    </a:p>
                  </a:txBody>
                  <a:tcPr marL="54864" marR="54864" marT="27432" marB="27432">
                    <a:solidFill>
                      <a:srgbClr val="F6F6F6"/>
                    </a:solidFill>
                  </a:tcPr>
                </a:tc>
                <a:tc>
                  <a:txBody>
                    <a:bodyPr wrap="square"/>
                    <a:lstStyle/>
                    <a:p>
                      <a:r>
                        <a:rPr sz="1100" b="0" i="0">
                          <a:solidFill>
                            <a:srgbClr val="1F1F1F"/>
                          </a:solidFill>
                          <a:latin typeface="Arial"/>
                        </a:rPr>
                        <a:t>0 PCM runs</a:t>
                      </a:r>
                    </a:p>
                  </a:txBody>
                  <a:tcPr marL="54864" marR="54864" marT="27432" marB="27432">
                    <a:solidFill>
                      <a:srgbClr val="F6F6F6"/>
                    </a:solidFill>
                  </a:tcPr>
                </a:tc>
                <a:tc>
                  <a:txBody>
                    <a:bodyPr wrap="square"/>
                    <a:lstStyle/>
                    <a:p>
                      <a:r>
                        <a:rPr sz="1100" b="0" i="0">
                          <a:solidFill>
                            <a:srgbClr val="1F1F1F"/>
                          </a:solidFill>
                          <a:latin typeface="Arial"/>
                        </a:rPr>
                        <a:t>running (37)</a:t>
                      </a:r>
                    </a:p>
                  </a:txBody>
                  <a:tcPr marL="54864" marR="54864" marT="27432" marB="27432">
                    <a:solidFill>
                      <a:srgbClr val="F6F6F6"/>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AIChE: one message, five figures, a fallback</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34440"/>
            <a:ext cx="11247120" cy="114300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280160"/>
            <a:ext cx="10972800" cy="1051560"/>
          </a:xfrm>
          <a:prstGeom prst="rect">
            <a:avLst/>
          </a:prstGeom>
          <a:noFill/>
        </p:spPr>
        <p:txBody>
          <a:bodyPr wrap="square" anchor="ctr" lIns="45720" rIns="45720" tIns="27432" bIns="27432">
            <a:spAutoFit/>
          </a:bodyPr>
          <a:lstStyle/>
          <a:p>
            <a:pPr algn="l">
              <a:lnSpc>
                <a:spcPct val="105000"/>
              </a:lnSpc>
              <a:spcAft>
                <a:spcPts val="300"/>
              </a:spcAft>
            </a:pPr>
            <a:r>
              <a:rPr sz="1400" b="1" i="0">
                <a:solidFill>
                  <a:srgbClr val="0C2340"/>
                </a:solidFill>
                <a:latin typeface="Arial"/>
              </a:rPr>
              <a:t>Message</a:t>
            </a:r>
          </a:p>
          <a:p>
            <a:pPr algn="l">
              <a:lnSpc>
                <a:spcPct val="105000"/>
              </a:lnSpc>
              <a:spcAft>
                <a:spcPts val="300"/>
              </a:spcAft>
            </a:pPr>
            <a:r>
              <a:rPr sz="1400" b="0" i="0">
                <a:solidFill>
                  <a:srgbClr val="1F1F1F"/>
                </a:solidFill>
                <a:latin typeface="Arial"/>
              </a:rPr>
              <a:t>"An electrolyzer's grid value depends on where it sits: at congested wind buses it avoids about 0.6 MWh of curtailment per MWh of hydrogen; at solar or nuclear sites it avoids less at higher cost. Multi-objective BO maps these trade-offs in tens of production-cost runs."</a:t>
            </a:r>
          </a:p>
        </p:txBody>
      </p:sp>
      <p:sp>
        <p:nvSpPr>
          <p:cNvPr id="7" name="TextBox 6"/>
          <p:cNvSpPr txBox="1"/>
          <p:nvPr/>
        </p:nvSpPr>
        <p:spPr>
          <a:xfrm>
            <a:off x="457200" y="2514600"/>
            <a:ext cx="5486400" cy="365760"/>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0C2340"/>
                </a:solidFill>
                <a:latin typeface="Arial"/>
              </a:rPr>
              <a:t>Five figures</a:t>
            </a:r>
          </a:p>
        </p:txBody>
      </p:sp>
      <p:sp>
        <p:nvSpPr>
          <p:cNvPr id="8" name="TextBox 7"/>
          <p:cNvSpPr txBox="1"/>
          <p:nvPr/>
        </p:nvSpPr>
        <p:spPr>
          <a:xfrm>
            <a:off x="457200" y="2880360"/>
            <a:ext cx="5486400" cy="2377440"/>
          </a:xfrm>
          <a:prstGeom prst="rect">
            <a:avLst/>
          </a:prstGeom>
          <a:noFill/>
        </p:spPr>
        <p:txBody>
          <a:bodyPr wrap="square" anchor="t" lIns="45720" rIns="45720" tIns="27432" bIns="27432">
            <a:spAutoFit/>
          </a:bodyPr>
          <a:lstStyle/>
          <a:p>
            <a:pPr algn="l">
              <a:lnSpc>
                <a:spcPct val="105000"/>
              </a:lnSpc>
              <a:spcAft>
                <a:spcPts val="500"/>
              </a:spcAft>
            </a:pPr>
            <a:r>
              <a:rPr sz="1300" b="0" i="0">
                <a:solidFill>
                  <a:srgbClr val="1F1F1F"/>
                </a:solidFill>
                <a:latin typeface="Arial"/>
              </a:rPr>
              <a:t>•  (1) PEM-model schematic (slide 5).</a:t>
            </a:r>
          </a:p>
          <a:p>
            <a:pPr algn="l">
              <a:lnSpc>
                <a:spcPct val="105000"/>
              </a:lnSpc>
              <a:spcAft>
                <a:spcPts val="500"/>
              </a:spcAft>
            </a:pPr>
            <a:r>
              <a:rPr sz="1300" b="0" i="0">
                <a:solidFill>
                  <a:srgbClr val="1F1F1F"/>
                </a:solidFill>
                <a:latin typeface="Arial"/>
              </a:rPr>
              <a:t>•  (2) RTS 96-design front (backup B3).</a:t>
            </a:r>
          </a:p>
          <a:p>
            <a:pPr algn="l">
              <a:lnSpc>
                <a:spcPct val="105000"/>
              </a:lnSpc>
              <a:spcAft>
                <a:spcPts val="500"/>
              </a:spcAft>
            </a:pPr>
            <a:r>
              <a:rPr sz="1300" b="0" i="0">
                <a:solidFill>
                  <a:srgbClr val="1F1F1F"/>
                </a:solidFill>
                <a:latin typeface="Arial"/>
              </a:rPr>
              <a:t>•  (3) RTS knee composition (slide 13).</a:t>
            </a:r>
          </a:p>
          <a:p>
            <a:pPr algn="l">
              <a:lnSpc>
                <a:spcPct val="105000"/>
              </a:lnSpc>
              <a:spcAft>
                <a:spcPts val="500"/>
              </a:spcAft>
            </a:pPr>
            <a:r>
              <a:rPr sz="1300" b="0" i="0">
                <a:solidFill>
                  <a:srgbClr val="1F1F1F"/>
                </a:solidFill>
                <a:latin typeface="Arial"/>
              </a:rPr>
              <a:t>•  (4) ERCOT relief/MW and Δcurt/H2 for all 16 sites + nuclear.</a:t>
            </a:r>
          </a:p>
          <a:p>
            <a:pPr algn="l">
              <a:lnSpc>
                <a:spcPct val="105000"/>
              </a:lnSpc>
              <a:spcAft>
                <a:spcPts val="500"/>
              </a:spcAft>
            </a:pPr>
            <a:r>
              <a:rPr sz="1300" b="0" i="0">
                <a:solidFill>
                  <a:srgbClr val="1F1F1F"/>
                </a:solidFill>
                <a:latin typeface="Arial"/>
              </a:rPr>
              <a:t>•  (5) ERCOT size response with the placebo band.</a:t>
            </a:r>
          </a:p>
        </p:txBody>
      </p:sp>
      <p:sp>
        <p:nvSpPr>
          <p:cNvPr id="9" name="TextBox 8"/>
          <p:cNvSpPr txBox="1"/>
          <p:nvPr/>
        </p:nvSpPr>
        <p:spPr>
          <a:xfrm>
            <a:off x="6217920" y="2514600"/>
            <a:ext cx="5486400" cy="365760"/>
          </a:xfrm>
          <a:prstGeom prst="rect">
            <a:avLst/>
          </a:prstGeom>
          <a:noFill/>
        </p:spPr>
        <p:txBody>
          <a:bodyPr wrap="square" anchor="t" lIns="45720" rIns="45720" tIns="27432" bIns="27432">
            <a:spAutoFit/>
          </a:bodyPr>
          <a:lstStyle/>
          <a:p>
            <a:pPr algn="l">
              <a:lnSpc>
                <a:spcPct val="105000"/>
              </a:lnSpc>
              <a:spcAft>
                <a:spcPts val="400"/>
              </a:spcAft>
            </a:pPr>
            <a:r>
              <a:rPr sz="1600" b="1" i="0">
                <a:solidFill>
                  <a:srgbClr val="0C2340"/>
                </a:solidFill>
                <a:latin typeface="Arial"/>
              </a:rPr>
              <a:t>Calendar</a:t>
            </a:r>
          </a:p>
        </p:txBody>
      </p:sp>
      <p:graphicFrame>
        <p:nvGraphicFramePr>
          <p:cNvPr id="10" name="Table 9"/>
          <p:cNvGraphicFramePr>
            <a:graphicFrameLocks noGrp="1"/>
          </p:cNvGraphicFramePr>
          <p:nvPr/>
        </p:nvGraphicFramePr>
        <p:xfrm>
          <a:off x="6217920" y="2880360"/>
          <a:ext cx="5486400" cy="1828800"/>
        </p:xfrm>
        <a:graphic>
          <a:graphicData uri="http://schemas.openxmlformats.org/drawingml/2006/table">
            <a:tbl>
              <a:tblPr firstRow="1" bandRow="1">
                <a:tableStyleId>{5C22544A-7EE6-4342-B048-85BDC9FD1C3A}</a:tableStyleId>
              </a:tblPr>
              <a:tblGrid>
                <a:gridCol w="1371600"/>
                <a:gridCol w="4114800"/>
              </a:tblGrid>
              <a:tr h="365760">
                <a:tc>
                  <a:txBody>
                    <a:bodyPr wrap="square"/>
                    <a:lstStyle/>
                    <a:p>
                      <a:r>
                        <a:rPr sz="1200" b="1" i="0">
                          <a:solidFill>
                            <a:srgbClr val="1F1F1F"/>
                          </a:solidFill>
                          <a:latin typeface="Arial"/>
                        </a:rPr>
                        <a:t>Dates</a:t>
                      </a:r>
                    </a:p>
                  </a:txBody>
                  <a:tcPr marL="54864" marR="54864" marT="27432" marB="27432">
                    <a:solidFill>
                      <a:srgbClr val="DCE3EE"/>
                    </a:solidFill>
                  </a:tcPr>
                </a:tc>
                <a:tc>
                  <a:txBody>
                    <a:bodyPr wrap="square"/>
                    <a:lstStyle/>
                    <a:p>
                      <a:r>
                        <a:rPr sz="1200" b="1" i="0">
                          <a:solidFill>
                            <a:srgbClr val="1F1F1F"/>
                          </a:solidFill>
                          <a:latin typeface="Arial"/>
                        </a:rPr>
                        <a:t>Work</a:t>
                      </a:r>
                    </a:p>
                  </a:txBody>
                  <a:tcPr marL="54864" marR="54864" marT="27432" marB="27432">
                    <a:solidFill>
                      <a:srgbClr val="DCE3EE"/>
                    </a:solidFill>
                  </a:tcPr>
                </a:tc>
              </a:tr>
              <a:tr h="365760">
                <a:tc>
                  <a:txBody>
                    <a:bodyPr wrap="square"/>
                    <a:lstStyle/>
                    <a:p>
                      <a:r>
                        <a:rPr sz="1200" b="0" i="0">
                          <a:solidFill>
                            <a:srgbClr val="1F1F1F"/>
                          </a:solidFill>
                          <a:latin typeface="Arial"/>
                        </a:rPr>
                        <a:t>10-13 → 10-19</a:t>
                      </a:r>
                    </a:p>
                  </a:txBody>
                  <a:tcPr marL="54864" marR="54864" marT="27432" marB="27432">
                    <a:solidFill>
                      <a:srgbClr val="FFFFFF"/>
                    </a:solidFill>
                  </a:tcPr>
                </a:tc>
                <a:tc>
                  <a:txBody>
                    <a:bodyPr wrap="square"/>
                    <a:lstStyle/>
                    <a:p>
                      <a:r>
                        <a:rPr sz="1200" b="0" i="0">
                          <a:solidFill>
                            <a:srgbClr val="1F1F1F"/>
                          </a:solidFill>
                          <a:latin typeface="Arial"/>
                        </a:rPr>
                        <a:t>35 lands; 37 lands; ERCOT C + fuel-mix check; wave D redesign submitted.</a:t>
                      </a:r>
                    </a:p>
                  </a:txBody>
                  <a:tcPr marL="54864" marR="54864" marT="27432" marB="27432">
                    <a:solidFill>
                      <a:srgbClr val="FFFFFF"/>
                    </a:solidFill>
                  </a:tcPr>
                </a:tc>
              </a:tr>
              <a:tr h="365760">
                <a:tc>
                  <a:txBody>
                    <a:bodyPr wrap="square"/>
                    <a:lstStyle/>
                    <a:p>
                      <a:r>
                        <a:rPr sz="1200" b="0" i="0">
                          <a:solidFill>
                            <a:srgbClr val="1F1F1F"/>
                          </a:solidFill>
                          <a:latin typeface="Arial"/>
                        </a:rPr>
                        <a:t>10-20 → 10-25</a:t>
                      </a:r>
                    </a:p>
                  </a:txBody>
                  <a:tcPr marL="54864" marR="54864" marT="27432" marB="27432">
                    <a:solidFill>
                      <a:srgbClr val="F6F6F6"/>
                    </a:solidFill>
                  </a:tcPr>
                </a:tc>
                <a:tc>
                  <a:txBody>
                    <a:bodyPr wrap="square"/>
                    <a:lstStyle/>
                    <a:p>
                      <a:r>
                        <a:rPr sz="1200" b="0" i="0">
                          <a:solidFill>
                            <a:srgbClr val="1F1F1F"/>
                          </a:solidFill>
                          <a:latin typeface="Arial"/>
                        </a:rPr>
                        <a:t>Wave D lands; 38 done; figures drafted.</a:t>
                      </a:r>
                    </a:p>
                  </a:txBody>
                  <a:tcPr marL="54864" marR="54864" marT="27432" marB="27432">
                    <a:solidFill>
                      <a:srgbClr val="F6F6F6"/>
                    </a:solidFill>
                  </a:tcPr>
                </a:tc>
              </a:tr>
              <a:tr h="365760">
                <a:tc>
                  <a:txBody>
                    <a:bodyPr wrap="square"/>
                    <a:lstStyle/>
                    <a:p>
                      <a:r>
                        <a:rPr sz="1200" b="0" i="0">
                          <a:solidFill>
                            <a:srgbClr val="1F1F1F"/>
                          </a:solidFill>
                          <a:latin typeface="Arial"/>
                        </a:rPr>
                        <a:t>10-26 → 11-01</a:t>
                      </a:r>
                    </a:p>
                  </a:txBody>
                  <a:tcPr marL="54864" marR="54864" marT="27432" marB="27432">
                    <a:solidFill>
                      <a:srgbClr val="FFFFFF"/>
                    </a:solidFill>
                  </a:tcPr>
                </a:tc>
                <a:tc>
                  <a:txBody>
                    <a:bodyPr wrap="square"/>
                    <a:lstStyle/>
                    <a:p>
                      <a:r>
                        <a:rPr sz="1200" b="0" i="0">
                          <a:solidFill>
                            <a:srgbClr val="1F1F1F"/>
                          </a:solidFill>
                          <a:latin typeface="Arial"/>
                        </a:rPr>
                        <a:t>Figures frozen 11-01.</a:t>
                      </a:r>
                    </a:p>
                  </a:txBody>
                  <a:tcPr marL="54864" marR="54864" marT="27432" marB="27432">
                    <a:solidFill>
                      <a:srgbClr val="FFFFFF"/>
                    </a:solidFill>
                  </a:tcPr>
                </a:tc>
              </a:tr>
              <a:tr h="365760">
                <a:tc>
                  <a:txBody>
                    <a:bodyPr wrap="square"/>
                    <a:lstStyle/>
                    <a:p>
                      <a:r>
                        <a:rPr sz="1200" b="0" i="0">
                          <a:solidFill>
                            <a:srgbClr val="1F1F1F"/>
                          </a:solidFill>
                          <a:latin typeface="Arial"/>
                        </a:rPr>
                        <a:t>11-02 → 11-08</a:t>
                      </a:r>
                    </a:p>
                  </a:txBody>
                  <a:tcPr marL="54864" marR="54864" marT="27432" marB="27432">
                    <a:solidFill>
                      <a:srgbClr val="F6F6F6"/>
                    </a:solidFill>
                  </a:tcPr>
                </a:tc>
                <a:tc>
                  <a:txBody>
                    <a:bodyPr wrap="square"/>
                    <a:lstStyle/>
                    <a:p>
                      <a:r>
                        <a:rPr sz="1200" b="0" i="0">
                          <a:solidFill>
                            <a:srgbClr val="1F1F1F"/>
                          </a:solidFill>
                          <a:latin typeface="Arial"/>
                        </a:rPr>
                        <a:t>Talk.</a:t>
                      </a:r>
                    </a:p>
                  </a:txBody>
                  <a:tcPr marL="54864" marR="54864" marT="27432" marB="27432">
                    <a:solidFill>
                      <a:srgbClr val="F6F6F6"/>
                    </a:solidFill>
                  </a:tcPr>
                </a:tc>
              </a:tr>
            </a:tbl>
          </a:graphicData>
        </a:graphic>
      </p:graphicFrame>
      <p:sp>
        <p:nvSpPr>
          <p:cNvPr id="11" name="Rounded Rectangle 10"/>
          <p:cNvSpPr/>
          <p:nvPr/>
        </p:nvSpPr>
        <p:spPr>
          <a:xfrm>
            <a:off x="457200" y="5349240"/>
            <a:ext cx="11247120" cy="86868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5394960"/>
            <a:ext cx="10972800" cy="777240"/>
          </a:xfrm>
          <a:prstGeom prst="rect">
            <a:avLst/>
          </a:prstGeom>
          <a:noFill/>
        </p:spPr>
        <p:txBody>
          <a:bodyPr wrap="square" anchor="ctr" lIns="45720" rIns="45720" tIns="27432" bIns="27432">
            <a:spAutoFit/>
          </a:bodyPr>
          <a:lstStyle/>
          <a:p>
            <a:pPr algn="l">
              <a:lnSpc>
                <a:spcPct val="105000"/>
              </a:lnSpc>
              <a:spcAft>
                <a:spcPts val="300"/>
              </a:spcAft>
            </a:pPr>
            <a:r>
              <a:rPr sz="1400" b="0" i="0">
                <a:solidFill>
                  <a:srgbClr val="1F1F1F"/>
                </a:solidFill>
                <a:latin typeface="Arial"/>
              </a:rPr>
              <a:t>Fallback: if 35 is late, figures 2–3 use the existing single run with its stated limits. If wave D is late, figure 5 is dropped.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1E8449"/>
                </a:solidFill>
                <a:latin typeface="Arial"/>
              </a:rPr>
              <a:t>Decisions today</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80160"/>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94360" y="1380744"/>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D1</a:t>
            </a:r>
          </a:p>
        </p:txBody>
      </p:sp>
      <p:sp>
        <p:nvSpPr>
          <p:cNvPr id="7" name="TextBox 6"/>
          <p:cNvSpPr txBox="1"/>
          <p:nvPr/>
        </p:nvSpPr>
        <p:spPr>
          <a:xfrm>
            <a:off x="1600200" y="1280160"/>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Sign off the N1 amendment (a, b, c on slide 16).</a:t>
            </a:r>
          </a:p>
        </p:txBody>
      </p:sp>
      <p:sp>
        <p:nvSpPr>
          <p:cNvPr id="8" name="Rounded Rectangle 7"/>
          <p:cNvSpPr/>
          <p:nvPr/>
        </p:nvSpPr>
        <p:spPr>
          <a:xfrm>
            <a:off x="457200" y="1993392"/>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94360" y="2093976"/>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D2</a:t>
            </a:r>
          </a:p>
        </p:txBody>
      </p:sp>
      <p:sp>
        <p:nvSpPr>
          <p:cNvPr id="10" name="TextBox 9"/>
          <p:cNvSpPr txBox="1"/>
          <p:nvPr/>
        </p:nvSpPr>
        <p:spPr>
          <a:xfrm>
            <a:off x="1600200" y="1993392"/>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Primary HV reference for 35: keep R_union with a written justification, or make R_frozen co-primary.</a:t>
            </a:r>
          </a:p>
        </p:txBody>
      </p:sp>
      <p:sp>
        <p:nvSpPr>
          <p:cNvPr id="11" name="Rounded Rectangle 10"/>
          <p:cNvSpPr/>
          <p:nvPr/>
        </p:nvSpPr>
        <p:spPr>
          <a:xfrm>
            <a:off x="457200" y="2706624"/>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94360" y="2807208"/>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D3</a:t>
            </a:r>
          </a:p>
        </p:txBody>
      </p:sp>
      <p:sp>
        <p:nvSpPr>
          <p:cNvPr id="13" name="TextBox 12"/>
          <p:cNvSpPr txBox="1"/>
          <p:nvPr/>
        </p:nvSpPr>
        <p:spPr>
          <a:xfrm>
            <a:off x="1600200" y="2706624"/>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Scenarios A/B before submission, or a claim stated for scenario C only.</a:t>
            </a:r>
          </a:p>
        </p:txBody>
      </p:sp>
      <p:sp>
        <p:nvSpPr>
          <p:cNvPr id="14" name="Rounded Rectangle 13"/>
          <p:cNvSpPr/>
          <p:nvPr/>
        </p:nvSpPr>
        <p:spPr>
          <a:xfrm>
            <a:off x="457200" y="3419856"/>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94360" y="3520440"/>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D4</a:t>
            </a:r>
          </a:p>
        </p:txBody>
      </p:sp>
      <p:sp>
        <p:nvSpPr>
          <p:cNvPr id="16" name="TextBox 15"/>
          <p:cNvSpPr txBox="1"/>
          <p:nvPr/>
        </p:nvSpPr>
        <p:spPr>
          <a:xfrm>
            <a:off x="1600200" y="3419856"/>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Approve the redesigned wave D (+ placebo; nuclear after the cost fix).</a:t>
            </a:r>
          </a:p>
        </p:txBody>
      </p:sp>
      <p:sp>
        <p:nvSpPr>
          <p:cNvPr id="17" name="Rounded Rectangle 16"/>
          <p:cNvSpPr/>
          <p:nvPr/>
        </p:nvSpPr>
        <p:spPr>
          <a:xfrm>
            <a:off x="457200" y="4133088"/>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94360" y="4233672"/>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D5</a:t>
            </a:r>
          </a:p>
        </p:txBody>
      </p:sp>
      <p:sp>
        <p:nvSpPr>
          <p:cNvPr id="19" name="TextBox 18"/>
          <p:cNvSpPr txBox="1"/>
          <p:nvPr/>
        </p:nvSpPr>
        <p:spPr>
          <a:xfrm>
            <a:off x="1600200" y="4133088"/>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ERCOT fuel-mix check before the AIChE figures (owner: 36 session).</a:t>
            </a:r>
          </a:p>
        </p:txBody>
      </p:sp>
      <p:sp>
        <p:nvSpPr>
          <p:cNvPr id="20" name="Rounded Rectangle 19"/>
          <p:cNvSpPr/>
          <p:nvPr/>
        </p:nvSpPr>
        <p:spPr>
          <a:xfrm>
            <a:off x="457200" y="4846320"/>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594360" y="4946904"/>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D6</a:t>
            </a:r>
          </a:p>
        </p:txBody>
      </p:sp>
      <p:sp>
        <p:nvSpPr>
          <p:cNvPr id="22" name="TextBox 21"/>
          <p:cNvSpPr txBox="1"/>
          <p:nvPr/>
        </p:nvSpPr>
        <p:spPr>
          <a:xfrm>
            <a:off x="1600200" y="4846320"/>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Hand off prompt 38 now.</a:t>
            </a:r>
          </a:p>
        </p:txBody>
      </p:sp>
      <p:sp>
        <p:nvSpPr>
          <p:cNvPr id="23" name="Rounded Rectangle 22"/>
          <p:cNvSpPr/>
          <p:nvPr/>
        </p:nvSpPr>
        <p:spPr>
          <a:xfrm>
            <a:off x="457200" y="5559552"/>
            <a:ext cx="11247120" cy="621792"/>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94360" y="5660136"/>
            <a:ext cx="822960" cy="42062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Arial"/>
              </a:rPr>
              <a:t>D7</a:t>
            </a:r>
          </a:p>
        </p:txBody>
      </p:sp>
      <p:sp>
        <p:nvSpPr>
          <p:cNvPr id="25" name="TextBox 24"/>
          <p:cNvSpPr txBox="1"/>
          <p:nvPr/>
        </p:nvSpPr>
        <p:spPr>
          <a:xfrm>
            <a:off x="1600200" y="5559552"/>
            <a:ext cx="9966960" cy="621792"/>
          </a:xfrm>
          <a:prstGeom prst="rect">
            <a:avLst/>
          </a:prstGeom>
          <a:noFill/>
        </p:spPr>
        <p:txBody>
          <a:bodyPr wrap="square" anchor="ctr" lIns="45720" rIns="45720" tIns="27432" bIns="27432">
            <a:spAutoFit/>
          </a:bodyPr>
          <a:lstStyle/>
          <a:p>
            <a:pPr algn="l">
              <a:lnSpc>
                <a:spcPct val="105000"/>
              </a:lnSpc>
              <a:spcAft>
                <a:spcPts val="400"/>
              </a:spcAft>
            </a:pPr>
            <a:r>
              <a:rPr sz="1500" b="0" i="0">
                <a:solidFill>
                  <a:srgbClr val="1F1F1F"/>
                </a:solidFill>
                <a:latin typeface="Arial"/>
              </a:rPr>
              <a:t>g1 ruling (NXT-D7) still open; ERCOT nuclear rows have the same accounting issue.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BACKUP</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Backup</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B1–B7: supporting slides.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B1 · Timeline 09-19 → 10-13</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graphicFrame>
        <p:nvGraphicFramePr>
          <p:cNvPr id="5" name="Table 4"/>
          <p:cNvGraphicFramePr>
            <a:graphicFrameLocks noGrp="1"/>
          </p:cNvGraphicFramePr>
          <p:nvPr/>
        </p:nvGraphicFramePr>
        <p:xfrm>
          <a:off x="457200" y="1234440"/>
          <a:ext cx="11247120" cy="4828032"/>
        </p:xfrm>
        <a:graphic>
          <a:graphicData uri="http://schemas.openxmlformats.org/drawingml/2006/table">
            <a:tbl>
              <a:tblPr firstRow="1" bandRow="1">
                <a:tableStyleId>{5C22544A-7EE6-4342-B048-85BDC9FD1C3A}</a:tableStyleId>
              </a:tblPr>
              <a:tblGrid>
                <a:gridCol w="1828800"/>
                <a:gridCol w="9418320"/>
              </a:tblGrid>
              <a:tr h="402336">
                <a:tc>
                  <a:txBody>
                    <a:bodyPr wrap="square"/>
                    <a:lstStyle/>
                    <a:p>
                      <a:r>
                        <a:rPr sz="1300" b="1" i="0">
                          <a:solidFill>
                            <a:srgbClr val="1F1F1F"/>
                          </a:solidFill>
                          <a:latin typeface="Arial"/>
                        </a:rPr>
                        <a:t>Date</a:t>
                      </a:r>
                    </a:p>
                  </a:txBody>
                  <a:tcPr marL="54864" marR="54864" marT="27432" marB="27432">
                    <a:solidFill>
                      <a:srgbClr val="DCE3EE"/>
                    </a:solidFill>
                  </a:tcPr>
                </a:tc>
                <a:tc>
                  <a:txBody>
                    <a:bodyPr wrap="square"/>
                    <a:lstStyle/>
                    <a:p>
                      <a:r>
                        <a:rPr sz="1300" b="1" i="0">
                          <a:solidFill>
                            <a:srgbClr val="1F1F1F"/>
                          </a:solidFill>
                          <a:latin typeface="Arial"/>
                        </a:rPr>
                        <a:t>Event</a:t>
                      </a:r>
                    </a:p>
                  </a:txBody>
                  <a:tcPr marL="54864" marR="54864" marT="27432" marB="27432">
                    <a:solidFill>
                      <a:srgbClr val="DCE3EE"/>
                    </a:solidFill>
                  </a:tcPr>
                </a:tc>
              </a:tr>
              <a:tr h="402336">
                <a:tc>
                  <a:txBody>
                    <a:bodyPr wrap="square"/>
                    <a:lstStyle/>
                    <a:p>
                      <a:r>
                        <a:rPr sz="1300" b="0" i="0">
                          <a:solidFill>
                            <a:srgbClr val="1F1F1F"/>
                          </a:solidFill>
                          <a:latin typeface="Arial"/>
                        </a:rPr>
                        <a:t>09-19 → 09-22</a:t>
                      </a:r>
                    </a:p>
                  </a:txBody>
                  <a:tcPr marL="54864" marR="54864" marT="27432" marB="27432">
                    <a:solidFill>
                      <a:srgbClr val="FFFFFF"/>
                    </a:solidFill>
                  </a:tcPr>
                </a:tc>
                <a:tc>
                  <a:txBody>
                    <a:bodyPr wrap="square"/>
                    <a:lstStyle/>
                    <a:p>
                      <a:r>
                        <a:rPr sz="1300" b="0" i="0">
                          <a:solidFill>
                            <a:srgbClr val="1F1F1F"/>
                          </a:solidFill>
                          <a:latin typeface="Arial"/>
                        </a:rPr>
                        <a:t>Stage-2 starts: 32 Sobol designs (n0 + n0b) run on CRC</a:t>
                      </a:r>
                    </a:p>
                  </a:txBody>
                  <a:tcPr marL="54864" marR="54864" marT="27432" marB="27432">
                    <a:solidFill>
                      <a:srgbClr val="FFFFFF"/>
                    </a:solidFill>
                  </a:tcPr>
                </a:tc>
              </a:tr>
              <a:tr h="402336">
                <a:tc>
                  <a:txBody>
                    <a:bodyPr wrap="square"/>
                    <a:lstStyle/>
                    <a:p>
                      <a:r>
                        <a:rPr sz="1300" b="0" i="0">
                          <a:solidFill>
                            <a:srgbClr val="1F1F1F"/>
                          </a:solidFill>
                          <a:latin typeface="Arial"/>
                        </a:rPr>
                        <a:t>10-06</a:t>
                      </a:r>
                    </a:p>
                  </a:txBody>
                  <a:tcPr marL="54864" marR="54864" marT="27432" marB="27432">
                    <a:solidFill>
                      <a:srgbClr val="F6F6F6"/>
                    </a:solidFill>
                  </a:tcPr>
                </a:tc>
                <a:tc>
                  <a:txBody>
                    <a:bodyPr wrap="square"/>
                    <a:lstStyle/>
                    <a:p>
                      <a:r>
                        <a:rPr sz="1300" b="0" i="0">
                          <a:solidFill>
                            <a:srgbClr val="1F1F1F"/>
                          </a:solidFill>
                          <a:latin typeface="Arial"/>
                        </a:rPr>
                        <a:t>M = 3 approved: load shed, true curtailment, cost less synthetic</a:t>
                      </a:r>
                    </a:p>
                  </a:txBody>
                  <a:tcPr marL="54864" marR="54864" marT="27432" marB="27432">
                    <a:solidFill>
                      <a:srgbClr val="F6F6F6"/>
                    </a:solidFill>
                  </a:tcPr>
                </a:tc>
              </a:tr>
              <a:tr h="402336">
                <a:tc>
                  <a:txBody>
                    <a:bodyPr wrap="square"/>
                    <a:lstStyle/>
                    <a:p>
                      <a:r>
                        <a:rPr sz="1300" b="0" i="0">
                          <a:solidFill>
                            <a:srgbClr val="1F1F1F"/>
                          </a:solidFill>
                          <a:latin typeface="Arial"/>
                        </a:rPr>
                        <a:t>10-07</a:t>
                      </a:r>
                    </a:p>
                  </a:txBody>
                  <a:tcPr marL="54864" marR="54864" marT="27432" marB="27432">
                    <a:solidFill>
                      <a:srgbClr val="FFFFFF"/>
                    </a:solidFill>
                  </a:tcPr>
                </a:tc>
                <a:tc>
                  <a:txBody>
                    <a:bodyPr wrap="square"/>
                    <a:lstStyle/>
                    <a:p>
                      <a:r>
                        <a:rPr sz="1300" b="0" i="0">
                          <a:solidFill>
                            <a:srgbClr val="1F1F1F"/>
                          </a:solidFill>
                          <a:latin typeface="Arial"/>
                        </a:rPr>
                        <a:t>Chain launched (block_1); 2 harness fixes first</a:t>
                      </a:r>
                    </a:p>
                  </a:txBody>
                  <a:tcPr marL="54864" marR="54864" marT="27432" marB="27432">
                    <a:solidFill>
                      <a:srgbClr val="FFFFFF"/>
                    </a:solidFill>
                  </a:tcPr>
                </a:tc>
              </a:tr>
              <a:tr h="402336">
                <a:tc>
                  <a:txBody>
                    <a:bodyPr wrap="square"/>
                    <a:lstStyle/>
                    <a:p>
                      <a:r>
                        <a:rPr sz="1300" b="0" i="0">
                          <a:solidFill>
                            <a:srgbClr val="1F1F1F"/>
                          </a:solidFill>
                          <a:latin typeface="Arial"/>
                        </a:rPr>
                        <a:t>10-08</a:t>
                      </a:r>
                    </a:p>
                  </a:txBody>
                  <a:tcPr marL="54864" marR="54864" marT="27432" marB="27432">
                    <a:solidFill>
                      <a:srgbClr val="F6F6F6"/>
                    </a:solidFill>
                  </a:tcPr>
                </a:tc>
                <a:tc>
                  <a:txBody>
                    <a:bodyPr wrap="square"/>
                    <a:lstStyle/>
                    <a:p>
                      <a:r>
                        <a:rPr sz="1300" b="0" i="0">
                          <a:solidFill>
                            <a:srgbClr val="1F1F1F"/>
                          </a:solidFill>
                          <a:latin typeface="Arial"/>
                        </a:rPr>
                        <a:t>Round 1 results; acquisition WEDGED at qsub (compute node is no submit host)</a:t>
                      </a:r>
                    </a:p>
                  </a:txBody>
                  <a:tcPr marL="54864" marR="54864" marT="27432" marB="27432">
                    <a:solidFill>
                      <a:srgbClr val="F6F6F6"/>
                    </a:solidFill>
                  </a:tcPr>
                </a:tc>
              </a:tr>
              <a:tr h="402336">
                <a:tc>
                  <a:txBody>
                    <a:bodyPr wrap="square"/>
                    <a:lstStyle/>
                    <a:p>
                      <a:r>
                        <a:rPr sz="1300" b="0" i="0">
                          <a:solidFill>
                            <a:srgbClr val="1F1F1F"/>
                          </a:solidFill>
                          <a:latin typeface="Arial"/>
                        </a:rPr>
                        <a:t>10-09</a:t>
                      </a:r>
                    </a:p>
                  </a:txBody>
                  <a:tcPr marL="54864" marR="54864" marT="27432" marB="27432">
                    <a:solidFill>
                      <a:srgbClr val="FFFFFF"/>
                    </a:solidFill>
                  </a:tcPr>
                </a:tc>
                <a:tc>
                  <a:txBody>
                    <a:bodyPr wrap="square"/>
                    <a:lstStyle/>
                    <a:p>
                      <a:r>
                        <a:rPr sz="1300" b="0" i="0">
                          <a:solidFill>
                            <a:srgbClr val="1F1F1F"/>
                          </a:solidFill>
                          <a:latin typeface="Arial"/>
                        </a:rPr>
                        <a:t>Round 2 submitted by hand from the login node (≈ 20 h lost)</a:t>
                      </a:r>
                    </a:p>
                  </a:txBody>
                  <a:tcPr marL="54864" marR="54864" marT="27432" marB="27432">
                    <a:solidFill>
                      <a:srgbClr val="FFFFFF"/>
                    </a:solidFill>
                  </a:tcPr>
                </a:tc>
              </a:tr>
              <a:tr h="402336">
                <a:tc>
                  <a:txBody>
                    <a:bodyPr wrap="square"/>
                    <a:lstStyle/>
                    <a:p>
                      <a:r>
                        <a:rPr sz="1300" b="0" i="0">
                          <a:solidFill>
                            <a:srgbClr val="1F1F1F"/>
                          </a:solidFill>
                          <a:latin typeface="Arial"/>
                        </a:rPr>
                        <a:t>10-10</a:t>
                      </a:r>
                    </a:p>
                  </a:txBody>
                  <a:tcPr marL="54864" marR="54864" marT="27432" marB="27432">
                    <a:solidFill>
                      <a:srgbClr val="F6F6F6"/>
                    </a:solidFill>
                  </a:tcPr>
                </a:tc>
                <a:tc>
                  <a:txBody>
                    <a:bodyPr wrap="square"/>
                    <a:lstStyle/>
                    <a:p>
                      <a:r>
                        <a:rPr sz="1300" b="0" i="0">
                          <a:solidFill>
                            <a:srgbClr val="1F1F1F"/>
                          </a:solidFill>
                          <a:latin typeface="Arial"/>
                        </a:rPr>
                        <a:t>Round 2 results; stop rule fires → BO_DONE; BO_STAGE2.md written and reviewed</a:t>
                      </a:r>
                    </a:p>
                  </a:txBody>
                  <a:tcPr marL="54864" marR="54864" marT="27432" marB="27432">
                    <a:solidFill>
                      <a:srgbClr val="F6F6F6"/>
                    </a:solidFill>
                  </a:tcPr>
                </a:tc>
              </a:tr>
              <a:tr h="402336">
                <a:tc>
                  <a:txBody>
                    <a:bodyPr wrap="square"/>
                    <a:lstStyle/>
                    <a:p>
                      <a:r>
                        <a:rPr sz="1300" b="0" i="0">
                          <a:solidFill>
                            <a:srgbClr val="1F1F1F"/>
                          </a:solidFill>
                          <a:latin typeface="Arial"/>
                        </a:rPr>
                        <a:t>10-10</a:t>
                      </a:r>
                    </a:p>
                  </a:txBody>
                  <a:tcPr marL="54864" marR="54864" marT="27432" marB="27432">
                    <a:solidFill>
                      <a:srgbClr val="FFFFFF"/>
                    </a:solidFill>
                  </a:tcPr>
                </a:tc>
                <a:tc>
                  <a:txBody>
                    <a:bodyPr wrap="square"/>
                    <a:lstStyle/>
                    <a:p>
                      <a:r>
                        <a:rPr sz="1300" b="0" i="0">
                          <a:solidFill>
                            <a:srgbClr val="1F1F1F"/>
                          </a:solidFill>
                          <a:latin typeface="Arial"/>
                        </a:rPr>
                        <a:t>Prompt 34 (random baseline) pre-registered, 3-agent review</a:t>
                      </a:r>
                    </a:p>
                  </a:txBody>
                  <a:tcPr marL="54864" marR="54864" marT="27432" marB="27432">
                    <a:solidFill>
                      <a:srgbClr val="FFFFFF"/>
                    </a:solidFill>
                  </a:tcPr>
                </a:tc>
              </a:tr>
              <a:tr h="402336">
                <a:tc>
                  <a:txBody>
                    <a:bodyPr wrap="square"/>
                    <a:lstStyle/>
                    <a:p>
                      <a:r>
                        <a:rPr sz="1300" b="0" i="0">
                          <a:solidFill>
                            <a:srgbClr val="1F1F1F"/>
                          </a:solidFill>
                          <a:latin typeface="Arial"/>
                        </a:rPr>
                        <a:t>10-11</a:t>
                      </a:r>
                    </a:p>
                  </a:txBody>
                  <a:tcPr marL="54864" marR="54864" marT="27432" marB="27432">
                    <a:solidFill>
                      <a:srgbClr val="F6F6F6"/>
                    </a:solidFill>
                  </a:tcPr>
                </a:tc>
                <a:tc>
                  <a:txBody>
                    <a:bodyPr wrap="square"/>
                    <a:lstStyle/>
                    <a:p>
                      <a:r>
                        <a:rPr sz="1300" b="0" i="0">
                          <a:solidFill>
                            <a:srgbClr val="1F1F1F"/>
                          </a:solidFill>
                          <a:latin typeface="Arial"/>
                        </a:rPr>
                        <a:t>48 random designs built, run (11:00 → 20:22), analysed (23:29)</a:t>
                      </a:r>
                    </a:p>
                  </a:txBody>
                  <a:tcPr marL="54864" marR="54864" marT="27432" marB="27432">
                    <a:solidFill>
                      <a:srgbClr val="F6F6F6"/>
                    </a:solidFill>
                  </a:tcPr>
                </a:tc>
              </a:tr>
              <a:tr h="402336">
                <a:tc>
                  <a:txBody>
                    <a:bodyPr wrap="square"/>
                    <a:lstStyle/>
                    <a:p>
                      <a:r>
                        <a:rPr sz="1300" b="0" i="0">
                          <a:solidFill>
                            <a:srgbClr val="1F1F1F"/>
                          </a:solidFill>
                          <a:latin typeface="Arial"/>
                        </a:rPr>
                        <a:t>10-12</a:t>
                      </a:r>
                    </a:p>
                  </a:txBody>
                  <a:tcPr marL="54864" marR="54864" marT="27432" marB="27432">
                    <a:solidFill>
                      <a:srgbClr val="FFFFFF"/>
                    </a:solidFill>
                  </a:tcPr>
                </a:tc>
                <a:tc>
                  <a:txBody>
                    <a:bodyPr wrap="square"/>
                    <a:lstStyle/>
                    <a:p>
                      <a:r>
                        <a:rPr sz="1300" b="0" i="0">
                          <a:solidFill>
                            <a:srgbClr val="1F1F1F"/>
                          </a:solidFill>
                          <a:latin typeface="Arial"/>
                        </a:rPr>
                        <a:t>Expert review of the random-baseline result (statistics + power systems)</a:t>
                      </a:r>
                    </a:p>
                  </a:txBody>
                  <a:tcPr marL="54864" marR="54864" marT="27432" marB="27432">
                    <a:solidFill>
                      <a:srgbClr val="FFFFFF"/>
                    </a:solidFill>
                  </a:tcPr>
                </a:tc>
              </a:tr>
              <a:tr h="402336">
                <a:tc>
                  <a:txBody>
                    <a:bodyPr wrap="square"/>
                    <a:lstStyle/>
                    <a:p>
                      <a:r>
                        <a:rPr sz="1300" b="0" i="0">
                          <a:solidFill>
                            <a:srgbClr val="1F1F1F"/>
                          </a:solidFill>
                          <a:latin typeface="Arial"/>
                        </a:rPr>
                        <a:t>10-12</a:t>
                      </a:r>
                    </a:p>
                  </a:txBody>
                  <a:tcPr marL="54864" marR="54864" marT="27432" marB="27432">
                    <a:solidFill>
                      <a:srgbClr val="F6F6F6"/>
                    </a:solidFill>
                  </a:tcPr>
                </a:tc>
                <a:tc>
                  <a:txBody>
                    <a:bodyPr wrap="square"/>
                    <a:lstStyle/>
                    <a:p>
                      <a:r>
                        <a:rPr sz="1300" b="0" i="0">
                          <a:solidFill>
                            <a:srgbClr val="1F1F1F"/>
                          </a:solidFill>
                          <a:latin typeface="Arial"/>
                        </a:rPr>
                        <a:t>Prompts 35, 36, 37 written and launched</a:t>
                      </a:r>
                    </a:p>
                  </a:txBody>
                  <a:tcPr marL="54864" marR="54864" marT="27432" marB="27432">
                    <a:solidFill>
                      <a:srgbClr val="F6F6F6"/>
                    </a:solidFill>
                  </a:tcPr>
                </a:tc>
              </a:tr>
              <a:tr h="402336">
                <a:tc>
                  <a:txBody>
                    <a:bodyPr wrap="square"/>
                    <a:lstStyle/>
                    <a:p>
                      <a:r>
                        <a:rPr sz="1300" b="0" i="0">
                          <a:solidFill>
                            <a:srgbClr val="1F1F1F"/>
                          </a:solidFill>
                          <a:latin typeface="Arial"/>
                        </a:rPr>
                        <a:t>10-13</a:t>
                      </a:r>
                    </a:p>
                  </a:txBody>
                  <a:tcPr marL="54864" marR="54864" marT="27432" marB="27432">
                    <a:solidFill>
                      <a:srgbClr val="FFFFFF"/>
                    </a:solidFill>
                  </a:tcPr>
                </a:tc>
                <a:tc>
                  <a:txBody>
                    <a:bodyPr wrap="square"/>
                    <a:lstStyle/>
                    <a:p>
                      <a:r>
                        <a:rPr sz="1300" b="0" i="0">
                          <a:solidFill>
                            <a:srgbClr val="1F1F1F"/>
                          </a:solidFill>
                          <a:latin typeface="Arial"/>
                        </a:rPr>
                        <a:t>ERCOT waves A + B landed; base read done</a:t>
                      </a:r>
                    </a:p>
                  </a:txBody>
                  <a:tcPr marL="54864" marR="54864" marT="27432" marB="27432">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B2 · BO moves to the lattice edges; nuclear leaves the floor only at the reliability corners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pic>
        <p:nvPicPr>
          <p:cNvPr id="5" name="Picture 4" descr="fig4_front_designs.png"/>
          <p:cNvPicPr>
            <a:picLocks noChangeAspect="1"/>
          </p:cNvPicPr>
          <p:nvPr/>
        </p:nvPicPr>
        <p:blipFill>
          <a:blip r:embed="rId2"/>
          <a:stretch>
            <a:fillRect/>
          </a:stretch>
        </p:blipFill>
        <p:spPr>
          <a:xfrm>
            <a:off x="457200" y="1216442"/>
            <a:ext cx="7132320" cy="3355268"/>
          </a:xfrm>
          <a:prstGeom prst="rect">
            <a:avLst/>
          </a:prstGeom>
        </p:spPr>
      </p:pic>
      <p:sp>
        <p:nvSpPr>
          <p:cNvPr id="6" name="TextBox 5"/>
          <p:cNvSpPr txBox="1"/>
          <p:nvPr/>
        </p:nvSpPr>
        <p:spPr>
          <a:xfrm>
            <a:off x="457200" y="4617720"/>
            <a:ext cx="71323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/Users/yilu/Documents/GitHub/RTS-GMLC/trial_0826/campaign/analysis/bo_stage2/figs/fig4_front_designs.png</a:t>
            </a:r>
          </a:p>
        </p:txBody>
      </p:sp>
      <p:graphicFrame>
        <p:nvGraphicFramePr>
          <p:cNvPr id="7" name="Table 6"/>
          <p:cNvGraphicFramePr>
            <a:graphicFrameLocks noGrp="1"/>
          </p:cNvGraphicFramePr>
          <p:nvPr/>
        </p:nvGraphicFramePr>
        <p:xfrm>
          <a:off x="822960" y="4983480"/>
          <a:ext cx="6309360" cy="1243584"/>
        </p:xfrm>
        <a:graphic>
          <a:graphicData uri="http://schemas.openxmlformats.org/drawingml/2006/table">
            <a:tbl>
              <a:tblPr firstRow="1" bandRow="1">
                <a:tableStyleId>{5C22544A-7EE6-4342-B048-85BDC9FD1C3A}</a:tableStyleId>
              </a:tblPr>
              <a:tblGrid>
                <a:gridCol w="1280160"/>
                <a:gridCol w="2743200"/>
                <a:gridCol w="2286000"/>
              </a:tblGrid>
              <a:tr h="310896">
                <a:tc>
                  <a:txBody>
                    <a:bodyPr wrap="square"/>
                    <a:lstStyle/>
                    <a:p>
                      <a:r>
                        <a:rPr sz="1200" b="1" i="0">
                          <a:solidFill>
                            <a:srgbClr val="1F1F1F"/>
                          </a:solidFill>
                          <a:latin typeface="Arial"/>
                        </a:rPr>
                        <a:t>Set</a:t>
                      </a:r>
                    </a:p>
                  </a:txBody>
                  <a:tcPr marL="54864" marR="54864" marT="27432" marB="27432">
                    <a:solidFill>
                      <a:srgbClr val="DCE3EE"/>
                    </a:solidFill>
                  </a:tcPr>
                </a:tc>
                <a:tc>
                  <a:txBody>
                    <a:bodyPr wrap="square"/>
                    <a:lstStyle/>
                    <a:p>
                      <a:r>
                        <a:rPr sz="1200" b="1" i="0">
                          <a:solidFill>
                            <a:srgbClr val="1F1F1F"/>
                          </a:solidFill>
                          <a:latin typeface="Arial"/>
                        </a:rPr>
                        <a:t>Tiers at an edge (of 6)</a:t>
                      </a:r>
                    </a:p>
                  </a:txBody>
                  <a:tcPr marL="54864" marR="54864" marT="27432" marB="27432">
                    <a:solidFill>
                      <a:srgbClr val="DCE3EE"/>
                    </a:solidFill>
                  </a:tcPr>
                </a:tc>
                <a:tc>
                  <a:txBody>
                    <a:bodyPr wrap="square"/>
                    <a:lstStyle/>
                    <a:p>
                      <a:r>
                        <a:rPr sz="1200" b="1" i="0">
                          <a:solidFill>
                            <a:srgbClr val="1F1F1F"/>
                          </a:solidFill>
                          <a:latin typeface="Arial"/>
                        </a:rPr>
                        <a:t>Fully interior</a:t>
                      </a:r>
                    </a:p>
                  </a:txBody>
                  <a:tcPr marL="54864" marR="54864" marT="27432" marB="27432">
                    <a:solidFill>
                      <a:srgbClr val="DCE3EE"/>
                    </a:solidFill>
                  </a:tcPr>
                </a:tc>
              </a:tr>
              <a:tr h="310896">
                <a:tc>
                  <a:txBody>
                    <a:bodyPr wrap="square"/>
                    <a:lstStyle/>
                    <a:p>
                      <a:r>
                        <a:rPr sz="1200" b="0" i="0">
                          <a:solidFill>
                            <a:srgbClr val="1F1F1F"/>
                          </a:solidFill>
                          <a:latin typeface="Arial"/>
                        </a:rPr>
                        <a:t>starts</a:t>
                      </a:r>
                    </a:p>
                  </a:txBody>
                  <a:tcPr marL="54864" marR="54864" marT="27432" marB="27432">
                    <a:solidFill>
                      <a:srgbClr val="FFFFFF"/>
                    </a:solidFill>
                  </a:tcPr>
                </a:tc>
                <a:tc>
                  <a:txBody>
                    <a:bodyPr wrap="square"/>
                    <a:lstStyle/>
                    <a:p>
                      <a:r>
                        <a:rPr sz="1200" b="0" i="0">
                          <a:solidFill>
                            <a:srgbClr val="1F1F1F"/>
                          </a:solidFill>
                          <a:latin typeface="Arial"/>
                        </a:rPr>
                        <a:t>0.75</a:t>
                      </a:r>
                    </a:p>
                  </a:txBody>
                  <a:tcPr marL="54864" marR="54864" marT="27432" marB="27432">
                    <a:solidFill>
                      <a:srgbClr val="FFFFFF"/>
                    </a:solidFill>
                  </a:tcPr>
                </a:tc>
                <a:tc>
                  <a:txBody>
                    <a:bodyPr wrap="square"/>
                    <a:lstStyle/>
                    <a:p>
                      <a:r>
                        <a:rPr sz="1200" b="0" i="0">
                          <a:solidFill>
                            <a:srgbClr val="1F1F1F"/>
                          </a:solidFill>
                          <a:latin typeface="Arial"/>
                        </a:rPr>
                        <a:t>44 %</a:t>
                      </a:r>
                    </a:p>
                  </a:txBody>
                  <a:tcPr marL="54864" marR="54864" marT="27432" marB="27432">
                    <a:solidFill>
                      <a:srgbClr val="FFFFFF"/>
                    </a:solidFill>
                  </a:tcPr>
                </a:tc>
              </a:tr>
              <a:tr h="310896">
                <a:tc>
                  <a:txBody>
                    <a:bodyPr wrap="square"/>
                    <a:lstStyle/>
                    <a:p>
                      <a:r>
                        <a:rPr sz="1200" b="0" i="0">
                          <a:solidFill>
                            <a:srgbClr val="1F1F1F"/>
                          </a:solidFill>
                          <a:latin typeface="Arial"/>
                        </a:rPr>
                        <a:t>r1</a:t>
                      </a:r>
                    </a:p>
                  </a:txBody>
                  <a:tcPr marL="54864" marR="54864" marT="27432" marB="27432">
                    <a:solidFill>
                      <a:srgbClr val="F6F6F6"/>
                    </a:solidFill>
                  </a:tcPr>
                </a:tc>
                <a:tc>
                  <a:txBody>
                    <a:bodyPr wrap="square"/>
                    <a:lstStyle/>
                    <a:p>
                      <a:r>
                        <a:rPr sz="1200" b="0" i="0">
                          <a:solidFill>
                            <a:srgbClr val="1F1F1F"/>
                          </a:solidFill>
                          <a:latin typeface="Arial"/>
                        </a:rPr>
                        <a:t>1.9</a:t>
                      </a:r>
                    </a:p>
                  </a:txBody>
                  <a:tcPr marL="54864" marR="54864" marT="27432" marB="27432">
                    <a:solidFill>
                      <a:srgbClr val="F6F6F6"/>
                    </a:solidFill>
                  </a:tcPr>
                </a:tc>
                <a:tc>
                  <a:txBody>
                    <a:bodyPr wrap="square"/>
                    <a:lstStyle/>
                    <a:p>
                      <a:r>
                        <a:rPr sz="1200" b="0" i="0">
                          <a:solidFill>
                            <a:srgbClr val="1F1F1F"/>
                          </a:solidFill>
                          <a:latin typeface="Arial"/>
                        </a:rPr>
                        <a:t>0 %</a:t>
                      </a:r>
                    </a:p>
                  </a:txBody>
                  <a:tcPr marL="54864" marR="54864" marT="27432" marB="27432">
                    <a:solidFill>
                      <a:srgbClr val="F6F6F6"/>
                    </a:solidFill>
                  </a:tcPr>
                </a:tc>
              </a:tr>
              <a:tr h="310896">
                <a:tc>
                  <a:txBody>
                    <a:bodyPr wrap="square"/>
                    <a:lstStyle/>
                    <a:p>
                      <a:r>
                        <a:rPr sz="1200" b="0" i="0">
                          <a:solidFill>
                            <a:srgbClr val="1F1F1F"/>
                          </a:solidFill>
                          <a:latin typeface="Arial"/>
                        </a:rPr>
                        <a:t>r2</a:t>
                      </a:r>
                    </a:p>
                  </a:txBody>
                  <a:tcPr marL="54864" marR="54864" marT="27432" marB="27432">
                    <a:solidFill>
                      <a:srgbClr val="FFFFFF"/>
                    </a:solidFill>
                  </a:tcPr>
                </a:tc>
                <a:tc>
                  <a:txBody>
                    <a:bodyPr wrap="square"/>
                    <a:lstStyle/>
                    <a:p>
                      <a:r>
                        <a:rPr sz="1200" b="0" i="0">
                          <a:solidFill>
                            <a:srgbClr val="1F1F1F"/>
                          </a:solidFill>
                          <a:latin typeface="Arial"/>
                        </a:rPr>
                        <a:t>3.25</a:t>
                      </a:r>
                    </a:p>
                  </a:txBody>
                  <a:tcPr marL="54864" marR="54864" marT="27432" marB="27432">
                    <a:solidFill>
                      <a:srgbClr val="FFFFFF"/>
                    </a:solidFill>
                  </a:tcPr>
                </a:tc>
                <a:tc>
                  <a:txBody>
                    <a:bodyPr wrap="square"/>
                    <a:lstStyle/>
                    <a:p>
                      <a:r>
                        <a:rPr sz="1200" b="0" i="0">
                          <a:solidFill>
                            <a:srgbClr val="1F1F1F"/>
                          </a:solidFill>
                          <a:latin typeface="Arial"/>
                        </a:rPr>
                        <a:t>0 %</a:t>
                      </a:r>
                    </a:p>
                  </a:txBody>
                  <a:tcPr marL="54864" marR="54864" marT="27432" marB="27432">
                    <a:solidFill>
                      <a:srgbClr val="FFFFFF"/>
                    </a:solidFill>
                  </a:tcPr>
                </a:tc>
              </a:tr>
            </a:tbl>
          </a:graphicData>
        </a:graphic>
      </p:graphicFrame>
      <p:sp>
        <p:nvSpPr>
          <p:cNvPr id="8" name="Rounded Rectangle 7"/>
          <p:cNvSpPr/>
          <p:nvPr/>
        </p:nvSpPr>
        <p:spPr>
          <a:xfrm>
            <a:off x="7772400" y="1280160"/>
            <a:ext cx="3931920" cy="49834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09560" y="1417320"/>
            <a:ext cx="3657600" cy="4754880"/>
          </a:xfrm>
          <a:prstGeom prst="rect">
            <a:avLst/>
          </a:prstGeom>
          <a:noFill/>
        </p:spPr>
        <p:txBody>
          <a:bodyPr wrap="square" anchor="t" lIns="45720" rIns="45720" tIns="27432" bIns="27432">
            <a:spAutoFit/>
          </a:bodyPr>
          <a:lstStyle/>
          <a:p>
            <a:pPr algn="l">
              <a:lnSpc>
                <a:spcPct val="105000"/>
              </a:lnSpc>
              <a:spcAft>
                <a:spcPts val="1400"/>
              </a:spcAft>
            </a:pPr>
            <a:r>
              <a:rPr sz="1600" b="0" i="0">
                <a:solidFill>
                  <a:srgbClr val="1F1F1F"/>
                </a:solidFill>
                <a:latin typeface="Arial"/>
              </a:rPr>
              <a:t>•  Nuclear is bang-bang: 0.05 on the knees, 1.0 at the reliability corners. Spearman(nuclear MW, cost) = 0.89.</a:t>
            </a:r>
          </a:p>
          <a:p>
            <a:pPr algn="l">
              <a:lnSpc>
                <a:spcPct val="105000"/>
              </a:lnSpc>
              <a:spcAft>
                <a:spcPts val="1400"/>
              </a:spcAft>
            </a:pPr>
            <a:r>
              <a:rPr sz="1600" b="0" i="0">
                <a:solidFill>
                  <a:srgbClr val="1F1F1F"/>
                </a:solidFill>
                <a:latin typeface="Arial"/>
              </a:rPr>
              <a:t>•  wind_303 and wind_317 are loaded up on the front (mean ω 0.65 / 0.61).</a:t>
            </a:r>
          </a:p>
          <a:p>
            <a:pPr algn="l">
              <a:lnSpc>
                <a:spcPct val="105000"/>
              </a:lnSpc>
              <a:spcAft>
                <a:spcPts val="1400"/>
              </a:spcAft>
            </a:pPr>
            <a:r>
              <a:rPr sz="1600" b="0" i="0">
                <a:solidFill>
                  <a:srgbClr val="1F1F1F"/>
                </a:solidFill>
                <a:latin typeface="Arial"/>
              </a:rPr>
              <a:t>•  Tail goes to 1.0 in r2, but it correlates with nothing. Read it as EI pushing a flat direction, not a tail effect.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B3 · Grand front of 96 designs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pic>
        <p:nvPicPr>
          <p:cNvPr id="5" name="Picture 4" descr="fig4b_grand_front_unified.png"/>
          <p:cNvPicPr>
            <a:picLocks noChangeAspect="1"/>
          </p:cNvPicPr>
          <p:nvPr/>
        </p:nvPicPr>
        <p:blipFill>
          <a:blip r:embed="rId2"/>
          <a:stretch>
            <a:fillRect/>
          </a:stretch>
        </p:blipFill>
        <p:spPr>
          <a:xfrm>
            <a:off x="1399722" y="1188720"/>
            <a:ext cx="9362076" cy="3273552"/>
          </a:xfrm>
          <a:prstGeom prst="rect">
            <a:avLst/>
          </a:prstGeom>
        </p:spPr>
      </p:pic>
      <p:sp>
        <p:nvSpPr>
          <p:cNvPr id="6" name="TextBox 5"/>
          <p:cNvSpPr txBox="1"/>
          <p:nvPr/>
        </p:nvSpPr>
        <p:spPr>
          <a:xfrm>
            <a:off x="457200" y="448056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/Users/yilu/Documents/GitHub/RTS-GMLC/trial_0826/campaign/analysis/random_baseline/figs/fig4b_grand_front_unified.png</a:t>
            </a:r>
          </a:p>
        </p:txBody>
      </p:sp>
      <p:sp>
        <p:nvSpPr>
          <p:cNvPr id="7" name="TextBox 6"/>
          <p:cNvSpPr txBox="1"/>
          <p:nvPr/>
        </p:nvSpPr>
        <p:spPr>
          <a:xfrm>
            <a:off x="548640" y="4846320"/>
            <a:ext cx="11155680" cy="146304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  Same panels and markers as slide 8. Of the 13 starts on the 48-point front, 6 are now dominated by random designs; all 13 BO front designs stay.</a:t>
            </a:r>
          </a:p>
          <a:p>
            <a:pPr algn="l">
              <a:lnSpc>
                <a:spcPct val="105000"/>
              </a:lnSpc>
              <a:spcAft>
                <a:spcPts val="400"/>
              </a:spcAft>
            </a:pPr>
            <a:r>
              <a:rPr sz="1300" b="0" i="0">
                <a:solidFill>
                  <a:srgbClr val="1F1F1F"/>
                </a:solidFill>
                <a:latin typeface="Arial"/>
              </a:rPr>
              <a:t>•  32 designs on the 96-point front: BO 13 of 16 (81 %), random 12 of 48 (25 %), starts 7 of 32.</a:t>
            </a:r>
          </a:p>
          <a:p>
            <a:pPr algn="l">
              <a:lnSpc>
                <a:spcPct val="105000"/>
              </a:lnSpc>
              <a:spcAft>
                <a:spcPts val="400"/>
              </a:spcAft>
            </a:pPr>
            <a:r>
              <a:rPr sz="1300" b="0" i="0">
                <a:solidFill>
                  <a:srgbClr val="1F1F1F"/>
                </a:solidFill>
                <a:latin typeface="Arial"/>
              </a:rPr>
              <a:t>•  A random 16-batch puts 6.6 designs (p10–p90 5–8) on the front of starts ∪ batch. BO puts 13.</a:t>
            </a:r>
          </a:p>
          <a:p>
            <a:pPr algn="l">
              <a:lnSpc>
                <a:spcPct val="105000"/>
              </a:lnSpc>
              <a:spcAft>
                <a:spcPts val="400"/>
              </a:spcAft>
            </a:pPr>
            <a:r>
              <a:rPr sz="1300" b="0" i="0">
                <a:solidFill>
                  <a:srgbClr val="1F1F1F"/>
                </a:solidFill>
                <a:latin typeface="Arial"/>
              </a:rPr>
              <a:t>•  No random design dominates any BO design (set coverage 0.00).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B4 · Status card 10-12</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Rounded Rectangle 4"/>
          <p:cNvSpPr/>
          <p:nvPr/>
        </p:nvSpPr>
        <p:spPr>
          <a:xfrm>
            <a:off x="45720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48</a:t>
            </a:r>
          </a:p>
        </p:txBody>
      </p:sp>
      <p:sp>
        <p:nvSpPr>
          <p:cNvPr id="7" name="TextBox 6"/>
          <p:cNvSpPr txBox="1"/>
          <p:nvPr/>
        </p:nvSpPr>
        <p:spPr>
          <a:xfrm>
            <a:off x="64008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designs evaluated by the campaign (32 Sobol starts + 2 BO rounds of 8)</a:t>
            </a:r>
          </a:p>
        </p:txBody>
      </p:sp>
      <p:sp>
        <p:nvSpPr>
          <p:cNvPr id="8" name="Rounded Rectangle 7"/>
          <p:cNvSpPr/>
          <p:nvPr/>
        </p:nvSpPr>
        <p:spPr>
          <a:xfrm>
            <a:off x="427482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5770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26</a:t>
            </a:r>
          </a:p>
        </p:txBody>
      </p:sp>
      <p:sp>
        <p:nvSpPr>
          <p:cNvPr id="10" name="TextBox 9"/>
          <p:cNvSpPr txBox="1"/>
          <p:nvPr/>
        </p:nvSpPr>
        <p:spPr>
          <a:xfrm>
            <a:off x="445770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designs on the final 3-objective front (13 starts, 6 r1, 7 r2)</a:t>
            </a:r>
          </a:p>
        </p:txBody>
      </p:sp>
      <p:sp>
        <p:nvSpPr>
          <p:cNvPr id="11" name="Rounded Rectangle 10"/>
          <p:cNvSpPr/>
          <p:nvPr/>
        </p:nvSpPr>
        <p:spPr>
          <a:xfrm>
            <a:off x="809244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7532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+5.5 % → +1.4 %</a:t>
            </a:r>
          </a:p>
        </p:txBody>
      </p:sp>
      <p:sp>
        <p:nvSpPr>
          <p:cNvPr id="13" name="TextBox 12"/>
          <p:cNvSpPr txBox="1"/>
          <p:nvPr/>
        </p:nvSpPr>
        <p:spPr>
          <a:xfrm>
            <a:off x="827532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HV gain per round, under the 8 % stop threshold → BO_DONE 10-10</a:t>
            </a:r>
          </a:p>
        </p:txBody>
      </p:sp>
      <p:sp>
        <p:nvSpPr>
          <p:cNvPr id="14" name="Rounded Rectangle 13"/>
          <p:cNvSpPr/>
          <p:nvPr/>
        </p:nvSpPr>
        <p:spPr>
          <a:xfrm>
            <a:off x="45720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48</a:t>
            </a:r>
          </a:p>
        </p:txBody>
      </p:sp>
      <p:sp>
        <p:nvSpPr>
          <p:cNvPr id="16" name="TextBox 15"/>
          <p:cNvSpPr txBox="1"/>
          <p:nvPr/>
        </p:nvSpPr>
        <p:spPr>
          <a:xfrm>
            <a:off x="64008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uniform random designs run as the baseline (10-11, 9.4 h wall)</a:t>
            </a:r>
          </a:p>
        </p:txBody>
      </p:sp>
      <p:sp>
        <p:nvSpPr>
          <p:cNvPr id="17" name="Rounded Rectangle 16"/>
          <p:cNvSpPr/>
          <p:nvPr/>
        </p:nvSpPr>
        <p:spPr>
          <a:xfrm>
            <a:off x="427482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5770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0.94</a:t>
            </a:r>
          </a:p>
        </p:txBody>
      </p:sp>
      <p:sp>
        <p:nvSpPr>
          <p:cNvPr id="19" name="TextBox 18"/>
          <p:cNvSpPr txBox="1"/>
          <p:nvPr/>
        </p:nvSpPr>
        <p:spPr>
          <a:xfrm>
            <a:off x="445770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percentile of BO's HV among random 16-design batches (R_frozen)</a:t>
            </a:r>
          </a:p>
        </p:txBody>
      </p:sp>
      <p:sp>
        <p:nvSpPr>
          <p:cNvPr id="20" name="Rounded Rectangle 19"/>
          <p:cNvSpPr/>
          <p:nvPr/>
        </p:nvSpPr>
        <p:spPr>
          <a:xfrm>
            <a:off x="809244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7532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0.83</a:t>
            </a:r>
          </a:p>
        </p:txBody>
      </p:sp>
      <p:sp>
        <p:nvSpPr>
          <p:cNvPr id="22" name="TextBox 21"/>
          <p:cNvSpPr txBox="1"/>
          <p:nvPr/>
        </p:nvSpPr>
        <p:spPr>
          <a:xfrm>
            <a:off x="827532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rounds per day (one 20 h stall: CRC compute nodes cannot submit jobs)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B5 · ERCOT wave C: nuclear rows failed on the T0 output; fixed and rerun</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TextBox 4"/>
          <p:cNvSpPr txBox="1"/>
          <p:nvPr/>
        </p:nvSpPr>
        <p:spPr>
          <a:xfrm>
            <a:off x="457200" y="1280160"/>
            <a:ext cx="11247120" cy="4983480"/>
          </a:xfrm>
          <a:prstGeom prst="rect">
            <a:avLst/>
          </a:prstGeom>
          <a:noFill/>
        </p:spPr>
        <p:txBody>
          <a:bodyPr wrap="square" anchor="t" lIns="45720" rIns="45720" tIns="27432" bIns="27432">
            <a:spAutoFit/>
          </a:bodyPr>
          <a:lstStyle/>
          <a:p>
            <a:pPr algn="l">
              <a:lnSpc>
                <a:spcPct val="105000"/>
              </a:lnSpc>
              <a:spcAft>
                <a:spcPts val="1000"/>
              </a:spcAft>
            </a:pPr>
            <a:r>
              <a:rPr sz="1500" b="1" i="0">
                <a:solidFill>
                  <a:srgbClr val="1F1F1F"/>
                </a:solidFill>
                <a:latin typeface="Arial"/>
              </a:rPr>
              <a:t>•  Wave C: nuclear rows ω = 0.05 and 0.2875 failed at the first RUC build.</a:t>
            </a:r>
          </a:p>
          <a:p>
            <a:pPr algn="l">
              <a:lnSpc>
                <a:spcPct val="105000"/>
              </a:lnSpc>
              <a:spcAft>
                <a:spcPts val="1000"/>
              </a:spcAft>
            </a:pPr>
            <a:r>
              <a:rPr sz="1500" b="0" i="0">
                <a:solidFill>
                  <a:srgbClr val="1F1F1F"/>
                </a:solidFill>
                <a:latin typeface="Arial"/>
              </a:rPr>
              <a:t>•  The PEM patch raises p_min, but the T0 output stays at the original 729 MW.</a:t>
            </a:r>
          </a:p>
          <a:p>
            <a:pPr algn="l">
              <a:lnSpc>
                <a:spcPct val="105000"/>
              </a:lnSpc>
              <a:spcAft>
                <a:spcPts val="1000"/>
              </a:spcAft>
            </a:pPr>
            <a:r>
              <a:rPr sz="1500" b="0" i="0">
                <a:solidFill>
                  <a:srgbClr val="1F1F1F"/>
                </a:solidFill>
                <a:latin typeface="Arial"/>
              </a:rPr>
              <a:t>•  CRC log selection_t1_v2_array.o1533432.6: "Generator 1 has less output at T0 than is feasible to ramp up to". Same family as 1eaf05e (startup capacity).</a:t>
            </a:r>
          </a:p>
          <a:p>
            <a:pPr algn="l">
              <a:lnSpc>
                <a:spcPct val="105000"/>
              </a:lnSpc>
              <a:spcAft>
                <a:spcPts val="1000"/>
              </a:spcAft>
            </a:pPr>
            <a:r>
              <a:rPr sz="1500" b="0" i="0">
                <a:solidFill>
                  <a:srgbClr val="1F1F1F"/>
                </a:solidFill>
                <a:latin typeface="Arial"/>
              </a:rPr>
              <a:t>•  The thermal patch also sets ramp_up_60min = PEM capacity (ω × 2,430 MW), so the egret T0 check depends on ω.</a:t>
            </a:r>
          </a:p>
          <a:p>
            <a:pPr algn="l">
              <a:lnSpc>
                <a:spcPct val="105000"/>
              </a:lnSpc>
              <a:spcAft>
                <a:spcPts val="1000"/>
              </a:spcAft>
            </a:pPr>
            <a:r>
              <a:rPr sz="1500" b="1" i="0">
                <a:solidFill>
                  <a:srgbClr val="1F1F1F"/>
                </a:solidFill>
                <a:latin typeface="Arial"/>
              </a:rPr>
              <a:t>•  Fix (7c5fb8d): T0 output ≥ new p_min. A build-only test reproduces the error without the fix and passes 6/6 with it.</a:t>
            </a:r>
          </a:p>
          <a:p>
            <a:pPr algn="l">
              <a:lnSpc>
                <a:spcPct val="105000"/>
              </a:lnSpc>
              <a:spcAft>
                <a:spcPts val="1000"/>
              </a:spcAft>
            </a:pPr>
            <a:r>
              <a:rPr sz="1500" b="0" i="0">
                <a:solidFill>
                  <a:srgbClr val="1F1F1F"/>
                </a:solidFill>
                <a:latin typeface="Arial"/>
              </a:rPr>
              <a:t>•  All nuclear rows 6–11 are rerun, so that the ω sweep shares one T0.</a:t>
            </a:r>
          </a:p>
          <a:p>
            <a:pPr algn="l">
              <a:lnSpc>
                <a:spcPct val="105000"/>
              </a:lnSpc>
              <a:spcAft>
                <a:spcPts val="1000"/>
              </a:spcAft>
            </a:pPr>
            <a:r>
              <a:rPr sz="1500" b="0" i="0">
                <a:solidFill>
                  <a:srgbClr val="1F1F1F"/>
                </a:solidFill>
                <a:latin typeface="Arial"/>
              </a:rPr>
              <a:t>•  Old rows 6–11 are quarantined in runs/quarantine_T0_729, not deleted.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B6 · ERCOT v1: the cost data were mis-converted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TextBox 4"/>
          <p:cNvSpPr txBox="1"/>
          <p:nvPr/>
        </p:nvSpPr>
        <p:spPr>
          <a:xfrm>
            <a:off x="457200" y="1280160"/>
            <a:ext cx="11247120" cy="4983480"/>
          </a:xfrm>
          <a:prstGeom prst="rect">
            <a:avLst/>
          </a:prstGeom>
          <a:noFill/>
        </p:spPr>
        <p:txBody>
          <a:bodyPr wrap="square" anchor="t" lIns="45720" rIns="45720" tIns="27432" bIns="27432">
            <a:spAutoFit/>
          </a:bodyPr>
          <a:lstStyle/>
          <a:p>
            <a:pPr algn="l">
              <a:lnSpc>
                <a:spcPct val="105000"/>
              </a:lnSpc>
              <a:spcAft>
                <a:spcPts val="800"/>
              </a:spcAft>
            </a:pPr>
            <a:r>
              <a:rPr sz="1500" b="1" i="0">
                <a:solidFill>
                  <a:srgbClr val="1F1F1F"/>
                </a:solidFill>
                <a:latin typeface="Arial"/>
              </a:rPr>
              <a:t>•  gen.csv HR_avg_0 = Csu · Pmax / fuel price on all 128 thermal units (checked to machine precision). It is a start-up energy in MMBTU, read by Egret as a heat rate in BTU/kWh.</a:t>
            </a:r>
          </a:p>
          <a:p>
            <a:pPr algn="l">
              <a:lnSpc>
                <a:spcPct val="105000"/>
              </a:lnSpc>
              <a:spcAft>
                <a:spcPts val="800"/>
              </a:spcAft>
            </a:pPr>
            <a:r>
              <a:rPr sz="1500" b="0" i="0">
                <a:solidFill>
                  <a:srgbClr val="1F1F1F"/>
                </a:solidFill>
                <a:latin typeface="Arial"/>
              </a:rPr>
              <a:t>•  HR_incr is a segment heat, read as a rate. Start-up heat = 1 MBTU and start cost = $1 on every unit.</a:t>
            </a:r>
          </a:p>
          <a:p>
            <a:pPr algn="l">
              <a:lnSpc>
                <a:spcPct val="105000"/>
              </a:lnSpc>
              <a:spcAft>
                <a:spcPts val="800"/>
              </a:spcAft>
            </a:pPr>
            <a:r>
              <a:rPr sz="1500" b="0" i="0">
                <a:solidFill>
                  <a:srgbClr val="1F1F1F"/>
                </a:solidFill>
                <a:latin typeface="Arial"/>
              </a:rPr>
              <a:t>•  Effect: no-load $2.1–2.6M per hour on nuclear (intended ≈ $14k); start-ups nearly free; marginal costs scaled by ΔP/1000, so the merit order is inverted (CT $2.9/MWh vs $43 intended).</a:t>
            </a:r>
          </a:p>
          <a:p>
            <a:pPr algn="l">
              <a:lnSpc>
                <a:spcPct val="105000"/>
              </a:lnSpc>
              <a:spcAft>
                <a:spcPts val="800"/>
              </a:spcAft>
            </a:pPr>
            <a:r>
              <a:rPr sz="1500" b="0" i="0">
                <a:solidFill>
                  <a:srgbClr val="1F1F1F"/>
                </a:solidFill>
                <a:latin typeface="Arial"/>
              </a:rPr>
              <a:t>•  gen-1 cycling, gen-93 never on, the ±$80M bimodality, TL=360, the rulers, screening, selection_t1: all artifacts or invalid.</a:t>
            </a:r>
          </a:p>
          <a:p>
            <a:pPr algn="l">
              <a:lnSpc>
                <a:spcPct val="105000"/>
              </a:lnSpc>
              <a:spcAft>
                <a:spcPts val="800"/>
              </a:spcAft>
            </a:pPr>
            <a:r>
              <a:rPr sz="1500" b="0" i="0">
                <a:solidFill>
                  <a:srgbClr val="1F1F1F"/>
                </a:solidFill>
                <a:latin typeface="Arial"/>
              </a:rPr>
              <a:t>•  Fix (prompt 36): find or rebuild the conversion from the TX-123BT paper; corrected data in a NEW versioned directory; regression test against Egret's parsed costs.</a:t>
            </a:r>
          </a:p>
          <a:p>
            <a:pPr algn="l">
              <a:lnSpc>
                <a:spcPct val="105000"/>
              </a:lnSpc>
              <a:spcAft>
                <a:spcPts val="800"/>
              </a:spcAft>
            </a:pPr>
            <a:r>
              <a:rPr sz="1500" b="1" i="0">
                <a:solidFill>
                  <a:srgbClr val="1F1F1F"/>
                </a:solidFill>
                <a:latin typeface="Arial"/>
              </a:rPr>
              <a:t>•  AIChE promises ERCOT results: re-run base + 2 replicates + screening on the corrected data before the 11-01 figure freeze. Old ERCOT figures are not shown.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0C2340"/>
                </a:solidFill>
                <a:latin typeface="Arial"/>
              </a:rPr>
              <a:t>B7 · Operations 10-12/13: env under /groups, import failure + relaunch, 37 fingerprint, CRC lessons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 ERCOT v2 · 2026-10-13</a:t>
            </a:r>
          </a:p>
        </p:txBody>
      </p:sp>
      <p:sp>
        <p:nvSpPr>
          <p:cNvPr id="5" name="TextBox 4"/>
          <p:cNvSpPr txBox="1"/>
          <p:nvPr/>
        </p:nvSpPr>
        <p:spPr>
          <a:xfrm>
            <a:off x="457200" y="1234440"/>
            <a:ext cx="5486400" cy="411480"/>
          </a:xfrm>
          <a:prstGeom prst="rect">
            <a:avLst/>
          </a:prstGeom>
          <a:noFill/>
        </p:spPr>
        <p:txBody>
          <a:bodyPr wrap="square" anchor="t" lIns="45720" rIns="45720" tIns="27432" bIns="27432">
            <a:spAutoFit/>
          </a:bodyPr>
          <a:lstStyle/>
          <a:p>
            <a:pPr algn="l">
              <a:lnSpc>
                <a:spcPct val="105000"/>
              </a:lnSpc>
              <a:spcAft>
                <a:spcPts val="400"/>
              </a:spcAft>
            </a:pPr>
            <a:r>
              <a:rPr sz="1700" b="1" i="0">
                <a:solidFill>
                  <a:srgbClr val="0C2340"/>
                </a:solidFill>
                <a:latin typeface="Arial"/>
              </a:rPr>
              <a:t>35  Methods arms (scenario C)</a:t>
            </a:r>
          </a:p>
        </p:txBody>
      </p:sp>
      <p:sp>
        <p:nvSpPr>
          <p:cNvPr id="6" name="TextBox 5"/>
          <p:cNvSpPr txBox="1"/>
          <p:nvPr/>
        </p:nvSpPr>
        <p:spPr>
          <a:xfrm>
            <a:off x="457200" y="1691640"/>
            <a:ext cx="5486400" cy="310896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G1 curtailment closure: PASS. G3: runs ≤ 9.4 h (random_C), BO rounds 16–22 h, acquisition 29 min.</a:t>
            </a:r>
          </a:p>
          <a:p>
            <a:pPr algn="l">
              <a:lnSpc>
                <a:spcPct val="105000"/>
              </a:lnSpc>
              <a:spcAft>
                <a:spcPts val="800"/>
              </a:spcAft>
            </a:pPr>
            <a:r>
              <a:rPr sz="1400" b="0" i="0">
                <a:solidFill>
                  <a:srgbClr val="1F1F1F"/>
                </a:solidFill>
                <a:latin typeface="Arial"/>
              </a:rPr>
              <a:t>•  BoTorch env built on CRC under /groups (home quota is full).</a:t>
            </a:r>
          </a:p>
          <a:p>
            <a:pPr algn="l">
              <a:lnSpc>
                <a:spcPct val="105000"/>
              </a:lnSpc>
              <a:spcAft>
                <a:spcPts val="800"/>
              </a:spcAft>
            </a:pPr>
            <a:r>
              <a:rPr sz="1400" b="0" i="0">
                <a:solidFill>
                  <a:srgbClr val="1F1F1F"/>
                </a:solidFill>
                <a:latin typeface="Arial"/>
              </a:rPr>
              <a:t>•  Launch 1 failed at import (PYTHONNOUSERSITE hid packages in ~/.local). Fixed; relaunched 21:00, the last allowed relaunch.</a:t>
            </a:r>
          </a:p>
        </p:txBody>
      </p:sp>
      <p:sp>
        <p:nvSpPr>
          <p:cNvPr id="7" name="TextBox 6"/>
          <p:cNvSpPr txBox="1"/>
          <p:nvPr/>
        </p:nvSpPr>
        <p:spPr>
          <a:xfrm>
            <a:off x="6217920" y="1234440"/>
            <a:ext cx="5486400" cy="411480"/>
          </a:xfrm>
          <a:prstGeom prst="rect">
            <a:avLst/>
          </a:prstGeom>
          <a:noFill/>
        </p:spPr>
        <p:txBody>
          <a:bodyPr wrap="square" anchor="t" lIns="45720" rIns="45720" tIns="27432" bIns="27432">
            <a:spAutoFit/>
          </a:bodyPr>
          <a:lstStyle/>
          <a:p>
            <a:pPr algn="l">
              <a:lnSpc>
                <a:spcPct val="105000"/>
              </a:lnSpc>
              <a:spcAft>
                <a:spcPts val="400"/>
              </a:spcAft>
            </a:pPr>
            <a:r>
              <a:rPr sz="1700" b="1" i="0">
                <a:solidFill>
                  <a:srgbClr val="0C2340"/>
                </a:solidFill>
                <a:latin typeface="Arial"/>
              </a:rPr>
              <a:t>37  Stop-rule validation (truth known)</a:t>
            </a:r>
          </a:p>
        </p:txBody>
      </p:sp>
      <p:sp>
        <p:nvSpPr>
          <p:cNvPr id="8" name="TextBox 7"/>
          <p:cNvSpPr txBox="1"/>
          <p:nvPr/>
        </p:nvSpPr>
        <p:spPr>
          <a:xfrm>
            <a:off x="6217920" y="1691640"/>
            <a:ext cx="5486400" cy="3108960"/>
          </a:xfrm>
          <a:prstGeom prst="rect">
            <a:avLst/>
          </a:prstGeom>
          <a:noFill/>
        </p:spPr>
        <p:txBody>
          <a:bodyPr wrap="square" anchor="t" lIns="45720" rIns="45720" tIns="27432" bIns="27432">
            <a:spAutoFit/>
          </a:bodyPr>
          <a:lstStyle/>
          <a:p>
            <a:pPr algn="l">
              <a:lnSpc>
                <a:spcPct val="105000"/>
              </a:lnSpc>
              <a:spcAft>
                <a:spcPts val="800"/>
              </a:spcAft>
            </a:pPr>
            <a:r>
              <a:rPr sz="1400" b="0" i="0">
                <a:solidFill>
                  <a:srgbClr val="1F1F1F"/>
                </a:solidFill>
                <a:latin typeface="Arial"/>
              </a:rPr>
              <a:t>•  PREREG + Amendment 1: 400 local 6-D random runs quarantined; all 6-D work on CRC.</a:t>
            </a:r>
          </a:p>
          <a:p>
            <a:pPr algn="l">
              <a:lnSpc>
                <a:spcPct val="105000"/>
              </a:lnSpc>
              <a:spcAft>
                <a:spcPts val="800"/>
              </a:spcAft>
            </a:pPr>
            <a:r>
              <a:rPr sz="1400" b="0" i="0">
                <a:solidFill>
                  <a:srgbClr val="1F1F1F"/>
                </a:solidFill>
                <a:latin typeface="Arial"/>
              </a:rPr>
              <a:t>•  Truth files: sha256 verified on CRC. Random-number fingerprint identical on Mac and CRC envs.</a:t>
            </a:r>
          </a:p>
          <a:p>
            <a:pPr algn="l">
              <a:lnSpc>
                <a:spcPct val="105000"/>
              </a:lnSpc>
              <a:spcAft>
                <a:spcPts val="800"/>
              </a:spcAft>
            </a:pPr>
            <a:r>
              <a:rPr sz="1400" b="0" i="0">
                <a:solidFill>
                  <a:srgbClr val="1F1F1F"/>
                </a:solidFill>
                <a:latin typeface="Arial"/>
              </a:rPr>
              <a:t>•  1,540 tasks: q-ParEGO, qNEHVI and random on 2-D replay grids (method comparison) and 6-D emulator truths (stop-rule test).</a:t>
            </a:r>
          </a:p>
        </p:txBody>
      </p:sp>
      <p:sp>
        <p:nvSpPr>
          <p:cNvPr id="9" name="Rounded Rectangle 8"/>
          <p:cNvSpPr/>
          <p:nvPr/>
        </p:nvSpPr>
        <p:spPr>
          <a:xfrm>
            <a:off x="457200" y="4937760"/>
            <a:ext cx="11247120" cy="114300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983480"/>
            <a:ext cx="10972800" cy="1051560"/>
          </a:xfrm>
          <a:prstGeom prst="rect">
            <a:avLst/>
          </a:prstGeom>
          <a:noFill/>
        </p:spPr>
        <p:txBody>
          <a:bodyPr wrap="square" anchor="ctr" lIns="45720" rIns="45720" tIns="27432" bIns="27432">
            <a:spAutoFit/>
          </a:bodyPr>
          <a:lstStyle/>
          <a:p>
            <a:pPr algn="l">
              <a:lnSpc>
                <a:spcPct val="105000"/>
              </a:lnSpc>
              <a:spcAft>
                <a:spcPts val="300"/>
              </a:spcAft>
            </a:pPr>
            <a:r>
              <a:rPr sz="1400" b="1" i="0">
                <a:solidFill>
                  <a:srgbClr val="0C2340"/>
                </a:solidFill>
                <a:latin typeface="Arial"/>
              </a:rPr>
              <a:t>CRC lessons (10-12/13)</a:t>
            </a:r>
          </a:p>
          <a:p>
            <a:pPr algn="l">
              <a:lnSpc>
                <a:spcPct val="105000"/>
              </a:lnSpc>
              <a:spcAft>
                <a:spcPts val="300"/>
              </a:spcAft>
            </a:pPr>
            <a:r>
              <a:rPr sz="1300" b="0" i="0">
                <a:solidFill>
                  <a:srgbClr val="1F1F1F"/>
                </a:solidFill>
                <a:latin typeface="Arial"/>
              </a:rPr>
              <a:t>Envs go under /groups. Test the real entry-path import, not a shallow import. A build-only check over the whole lattice catches patch bugs before a 7 h queue.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Words>
  <Application>Microsoft Macintosh PowerPoint</Application>
  <PresentationFormat>Widescreen</PresentationFormat>
  <Paragraphs>31</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Kay: Status of Week’s Goals</vt:lpstr>
      <vt:lpstr>Kay: One Cool Result</vt:lpstr>
      <vt:lpstr>Kay: Plans for the Next 2 Weeks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alex@dowlinglab.org</dc:creator>
  <cp:lastModifiedBy>Kay Lu</cp:lastModifiedBy>
  <cp:revision>1</cp:revision>
  <dcterms:created xsi:type="dcterms:W3CDTF">2018-06-25T12:14:03Z</dcterms:created>
  <dcterms:modified xsi:type="dcterms:W3CDTF">2026-04-28T08:06:29Z</dcterms:modified>
</cp:coreProperties>
</file>