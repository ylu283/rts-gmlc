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LeGLuJJqaV9rv4rreQQA/E1vi0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858A5-3A9D-437B-AAF5-A56A1AD87D24}">
  <a:tblStyle styleId="{6F9858A5-3A9D-437B-AAF5-A56A1AD87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9ECB45-BCAC-4C38-B241-BF78F6F0C6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8"/>
  </p:normalViewPr>
  <p:slideViewPr>
    <p:cSldViewPr snapToGrid="0">
      <p:cViewPr varScale="1">
        <p:scale>
          <a:sx n="118" d="100"/>
          <a:sy n="118"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Deck built by make_bo_1012_deck.py from OUTLINE.md (content source of truth). Sources: /Users/yilu/Documents/GitHub/RTS-GMLC/trial_0826/campaign/analysis/bo_stage2/BO_STAGE2.md; /Users/yilu/Documents/GitHub/RTS-GMLC/trial_0826/campaign/analysis/bo_stage2/ROUND_LOG.md; /Users/yilu/Documents/GitHub/RTS-GMLC/trial_0826/campaign/analysis/random_baseline/RANDOM_BASELINE.md; /Users/yilu/Documents/development/nd/research/admin/prompt/bogp/34-random-baseline.md; /Users/yilu/Documents/development/nd/research/admin/prompt/bogp/math-log.md;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Organisation follows pi_1008 v2: four blocks. Technical slides that touch a roadblocker get a RED badge, a decision a GREEN badge. Sources: /Users/yilu/Documents/GitHub/RTS-GMLC/trial_0826/campaign/analysis/bo_stage2/BO_STAGE2.md;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Block 1: status and timeline.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status line, §2, pain log; R §2; LR 10-11c.</a:t>
            </a:r>
          </a:p>
          <a:p>
            <a:r>
              <a:t>Sources: /Users/yilu/Documents/GitHub/RTS-GMLC/trial_0826/campaign/analysis/bo_stage2/BO_STAGE2.md; /Users/yilu/Documents/GitHub/RTS-GMLC/trial_0826/campaign/analysis/random_baseline/RANDOM_BASELINE.md;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Timeline from B (status line, pain log), ROUND_LOG.md, R, P34 and LR rows 10-06 … 10-11c.</a:t>
            </a:r>
          </a:p>
          <a:p>
            <a:r>
              <a:t>Sources: /Users/yilu/Documents/GitHub/RTS-GMLC/trial_0826/campaign/analysis/bo_stage2/BO_STAGE2.md; /Users/yilu/Documents/GitHub/RTS-GMLC/trial_0826/campaign/analysis/bo_stage2/ROUND_LOG.md; /Users/yilu/Documents/GitHub/RTS-GMLC/trial_0826/campaign/analysis/random_baseline/RANDOM_BASELINE.md; /Users/yilu/Documents/development/nd/research/admin/prompt/bogp/34-random-baseline.md;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Block 2: technical update.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header; prompt 30.</a:t>
            </a:r>
          </a:p>
          <a:p>
            <a:r>
              <a:t>Sources: /Users/yilu/Documents/GitHub/RTS-GMLC/trial_0826/campaign/analysis/bo_stage2/BO_STAGE2.md; /Users/yilu/Documents/development/nd/research/admin/prompt/bogp/30-stage2-bo-campaign.md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pain log + audit table.</a:t>
            </a:r>
          </a:p>
          <a:p>
            <a:r>
              <a:t>Sources: /Users/yilu/Documents/GitHub/RTS-GMLC/trial_0826/campaign/analysis/bo_stage2/BO_STAGE2.md; /Users/yilu/Documents/GitHub/RTS-GMLC/trial_0826/campaign/analysis/bo_stage2/ROUND_LOG.md</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/Users/yilu/Documents/GitHub/RTS-GMLC/trial_0826/campaign/analysis/bo_stage2/figs/fig2_hv_trajectory.png</a:t>
            </a:r>
          </a:p>
          <a:p>
            <a:r>
              <a:t>Notes: B §2.</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/Users/yilu/Documents/GitHub/RTS-GMLC/trial_0826/campaign/analysis/bo_stage2/figs/fig1_front.png</a:t>
            </a:r>
          </a:p>
          <a:p>
            <a:r>
              <a:t>Notes: B §1. Footer: costs g1-pending (+$28.188M constant under option c).</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§2.</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/Users/yilu/Documents/GitHub/RTS-GMLC/trial_0826/campaign/analysis/bo_stage2/figs/fig3_calibration.png</a:t>
            </a:r>
          </a:p>
          <a:p>
            <a:r>
              <a:t>Notes: B §3.</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/Users/yilu/Documents/GitHub/RTS-GMLC/trial_0826/campaign/analysis/bo_stage2/figs/fig4_front_designs.png</a:t>
            </a:r>
          </a:p>
          <a:p>
            <a:r>
              <a:t>Notes: B §4.</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P34 §0.1, §3.1–3.2; Sobol arm OFF (Kay 10-11; future TODO).</a:t>
            </a:r>
          </a:p>
          <a:p>
            <a:r>
              <a:t>Sources: /Users/yilu/Documents/development/nd/research/admin/prompt/bogp/34-random-baseline.md;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Figures: /Users/yilu/Documents/GitHub/RTS-GMLC/trial_0826/campaign/analysis/random_baseline/figs/fig1_hv_band.png</a:t>
            </a:r>
          </a:p>
          <a:p>
            <a:r>
              <a:t>/Users/yilu/Documents/GitHub/RTS-GMLC/trial_0826/campaign/analysis/random_baseline/figs/fig2_percentile_hist.png</a:t>
            </a:r>
          </a:p>
          <a:p>
            <a:r>
              <a:t>Notes: R §2; statistics reviewer (expert review 10-12).</a:t>
            </a:r>
          </a:p>
          <a:p>
            <a:r>
              <a:t>HOW TO READ THE TWO REFS. HV needs a reference point: the 'worst corner' of the box. A design that is worse than the ref on ANY objective earns zero HV. R_frozen = nadir of the 32 starts + 10 % span, fixed before round 1 (shed 15,102 MWh; curtailment 670,350 MWh; cost $652.0M). R_union = the same formula over all 96 designs (shed 32,100 MWh; curtailment 1,385,278 MWh; cost $684.3M); it equals BO_STAGE2's REF48. R_frozen leans toward random: 5 of BO's 16 picks are corner designs outside this box and earn zero. R_union leans toward BO: the bigger box credits those corners, so p-hat = 1.00 there mostly restates the S1 extremes result. Rule: 'above' only if above at BOTH refs. Lead with R_frozen. Each panel divides by its own HV0, so do not compare heights across the two panels (1.046 vs 1.069). Band = p10-p90 of random subsets (8-subsets at n = 40, 16-subsets at n = 48; 100,000 each).</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R §3; strategy-session check 10-12; statistics reviewer (expert review 10-12).</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/Users/yilu/Documents/GitHub/RTS-GMLC/trial_0826/campaign/analysis/random_baseline/figs/fig3_s1_extremes.png</a:t>
            </a:r>
          </a:p>
          <a:p>
            <a:r>
              <a:t>Notes: R §4.2; power-systems reviewer (expert review 10-12).</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Figure: /Users/yilu/Documents/GitHub/RTS-GMLC/trial_0826/campaign/analysis/random_baseline/figs/fig4b_grand_front_unified.png</a:t>
            </a:r>
          </a:p>
          <a:p>
            <a:r>
              <a:t>Notes: R §4.3–4.4.</a:t>
            </a:r>
          </a:p>
          <a:p>
            <a:r>
              <a:t>Sources: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R §4.3 iii; power-systems reviewer (expert review 10-12).</a:t>
            </a:r>
          </a:p>
          <a:p>
            <a:r>
              <a:t>Proposed paper wording (power-systems reviewer, verbatim):</a:t>
            </a:r>
          </a:p>
          <a:p>
            <a:r>
              <a:t>"Every knee design, under either normalization, places the nuclear retrofit at its lattice minimum (ω = 0.05, 20 MW) and puts most of the PEM capacity (55–79%) on the two largest wind sites (buses 303 and 317). Total PEM capacity sets the position along the front, not membership of the knee region. Knees span 1.49–2.08 GW as the normalization changes. Over that range, cost rises about 5% while curtailment falls about 44%. The total therefore expresses a choice between curtailment and cost, not a recommended size."</a:t>
            </a:r>
          </a:p>
          <a:p>
            <a:r>
              <a:t>Sources: /Users/yilu/Documents/GitHub/RTS-GMLC/trial_0826/campaign/analysis/random_baseline/RANDOM_BASELINE.md;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B claim scope; ML §5.2; statistics reviewer (expert review 10-12).</a:t>
            </a:r>
          </a:p>
          <a:p>
            <a:r>
              <a:t>Sources: /Users/yilu/Documents/GitHub/RTS-GMLC/trial_0826/campaign/analysis/bo_stage2/BO_STAGE2.md; /Users/yilu/Documents/development/nd/research/admin/prompt/bogp/math-log.md</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Block 3: roadblockers and open questions.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power-systems reviewer (expert review 10-12); B open items.</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Block 4: decision points and TODO.</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Notes: statistics reviewer (expert review 10-12); ML §5.2.</a:t>
            </a:r>
          </a:p>
          <a:p>
            <a:r>
              <a:t>Sources: /Users/yilu/Documents/development/nd/research/admin/prompt/bogp/math-log.md; /Users/yilu/Documents/GitHub/RTS-GMLC/trial_0826/campaign/analysis/random_baseline/RANDOM_BASELINE.md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Contribution = the WORKFLOW (pre-registered, auditable, unattended MOBO with a noise-floor stop), for an applied-methods venue; not a new BO algorithm. Downgraded: Sobol to one continuation per start set (descriptive); knee-only re-runs. Dropped: ≥ 20 real Stage-2 seeds, lower-τ continuation, 5-batch Sobol, other weather years, GP-fix restart. Total ≈ 4k (C + cheapest A/B) to ~14k core-h (full arms). Living report §9.7.</a:t>
            </a:r>
          </a:p>
          <a:p>
            <a:r>
              <a:t>Sources: /Users/yilu/Documents/development/nd/research/admin/prompt/bogp/math-log.md;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Planner review 10-12. Shed-vs-PEM and the 22.4 MWh check gate the write-up, not compute. g1 does not gate compute (constant shift).</a:t>
            </a:r>
          </a:p>
          <a:p>
            <a:r>
              <a:t>Sources: /Users/yilu/Documents/development/nd/research/admin/prompt/bogp/living-report-multipem.md;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 processing notebook gtep/123_bus_coal/ERCOT_BUS123_base_XC_editeddata/demo_processing_XC.ipynb. Correct mapping: HR_avg_0 = 1000·C(Pmin)/(fp·Pmin); HR_incr_k = 1000·(ΔC_k/ΔP_k)/fp; start cost = Csu·Pmax. Check GTEP 123-bus work from the same folder. Living report §9.8; TL360_VERDICT banner (ercot e844fa7).</a:t>
            </a:r>
          </a:p>
          <a:p>
            <a:r>
              <a:t>Sources: /Users/yilu/Documents/development/nd/research/admin/prompt/bogp/living-report-multipem.md; /Users/yilu/Documents/development/nd/research/admin/prompt/bogp/math-log.md</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Decisions D1–D5 from OUTLINE.md slide 26. D1 → slide 24/25; D2 → slide 19; D3 → slide 20; D4 → slide 8; D5 → NXT-D7 (slide 22).</a:t>
            </a:r>
          </a:p>
          <a:p>
            <a:r>
              <a:t>Sources: /Users/yilu/Documents/GitHub/RTS-GMLC/trial_0826/campaign/analysis/random_baseline/RANDOM_BASELINE.md; /Users/yilu/Documents/GitHub/RTS-GMLC/trial_0826/campaign/analysis/bo_stage2/BO_STAGE2.md; /Users/yilu/Documents/development/nd/research/admin/prompt/bogp/34-random-baseline.md</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Block 5 was appended on 10-13. OUTLINE.md slides 30–33. 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admin PROGRESS.md rows 1–10; LR 10-12u, 10-12v, 10-13a, 10-13b. 35 relaunch 8308211; 37 CRC gate f5e4c14.</a:t>
            </a:r>
          </a:p>
          <a:p>
            <a:r>
              <a:t>Sources: /Users/yilu/Documents/development/nd/research/admin/prompt/bogp/PROGRESS.md; /Users/yilu/Documents/development/nd/research/admin/prompt/bogp/living-report-multipem.md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Numbers: ercot extracts base_2019_v2 (e3082fa) and screening_v2 (2ba803b), overall.csv; raw Prescient totals, objectives (true curtailment, cost less synthetic) not yet computed. Wave C failure: 02b147d, CRC log selection_t1_v2_array.o1533432.6 ('Generator 1 has less output at T0 than is feasible to ramp up to'). Same family as 1eaf05e (startup capacity). The thermal patch also sets ramp_up_60min = PEM capacity (ω × 2,430 MW), so the egret T0 check depends on ω. Old rows 6–11 are quarantined in runs/quarantine_T0_729, not deleted.</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T3 base read: ercot df61ab4 (ERCOT_COST_FIX.md). v1 replicate spread: screening bimodality ±$79.5M (3edd682) and TL=360 probe |Δ| $56–127M (c9d28cd). Top-k: 4fb3b1f (committed after B landed, before any per-site value was read; disclosed). Sizes are a proposal by the 36 session; pending Kay.</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35: d876321 (G1, G3), 1b17f42 (env), 35 §3.2 AMENDMENT 10-12 (N1 gate; paper register P13), 6480264 + 8308211 (import fix, relaunch). 37: 2d529ec (Amendment 1), f5e4c14 (CRC gate + fingerprint).</a:t>
            </a:r>
          </a:p>
          <a:p>
            <a:r>
              <a:t>Sources: /Users/yilu/Documents/development/nd/research/admin/prompt/bogp/living-report-multipem.md; /Users/yilu/Documents/development/nd/research/admin/prompt/bogp/PROGRESS.md</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5" name="Google Shape;5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a:spLocks noGrp="1"/>
          </p:cNvSpPr>
          <p:nvPr>
            <p:ph type="pic" idx="2"/>
          </p:nvPr>
        </p:nvSpPr>
        <p:spPr>
          <a:xfrm>
            <a:off x="5183188" y="987425"/>
            <a:ext cx="6172200" cy="4873625"/>
          </a:xfrm>
          <a:prstGeom prst="rect">
            <a:avLst/>
          </a:prstGeom>
          <a:noFill/>
          <a:ln>
            <a:noFill/>
          </a:ln>
        </p:spPr>
      </p:sp>
      <p:sp>
        <p:nvSpPr>
          <p:cNvPr id="67" name="Google Shape;6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body" idx="1"/>
          </p:nvPr>
        </p:nvSpPr>
        <p:spPr>
          <a:xfrm rot="5400000">
            <a:off x="3493362" y="-2344222"/>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
          <p:cNvPicPr preferRelativeResize="0"/>
          <p:nvPr/>
        </p:nvPicPr>
        <p:blipFill rotWithShape="1">
          <a:blip r:embed="rId12">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BO CAMPAIGN QUALITY REPORT · 2026-10-12</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BO campaign quality report</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Stage-2 q-ParEGO on RTS-GMLC, scenario C — what ran, what it found, what it does not show, and what comes next.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How this deck is organised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457200" y="1280160"/>
            <a:ext cx="2697480" cy="16002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371600"/>
            <a:ext cx="2423160" cy="45720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0C2340"/>
                </a:solidFill>
                <a:latin typeface="Arial"/>
              </a:rPr>
              <a:t>1  Progress</a:t>
            </a:r>
          </a:p>
        </p:txBody>
      </p:sp>
      <p:sp>
        <p:nvSpPr>
          <p:cNvPr id="7" name="TextBox 6"/>
          <p:cNvSpPr txBox="1"/>
          <p:nvPr/>
        </p:nvSpPr>
        <p:spPr>
          <a:xfrm>
            <a:off x="594360" y="1874519"/>
            <a:ext cx="2423160" cy="146304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Status and timeline.</a:t>
            </a:r>
          </a:p>
        </p:txBody>
      </p:sp>
      <p:sp>
        <p:nvSpPr>
          <p:cNvPr id="8" name="Rounded Rectangle 7"/>
          <p:cNvSpPr/>
          <p:nvPr/>
        </p:nvSpPr>
        <p:spPr>
          <a:xfrm>
            <a:off x="3291840" y="1280160"/>
            <a:ext cx="2697480" cy="16002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429000" y="1371600"/>
            <a:ext cx="2423160" cy="45720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0C2340"/>
                </a:solidFill>
                <a:latin typeface="Arial"/>
              </a:rPr>
              <a:t>2  Technical update</a:t>
            </a:r>
          </a:p>
        </p:txBody>
      </p:sp>
      <p:sp>
        <p:nvSpPr>
          <p:cNvPr id="10" name="TextBox 9"/>
          <p:cNvSpPr txBox="1"/>
          <p:nvPr/>
        </p:nvSpPr>
        <p:spPr>
          <a:xfrm>
            <a:off x="3429000" y="1874519"/>
            <a:ext cx="2423160" cy="146304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A setup, B BO result, C random baseline, D design recipe, E claim scope.</a:t>
            </a:r>
          </a:p>
        </p:txBody>
      </p:sp>
      <p:sp>
        <p:nvSpPr>
          <p:cNvPr id="11" name="Rounded Rectangle 10"/>
          <p:cNvSpPr/>
          <p:nvPr/>
        </p:nvSpPr>
        <p:spPr>
          <a:xfrm>
            <a:off x="6126480" y="1280160"/>
            <a:ext cx="2697480" cy="16002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63640" y="1371600"/>
            <a:ext cx="2423160" cy="45720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C0392B"/>
                </a:solidFill>
                <a:latin typeface="Arial"/>
              </a:rPr>
              <a:t>3  Roadblockers</a:t>
            </a:r>
          </a:p>
        </p:txBody>
      </p:sp>
      <p:sp>
        <p:nvSpPr>
          <p:cNvPr id="13" name="TextBox 12"/>
          <p:cNvSpPr txBox="1"/>
          <p:nvPr/>
        </p:nvSpPr>
        <p:spPr>
          <a:xfrm>
            <a:off x="6263640" y="1874519"/>
            <a:ext cx="2423160" cy="146304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Roadblockers and open questions.</a:t>
            </a:r>
          </a:p>
        </p:txBody>
      </p:sp>
      <p:sp>
        <p:nvSpPr>
          <p:cNvPr id="14" name="Rounded Rectangle 13"/>
          <p:cNvSpPr/>
          <p:nvPr/>
        </p:nvSpPr>
        <p:spPr>
          <a:xfrm>
            <a:off x="8961120" y="1280160"/>
            <a:ext cx="2697480" cy="16002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98280" y="1371600"/>
            <a:ext cx="2423160" cy="45720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1E8449"/>
                </a:solidFill>
                <a:latin typeface="Arial"/>
              </a:rPr>
              <a:t>4  Decision points</a:t>
            </a:r>
          </a:p>
        </p:txBody>
      </p:sp>
      <p:sp>
        <p:nvSpPr>
          <p:cNvPr id="16" name="TextBox 15"/>
          <p:cNvSpPr txBox="1"/>
          <p:nvPr/>
        </p:nvSpPr>
        <p:spPr>
          <a:xfrm>
            <a:off x="9098280" y="1874519"/>
            <a:ext cx="2423160" cy="1463040"/>
          </a:xfrm>
          <a:prstGeom prst="rect">
            <a:avLst/>
          </a:prstGeom>
          <a:noFill/>
        </p:spPr>
        <p:txBody>
          <a:bodyPr wrap="square" anchor="t" lIns="45720" rIns="45720" tIns="27432" bIns="27432">
            <a:spAutoFit/>
          </a:bodyPr>
          <a:lstStyle/>
          <a:p>
            <a:pPr algn="l">
              <a:lnSpc>
                <a:spcPct val="105000"/>
              </a:lnSpc>
              <a:spcAft>
                <a:spcPts val="400"/>
              </a:spcAft>
            </a:pPr>
            <a:r>
              <a:rPr sz="1300" b="0" i="0">
                <a:solidFill>
                  <a:srgbClr val="1F1F1F"/>
                </a:solidFill>
                <a:latin typeface="Arial"/>
              </a:rPr>
              <a:t>Decision points and TODO.</a:t>
            </a:r>
          </a:p>
        </p:txBody>
      </p:sp>
      <p:sp>
        <p:nvSpPr>
          <p:cNvPr id="17" name="TextBox 16"/>
          <p:cNvSpPr txBox="1"/>
          <p:nvPr/>
        </p:nvSpPr>
        <p:spPr>
          <a:xfrm>
            <a:off x="457200" y="3017520"/>
            <a:ext cx="11247120" cy="36576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6B6B6B"/>
                </a:solidFill>
                <a:latin typeface="Arial"/>
              </a:rPr>
              <a:t>Red badge (top-right) = the slide touches a roadblocker. Green badge = the slide touches a decision. Block 5 (added 10-13, slides 30–34): status of prompts 35, 36, 37.</a:t>
            </a:r>
          </a:p>
        </p:txBody>
      </p:sp>
      <p:sp>
        <p:nvSpPr>
          <p:cNvPr id="18" name="Rounded Rectangle 17"/>
          <p:cNvSpPr/>
          <p:nvPr/>
        </p:nvSpPr>
        <p:spPr>
          <a:xfrm>
            <a:off x="457200" y="3611880"/>
            <a:ext cx="11247120" cy="237744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94360" y="3657600"/>
            <a:ext cx="10972800" cy="2286000"/>
          </a:xfrm>
          <a:prstGeom prst="rect">
            <a:avLst/>
          </a:prstGeom>
          <a:noFill/>
        </p:spPr>
        <p:txBody>
          <a:bodyPr wrap="square" anchor="ctr" lIns="45720" rIns="45720" tIns="27432" bIns="27432">
            <a:spAutoFit/>
          </a:bodyPr>
          <a:lstStyle/>
          <a:p>
            <a:pPr algn="l">
              <a:lnSpc>
                <a:spcPct val="105000"/>
              </a:lnSpc>
              <a:spcAft>
                <a:spcPts val="300"/>
              </a:spcAft>
            </a:pPr>
            <a:r>
              <a:rPr sz="1600" b="1" i="0">
                <a:solidFill>
                  <a:srgbClr val="0C2340"/>
                </a:solidFill>
                <a:latin typeface="Arial"/>
              </a:rPr>
              <a:t>One-line takeaway</a:t>
            </a:r>
          </a:p>
          <a:p>
            <a:pPr algn="l">
              <a:lnSpc>
                <a:spcPct val="105000"/>
              </a:lnSpc>
              <a:spcAft>
                <a:spcPts val="300"/>
              </a:spcAft>
            </a:pPr>
            <a:r>
              <a:rPr sz="1900" b="0" i="0">
                <a:solidFill>
                  <a:srgbClr val="1F1F1F"/>
                </a:solidFill>
                <a:latin typeface="Arial"/>
              </a:rPr>
              <a:t>The automated campaign ran and stopped on its rule. This run's HV is above 94 % of random 16-design batches, but the lead is small and sensitive to load-shed differences. BO's clear advantage is the cost and curtailment extremes. The design recipe must narrow.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BLOCK 1</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Progress</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Status and timeline.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Status: BO campaign complete, random baseline complete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45720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48</a:t>
            </a:r>
          </a:p>
        </p:txBody>
      </p:sp>
      <p:sp>
        <p:nvSpPr>
          <p:cNvPr id="7" name="TextBox 6"/>
          <p:cNvSpPr txBox="1"/>
          <p:nvPr/>
        </p:nvSpPr>
        <p:spPr>
          <a:xfrm>
            <a:off x="64008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designs evaluated by the campaign (32 Sobol starts + 2 BO rounds of 8)</a:t>
            </a:r>
          </a:p>
        </p:txBody>
      </p:sp>
      <p:sp>
        <p:nvSpPr>
          <p:cNvPr id="8" name="Rounded Rectangle 7"/>
          <p:cNvSpPr/>
          <p:nvPr/>
        </p:nvSpPr>
        <p:spPr>
          <a:xfrm>
            <a:off x="427482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5770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26</a:t>
            </a:r>
          </a:p>
        </p:txBody>
      </p:sp>
      <p:sp>
        <p:nvSpPr>
          <p:cNvPr id="10" name="TextBox 9"/>
          <p:cNvSpPr txBox="1"/>
          <p:nvPr/>
        </p:nvSpPr>
        <p:spPr>
          <a:xfrm>
            <a:off x="445770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designs on the final 3-objective front (13 starts, 6 r1, 7 r2)</a:t>
            </a:r>
          </a:p>
        </p:txBody>
      </p:sp>
      <p:sp>
        <p:nvSpPr>
          <p:cNvPr id="11" name="Rounded Rectangle 10"/>
          <p:cNvSpPr/>
          <p:nvPr/>
        </p:nvSpPr>
        <p:spPr>
          <a:xfrm>
            <a:off x="8092440" y="12801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75320" y="14173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+5.5 % → +1.4 %</a:t>
            </a:r>
          </a:p>
        </p:txBody>
      </p:sp>
      <p:sp>
        <p:nvSpPr>
          <p:cNvPr id="13" name="TextBox 12"/>
          <p:cNvSpPr txBox="1"/>
          <p:nvPr/>
        </p:nvSpPr>
        <p:spPr>
          <a:xfrm>
            <a:off x="8275320" y="24231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HV gain per round, under the 8 % stop threshold → BO_DONE 10-10</a:t>
            </a:r>
          </a:p>
        </p:txBody>
      </p:sp>
      <p:sp>
        <p:nvSpPr>
          <p:cNvPr id="14" name="Rounded Rectangle 13"/>
          <p:cNvSpPr/>
          <p:nvPr/>
        </p:nvSpPr>
        <p:spPr>
          <a:xfrm>
            <a:off x="45720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48</a:t>
            </a:r>
          </a:p>
        </p:txBody>
      </p:sp>
      <p:sp>
        <p:nvSpPr>
          <p:cNvPr id="16" name="TextBox 15"/>
          <p:cNvSpPr txBox="1"/>
          <p:nvPr/>
        </p:nvSpPr>
        <p:spPr>
          <a:xfrm>
            <a:off x="64008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uniform random designs run as the baseline (10-11, 9.4 h wall)</a:t>
            </a:r>
          </a:p>
        </p:txBody>
      </p:sp>
      <p:sp>
        <p:nvSpPr>
          <p:cNvPr id="17" name="Rounded Rectangle 16"/>
          <p:cNvSpPr/>
          <p:nvPr/>
        </p:nvSpPr>
        <p:spPr>
          <a:xfrm>
            <a:off x="427482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5770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0.94</a:t>
            </a:r>
          </a:p>
        </p:txBody>
      </p:sp>
      <p:sp>
        <p:nvSpPr>
          <p:cNvPr id="19" name="TextBox 18"/>
          <p:cNvSpPr txBox="1"/>
          <p:nvPr/>
        </p:nvSpPr>
        <p:spPr>
          <a:xfrm>
            <a:off x="445770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percentile of BO's HV among random 16-design batches (R_frozen)</a:t>
            </a:r>
          </a:p>
        </p:txBody>
      </p:sp>
      <p:sp>
        <p:nvSpPr>
          <p:cNvPr id="20" name="Rounded Rectangle 19"/>
          <p:cNvSpPr/>
          <p:nvPr/>
        </p:nvSpPr>
        <p:spPr>
          <a:xfrm>
            <a:off x="8092440" y="3794760"/>
            <a:ext cx="3611880" cy="2286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75320" y="3931920"/>
            <a:ext cx="3246120" cy="914400"/>
          </a:xfrm>
          <a:prstGeom prst="rect">
            <a:avLst/>
          </a:prstGeom>
          <a:noFill/>
        </p:spPr>
        <p:txBody>
          <a:bodyPr wrap="square" anchor="ctr" lIns="45720" rIns="45720" tIns="27432" bIns="27432">
            <a:spAutoFit/>
          </a:bodyPr>
          <a:lstStyle/>
          <a:p>
            <a:pPr algn="l">
              <a:lnSpc>
                <a:spcPct val="105000"/>
              </a:lnSpc>
              <a:spcAft>
                <a:spcPts val="400"/>
              </a:spcAft>
            </a:pPr>
            <a:r>
              <a:rPr sz="4000" b="1" i="0">
                <a:solidFill>
                  <a:srgbClr val="0C2340"/>
                </a:solidFill>
                <a:latin typeface="Arial"/>
              </a:rPr>
              <a:t>0.83</a:t>
            </a:r>
          </a:p>
        </p:txBody>
      </p:sp>
      <p:sp>
        <p:nvSpPr>
          <p:cNvPr id="22" name="TextBox 21"/>
          <p:cNvSpPr txBox="1"/>
          <p:nvPr/>
        </p:nvSpPr>
        <p:spPr>
          <a:xfrm>
            <a:off x="8275320" y="4937760"/>
            <a:ext cx="3246120" cy="1051560"/>
          </a:xfrm>
          <a:prstGeom prst="rect">
            <a:avLst/>
          </a:prstGeom>
          <a:noFill/>
        </p:spPr>
        <p:txBody>
          <a:bodyPr wrap="square" anchor="t" lIns="45720" rIns="45720" tIns="27432" bIns="27432">
            <a:spAutoFit/>
          </a:bodyPr>
          <a:lstStyle/>
          <a:p>
            <a:pPr algn="l">
              <a:lnSpc>
                <a:spcPct val="105000"/>
              </a:lnSpc>
              <a:spcAft>
                <a:spcPts val="400"/>
              </a:spcAft>
            </a:pPr>
            <a:r>
              <a:rPr sz="1400" b="0" i="0">
                <a:solidFill>
                  <a:srgbClr val="1F1F1F"/>
                </a:solidFill>
                <a:latin typeface="Arial"/>
              </a:rPr>
              <a:t>rounds per day (one 20 h stall: CRC compute nodes cannot submit jobs)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Timeline 09-19 → 10-12</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457200" y="1234440"/>
          <a:ext cx="11247120" cy="4754880"/>
        </p:xfrm>
        <a:graphic>
          <a:graphicData uri="http://schemas.openxmlformats.org/drawingml/2006/table">
            <a:tbl>
              <a:tblPr firstRow="1" bandRow="1">
                <a:tableStyleId>{5C22544A-7EE6-4342-B048-85BDC9FD1C3A}</a:tableStyleId>
              </a:tblPr>
              <a:tblGrid>
                <a:gridCol w="1828800"/>
                <a:gridCol w="9418320"/>
              </a:tblGrid>
              <a:tr h="475488">
                <a:tc>
                  <a:txBody>
                    <a:bodyPr wrap="square"/>
                    <a:lstStyle/>
                    <a:p>
                      <a:r>
                        <a:rPr sz="1400" b="1" i="0">
                          <a:solidFill>
                            <a:srgbClr val="1F1F1F"/>
                          </a:solidFill>
                          <a:latin typeface="Arial"/>
                        </a:rPr>
                        <a:t>Date</a:t>
                      </a:r>
                    </a:p>
                  </a:txBody>
                  <a:tcPr marL="54864" marR="54864" marT="27432" marB="27432">
                    <a:solidFill>
                      <a:srgbClr val="DCE3EE"/>
                    </a:solidFill>
                  </a:tcPr>
                </a:tc>
                <a:tc>
                  <a:txBody>
                    <a:bodyPr wrap="square"/>
                    <a:lstStyle/>
                    <a:p>
                      <a:r>
                        <a:rPr sz="1400" b="1" i="0">
                          <a:solidFill>
                            <a:srgbClr val="1F1F1F"/>
                          </a:solidFill>
                          <a:latin typeface="Arial"/>
                        </a:rPr>
                        <a:t>Event</a:t>
                      </a:r>
                    </a:p>
                  </a:txBody>
                  <a:tcPr marL="54864" marR="54864" marT="27432" marB="27432">
                    <a:solidFill>
                      <a:srgbClr val="DCE3EE"/>
                    </a:solidFill>
                  </a:tcPr>
                </a:tc>
              </a:tr>
              <a:tr h="475488">
                <a:tc>
                  <a:txBody>
                    <a:bodyPr wrap="square"/>
                    <a:lstStyle/>
                    <a:p>
                      <a:r>
                        <a:rPr sz="1400" b="0" i="0">
                          <a:solidFill>
                            <a:srgbClr val="1F1F1F"/>
                          </a:solidFill>
                          <a:latin typeface="Arial"/>
                        </a:rPr>
                        <a:t>09-19 → 09-22</a:t>
                      </a:r>
                    </a:p>
                  </a:txBody>
                  <a:tcPr marL="54864" marR="54864" marT="27432" marB="27432">
                    <a:solidFill>
                      <a:srgbClr val="FFFFFF"/>
                    </a:solidFill>
                  </a:tcPr>
                </a:tc>
                <a:tc>
                  <a:txBody>
                    <a:bodyPr wrap="square"/>
                    <a:lstStyle/>
                    <a:p>
                      <a:r>
                        <a:rPr sz="1400" b="0" i="0">
                          <a:solidFill>
                            <a:srgbClr val="1F1F1F"/>
                          </a:solidFill>
                          <a:latin typeface="Arial"/>
                        </a:rPr>
                        <a:t>Stage-2 starts: 32 Sobol designs (n0 + n0b) run on CRC</a:t>
                      </a:r>
                    </a:p>
                  </a:txBody>
                  <a:tcPr marL="54864" marR="54864" marT="27432" marB="27432">
                    <a:solidFill>
                      <a:srgbClr val="FFFFFF"/>
                    </a:solidFill>
                  </a:tcPr>
                </a:tc>
              </a:tr>
              <a:tr h="475488">
                <a:tc>
                  <a:txBody>
                    <a:bodyPr wrap="square"/>
                    <a:lstStyle/>
                    <a:p>
                      <a:r>
                        <a:rPr sz="1400" b="0" i="0">
                          <a:solidFill>
                            <a:srgbClr val="1F1F1F"/>
                          </a:solidFill>
                          <a:latin typeface="Arial"/>
                        </a:rPr>
                        <a:t>10-06</a:t>
                      </a:r>
                    </a:p>
                  </a:txBody>
                  <a:tcPr marL="54864" marR="54864" marT="27432" marB="27432">
                    <a:solidFill>
                      <a:srgbClr val="F6F6F6"/>
                    </a:solidFill>
                  </a:tcPr>
                </a:tc>
                <a:tc>
                  <a:txBody>
                    <a:bodyPr wrap="square"/>
                    <a:lstStyle/>
                    <a:p>
                      <a:r>
                        <a:rPr sz="1400" b="0" i="0">
                          <a:solidFill>
                            <a:srgbClr val="1F1F1F"/>
                          </a:solidFill>
                          <a:latin typeface="Arial"/>
                        </a:rPr>
                        <a:t>M = 3 approved: load shed, true curtailment, cost less synthetic</a:t>
                      </a:r>
                    </a:p>
                  </a:txBody>
                  <a:tcPr marL="54864" marR="54864" marT="27432" marB="27432">
                    <a:solidFill>
                      <a:srgbClr val="F6F6F6"/>
                    </a:solidFill>
                  </a:tcPr>
                </a:tc>
              </a:tr>
              <a:tr h="475488">
                <a:tc>
                  <a:txBody>
                    <a:bodyPr wrap="square"/>
                    <a:lstStyle/>
                    <a:p>
                      <a:r>
                        <a:rPr sz="1400" b="0" i="0">
                          <a:solidFill>
                            <a:srgbClr val="1F1F1F"/>
                          </a:solidFill>
                          <a:latin typeface="Arial"/>
                        </a:rPr>
                        <a:t>10-07</a:t>
                      </a:r>
                    </a:p>
                  </a:txBody>
                  <a:tcPr marL="54864" marR="54864" marT="27432" marB="27432">
                    <a:solidFill>
                      <a:srgbClr val="FFFFFF"/>
                    </a:solidFill>
                  </a:tcPr>
                </a:tc>
                <a:tc>
                  <a:txBody>
                    <a:bodyPr wrap="square"/>
                    <a:lstStyle/>
                    <a:p>
                      <a:r>
                        <a:rPr sz="1400" b="0" i="0">
                          <a:solidFill>
                            <a:srgbClr val="1F1F1F"/>
                          </a:solidFill>
                          <a:latin typeface="Arial"/>
                        </a:rPr>
                        <a:t>Chain launched (block_1); 2 harness fixes first</a:t>
                      </a:r>
                    </a:p>
                  </a:txBody>
                  <a:tcPr marL="54864" marR="54864" marT="27432" marB="27432">
                    <a:solidFill>
                      <a:srgbClr val="FFFFFF"/>
                    </a:solidFill>
                  </a:tcPr>
                </a:tc>
              </a:tr>
              <a:tr h="475488">
                <a:tc>
                  <a:txBody>
                    <a:bodyPr wrap="square"/>
                    <a:lstStyle/>
                    <a:p>
                      <a:r>
                        <a:rPr sz="1400" b="0" i="0">
                          <a:solidFill>
                            <a:srgbClr val="1F1F1F"/>
                          </a:solidFill>
                          <a:latin typeface="Arial"/>
                        </a:rPr>
                        <a:t>10-08</a:t>
                      </a:r>
                    </a:p>
                  </a:txBody>
                  <a:tcPr marL="54864" marR="54864" marT="27432" marB="27432">
                    <a:solidFill>
                      <a:srgbClr val="F6F6F6"/>
                    </a:solidFill>
                  </a:tcPr>
                </a:tc>
                <a:tc>
                  <a:txBody>
                    <a:bodyPr wrap="square"/>
                    <a:lstStyle/>
                    <a:p>
                      <a:r>
                        <a:rPr sz="1400" b="0" i="0">
                          <a:solidFill>
                            <a:srgbClr val="1F1F1F"/>
                          </a:solidFill>
                          <a:latin typeface="Arial"/>
                        </a:rPr>
                        <a:t>Round 1 results; acquisition WEDGED at qsub (compute node is no submit host)</a:t>
                      </a:r>
                    </a:p>
                  </a:txBody>
                  <a:tcPr marL="54864" marR="54864" marT="27432" marB="27432">
                    <a:solidFill>
                      <a:srgbClr val="F6F6F6"/>
                    </a:solidFill>
                  </a:tcPr>
                </a:tc>
              </a:tr>
              <a:tr h="475488">
                <a:tc>
                  <a:txBody>
                    <a:bodyPr wrap="square"/>
                    <a:lstStyle/>
                    <a:p>
                      <a:r>
                        <a:rPr sz="1400" b="0" i="0">
                          <a:solidFill>
                            <a:srgbClr val="1F1F1F"/>
                          </a:solidFill>
                          <a:latin typeface="Arial"/>
                        </a:rPr>
                        <a:t>10-09</a:t>
                      </a:r>
                    </a:p>
                  </a:txBody>
                  <a:tcPr marL="54864" marR="54864" marT="27432" marB="27432">
                    <a:solidFill>
                      <a:srgbClr val="FFFFFF"/>
                    </a:solidFill>
                  </a:tcPr>
                </a:tc>
                <a:tc>
                  <a:txBody>
                    <a:bodyPr wrap="square"/>
                    <a:lstStyle/>
                    <a:p>
                      <a:r>
                        <a:rPr sz="1400" b="0" i="0">
                          <a:solidFill>
                            <a:srgbClr val="1F1F1F"/>
                          </a:solidFill>
                          <a:latin typeface="Arial"/>
                        </a:rPr>
                        <a:t>Round 2 submitted by hand from the login node (≈ 20 h lost)</a:t>
                      </a:r>
                    </a:p>
                  </a:txBody>
                  <a:tcPr marL="54864" marR="54864" marT="27432" marB="27432">
                    <a:solidFill>
                      <a:srgbClr val="FFFFFF"/>
                    </a:solidFill>
                  </a:tcPr>
                </a:tc>
              </a:tr>
              <a:tr h="475488">
                <a:tc>
                  <a:txBody>
                    <a:bodyPr wrap="square"/>
                    <a:lstStyle/>
                    <a:p>
                      <a:r>
                        <a:rPr sz="1400" b="0" i="0">
                          <a:solidFill>
                            <a:srgbClr val="1F1F1F"/>
                          </a:solidFill>
                          <a:latin typeface="Arial"/>
                        </a:rPr>
                        <a:t>10-10</a:t>
                      </a:r>
                    </a:p>
                  </a:txBody>
                  <a:tcPr marL="54864" marR="54864" marT="27432" marB="27432">
                    <a:solidFill>
                      <a:srgbClr val="F6F6F6"/>
                    </a:solidFill>
                  </a:tcPr>
                </a:tc>
                <a:tc>
                  <a:txBody>
                    <a:bodyPr wrap="square"/>
                    <a:lstStyle/>
                    <a:p>
                      <a:r>
                        <a:rPr sz="1400" b="0" i="0">
                          <a:solidFill>
                            <a:srgbClr val="1F1F1F"/>
                          </a:solidFill>
                          <a:latin typeface="Arial"/>
                        </a:rPr>
                        <a:t>Round 2 results; stop rule fires → BO_DONE; BO_STAGE2.md written and reviewed</a:t>
                      </a:r>
                    </a:p>
                  </a:txBody>
                  <a:tcPr marL="54864" marR="54864" marT="27432" marB="27432">
                    <a:solidFill>
                      <a:srgbClr val="F6F6F6"/>
                    </a:solidFill>
                  </a:tcPr>
                </a:tc>
              </a:tr>
              <a:tr h="475488">
                <a:tc>
                  <a:txBody>
                    <a:bodyPr wrap="square"/>
                    <a:lstStyle/>
                    <a:p>
                      <a:r>
                        <a:rPr sz="1400" b="0" i="0">
                          <a:solidFill>
                            <a:srgbClr val="1F1F1F"/>
                          </a:solidFill>
                          <a:latin typeface="Arial"/>
                        </a:rPr>
                        <a:t>10-10</a:t>
                      </a:r>
                    </a:p>
                  </a:txBody>
                  <a:tcPr marL="54864" marR="54864" marT="27432" marB="27432">
                    <a:solidFill>
                      <a:srgbClr val="FFFFFF"/>
                    </a:solidFill>
                  </a:tcPr>
                </a:tc>
                <a:tc>
                  <a:txBody>
                    <a:bodyPr wrap="square"/>
                    <a:lstStyle/>
                    <a:p>
                      <a:r>
                        <a:rPr sz="1400" b="0" i="0">
                          <a:solidFill>
                            <a:srgbClr val="1F1F1F"/>
                          </a:solidFill>
                          <a:latin typeface="Arial"/>
                        </a:rPr>
                        <a:t>Prompt 34 (random baseline) pre-registered, 3-agent review</a:t>
                      </a:r>
                    </a:p>
                  </a:txBody>
                  <a:tcPr marL="54864" marR="54864" marT="27432" marB="27432">
                    <a:solidFill>
                      <a:srgbClr val="FFFFFF"/>
                    </a:solidFill>
                  </a:tcPr>
                </a:tc>
              </a:tr>
              <a:tr h="475488">
                <a:tc>
                  <a:txBody>
                    <a:bodyPr wrap="square"/>
                    <a:lstStyle/>
                    <a:p>
                      <a:r>
                        <a:rPr sz="1400" b="0" i="0">
                          <a:solidFill>
                            <a:srgbClr val="1F1F1F"/>
                          </a:solidFill>
                          <a:latin typeface="Arial"/>
                        </a:rPr>
                        <a:t>10-11</a:t>
                      </a:r>
                    </a:p>
                  </a:txBody>
                  <a:tcPr marL="54864" marR="54864" marT="27432" marB="27432">
                    <a:solidFill>
                      <a:srgbClr val="F6F6F6"/>
                    </a:solidFill>
                  </a:tcPr>
                </a:tc>
                <a:tc>
                  <a:txBody>
                    <a:bodyPr wrap="square"/>
                    <a:lstStyle/>
                    <a:p>
                      <a:r>
                        <a:rPr sz="1400" b="0" i="0">
                          <a:solidFill>
                            <a:srgbClr val="1F1F1F"/>
                          </a:solidFill>
                          <a:latin typeface="Arial"/>
                        </a:rPr>
                        <a:t>48 random designs built, run (11:00 → 20:22), analysed (23:29)</a:t>
                      </a:r>
                    </a:p>
                  </a:txBody>
                  <a:tcPr marL="54864" marR="54864" marT="27432" marB="27432">
                    <a:solidFill>
                      <a:srgbClr val="F6F6F6"/>
                    </a:solidFill>
                  </a:tcPr>
                </a:tc>
              </a:tr>
              <a:tr h="475488">
                <a:tc>
                  <a:txBody>
                    <a:bodyPr wrap="square"/>
                    <a:lstStyle/>
                    <a:p>
                      <a:r>
                        <a:rPr sz="1400" b="0" i="0">
                          <a:solidFill>
                            <a:srgbClr val="1F1F1F"/>
                          </a:solidFill>
                          <a:latin typeface="Arial"/>
                        </a:rPr>
                        <a:t>10-12</a:t>
                      </a:r>
                    </a:p>
                  </a:txBody>
                  <a:tcPr marL="54864" marR="54864" marT="27432" marB="27432">
                    <a:solidFill>
                      <a:srgbClr val="FFFFFF"/>
                    </a:solidFill>
                  </a:tcPr>
                </a:tc>
                <a:tc>
                  <a:txBody>
                    <a:bodyPr wrap="square"/>
                    <a:lstStyle/>
                    <a:p>
                      <a:r>
                        <a:rPr sz="1400" b="0" i="0">
                          <a:solidFill>
                            <a:srgbClr val="1F1F1F"/>
                          </a:solidFill>
                          <a:latin typeface="Arial"/>
                        </a:rPr>
                        <a:t>Expert review of the random-baseline result (statistics + power systems)</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BLOCK 2</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Technical update</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A setup → B BO result → C random baseline → D design recipe → E claim scope.
Red badge = roadblocker, green badge = decision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Reproducibility card: the campaign configuration (frozen)</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457200" y="1234440"/>
          <a:ext cx="11247119" cy="4773168"/>
        </p:xfrm>
        <a:graphic>
          <a:graphicData uri="http://schemas.openxmlformats.org/drawingml/2006/table">
            <a:tbl>
              <a:tblPr firstRow="1" bandRow="1">
                <a:tableStyleId>{5C22544A-7EE6-4342-B048-85BDC9FD1C3A}</a:tableStyleId>
              </a:tblPr>
              <a:tblGrid>
                <a:gridCol w="3017520"/>
                <a:gridCol w="8229599"/>
              </a:tblGrid>
              <a:tr h="530352">
                <a:tc>
                  <a:txBody>
                    <a:bodyPr wrap="square"/>
                    <a:lstStyle/>
                    <a:p>
                      <a:r>
                        <a:rPr sz="1300" b="1" i="0">
                          <a:solidFill>
                            <a:srgbClr val="1F1F1F"/>
                          </a:solidFill>
                          <a:latin typeface="Arial"/>
                        </a:rPr>
                        <a:t>Item</a:t>
                      </a:r>
                    </a:p>
                  </a:txBody>
                  <a:tcPr marL="54864" marR="54864" marT="27432" marB="27432">
                    <a:solidFill>
                      <a:srgbClr val="DCE3EE"/>
                    </a:solidFill>
                  </a:tcPr>
                </a:tc>
                <a:tc>
                  <a:txBody>
                    <a:bodyPr wrap="square"/>
                    <a:lstStyle/>
                    <a:p>
                      <a:r>
                        <a:rPr sz="1300" b="1" i="0">
                          <a:solidFill>
                            <a:srgbClr val="1F1F1F"/>
                          </a:solidFill>
                          <a:latin typeface="Arial"/>
                        </a:rPr>
                        <a:t>Setting</a:t>
                      </a:r>
                    </a:p>
                  </a:txBody>
                  <a:tcPr marL="54864" marR="54864" marT="27432" marB="27432">
                    <a:solidFill>
                      <a:srgbClr val="DCE3EE"/>
                    </a:solidFill>
                  </a:tcPr>
                </a:tc>
              </a:tr>
              <a:tr h="530352">
                <a:tc>
                  <a:txBody>
                    <a:bodyPr wrap="square"/>
                    <a:lstStyle/>
                    <a:p>
                      <a:r>
                        <a:rPr sz="1300" b="0" i="0">
                          <a:solidFill>
                            <a:srgbClr val="1F1F1F"/>
                          </a:solidFill>
                          <a:latin typeface="Arial"/>
                        </a:rPr>
                        <a:t>Design space</a:t>
                      </a:r>
                    </a:p>
                  </a:txBody>
                  <a:tcPr marL="54864" marR="54864" marT="27432" marB="27432">
                    <a:solidFill>
                      <a:srgbClr val="FFFFFF"/>
                    </a:solidFill>
                  </a:tcPr>
                </a:tc>
                <a:tc>
                  <a:txBody>
                    <a:bodyPr wrap="square"/>
                    <a:lstStyle/>
                    <a:p>
                      <a:r>
                        <a:rPr sz="1300" b="0" i="0">
                          <a:solidFill>
                            <a:srgbClr val="1F1F1F"/>
                          </a:solidFill>
                          <a:latin typeface="Arial"/>
                        </a:rPr>
                        <a:t>6 tiers (nuclear, pv, tail, wind_122, wind_303, wind_317) × 9 lattice levels ω ∈ {0.05 … 1.0} = 531,441 designs</a:t>
                      </a:r>
                    </a:p>
                  </a:txBody>
                  <a:tcPr marL="54864" marR="54864" marT="27432" marB="27432">
                    <a:solidFill>
                      <a:srgbClr val="FFFFFF"/>
                    </a:solidFill>
                  </a:tcPr>
                </a:tc>
              </a:tr>
              <a:tr h="530352">
                <a:tc>
                  <a:txBody>
                    <a:bodyPr wrap="square"/>
                    <a:lstStyle/>
                    <a:p>
                      <a:r>
                        <a:rPr sz="1300" b="0" i="0">
                          <a:solidFill>
                            <a:srgbClr val="1F1F1F"/>
                          </a:solidFill>
                          <a:latin typeface="Arial"/>
                        </a:rPr>
                        <a:t>Scenario</a:t>
                      </a:r>
                    </a:p>
                  </a:txBody>
                  <a:tcPr marL="54864" marR="54864" marT="27432" marB="27432">
                    <a:solidFill>
                      <a:srgbClr val="F6F6F6"/>
                    </a:solidFill>
                  </a:tcPr>
                </a:tc>
                <a:tc>
                  <a:txBody>
                    <a:bodyPr wrap="square"/>
                    <a:lstStyle/>
                    <a:p>
                      <a:r>
                        <a:rPr sz="1300" b="0" i="0">
                          <a:solidFill>
                            <a:srgbClr val="1F1F1F"/>
                          </a:solidFill>
                          <a:latin typeface="Arial"/>
                        </a:rPr>
                        <a:t>C: ρ = 2.0, B = $40/MWh</a:t>
                      </a:r>
                    </a:p>
                  </a:txBody>
                  <a:tcPr marL="54864" marR="54864" marT="27432" marB="27432">
                    <a:solidFill>
                      <a:srgbClr val="F6F6F6"/>
                    </a:solidFill>
                  </a:tcPr>
                </a:tc>
              </a:tr>
              <a:tr h="530352">
                <a:tc>
                  <a:txBody>
                    <a:bodyPr wrap="square"/>
                    <a:lstStyle/>
                    <a:p>
                      <a:r>
                        <a:rPr sz="1300" b="0" i="0">
                          <a:solidFill>
                            <a:srgbClr val="1F1F1F"/>
                          </a:solidFill>
                          <a:latin typeface="Arial"/>
                        </a:rPr>
                        <a:t>Objectives (min)</a:t>
                      </a:r>
                    </a:p>
                  </a:txBody>
                  <a:tcPr marL="54864" marR="54864" marT="27432" marB="27432">
                    <a:solidFill>
                      <a:srgbClr val="FFFFFF"/>
                    </a:solidFill>
                  </a:tcPr>
                </a:tc>
                <a:tc>
                  <a:txBody>
                    <a:bodyPr wrap="square"/>
                    <a:lstStyle/>
                    <a:p>
                      <a:r>
                        <a:rPr sz="1300" b="0" i="0">
                          <a:solidFill>
                            <a:srgbClr val="1F1F1F"/>
                          </a:solidFill>
                          <a:latin typeface="Arial"/>
                        </a:rPr>
                        <a:t>load_shed_mwh, true_curtailment_mwh, total_cost_less_synthetic_usd</a:t>
                      </a:r>
                    </a:p>
                  </a:txBody>
                  <a:tcPr marL="54864" marR="54864" marT="27432" marB="27432">
                    <a:solidFill>
                      <a:srgbClr val="FFFFFF"/>
                    </a:solidFill>
                  </a:tcPr>
                </a:tc>
              </a:tr>
              <a:tr h="530352">
                <a:tc>
                  <a:txBody>
                    <a:bodyPr wrap="square"/>
                    <a:lstStyle/>
                    <a:p>
                      <a:r>
                        <a:rPr sz="1300" b="0" i="0">
                          <a:solidFill>
                            <a:srgbClr val="1F1F1F"/>
                          </a:solidFill>
                          <a:latin typeface="Arial"/>
                        </a:rPr>
                        <a:t>Starts</a:t>
                      </a:r>
                    </a:p>
                  </a:txBody>
                  <a:tcPr marL="54864" marR="54864" marT="27432" marB="27432">
                    <a:solidFill>
                      <a:srgbClr val="F6F6F6"/>
                    </a:solidFill>
                  </a:tcPr>
                </a:tc>
                <a:tc>
                  <a:txBody>
                    <a:bodyPr wrap="square"/>
                    <a:lstStyle/>
                    <a:p>
                      <a:r>
                        <a:rPr sz="1300" b="0" i="0">
                          <a:solidFill>
                            <a:srgbClr val="1F1F1F"/>
                          </a:solidFill>
                          <a:latin typeface="Arial"/>
                        </a:rPr>
                        <a:t>32 Sobol points (shared by every comparison)</a:t>
                      </a:r>
                    </a:p>
                  </a:txBody>
                  <a:tcPr marL="54864" marR="54864" marT="27432" marB="27432">
                    <a:solidFill>
                      <a:srgbClr val="F6F6F6"/>
                    </a:solidFill>
                  </a:tcPr>
                </a:tc>
              </a:tr>
              <a:tr h="530352">
                <a:tc>
                  <a:txBody>
                    <a:bodyPr wrap="square"/>
                    <a:lstStyle/>
                    <a:p>
                      <a:r>
                        <a:rPr sz="1300" b="0" i="0">
                          <a:solidFill>
                            <a:srgbClr val="1F1F1F"/>
                          </a:solidFill>
                          <a:latin typeface="Arial"/>
                        </a:rPr>
                        <a:t>Acquisition</a:t>
                      </a:r>
                    </a:p>
                  </a:txBody>
                  <a:tcPr marL="54864" marR="54864" marT="27432" marB="27432">
                    <a:solidFill>
                      <a:srgbClr val="FFFFFF"/>
                    </a:solidFill>
                  </a:tcPr>
                </a:tc>
                <a:tc>
                  <a:txBody>
                    <a:bodyPr wrap="square"/>
                    <a:lstStyle/>
                    <a:p>
                      <a:r>
                        <a:rPr sz="1300" b="0" i="0">
                          <a:solidFill>
                            <a:srgbClr val="1F1F1F"/>
                          </a:solidFill>
                          <a:latin typeface="Arial"/>
                        </a:rPr>
                        <a:t>q-ParEGO, q = 8: 8 Dirichlet weights, EI, kriging believer, discrete lattice candidates</a:t>
                      </a:r>
                    </a:p>
                  </a:txBody>
                  <a:tcPr marL="54864" marR="54864" marT="27432" marB="27432">
                    <a:solidFill>
                      <a:srgbClr val="FFFFFF"/>
                    </a:solidFill>
                  </a:tcPr>
                </a:tc>
              </a:tr>
              <a:tr h="530352">
                <a:tc>
                  <a:txBody>
                    <a:bodyPr wrap="square"/>
                    <a:lstStyle/>
                    <a:p>
                      <a:r>
                        <a:rPr sz="1300" b="0" i="0">
                          <a:solidFill>
                            <a:srgbClr val="1F1F1F"/>
                          </a:solidFill>
                          <a:latin typeface="Arial"/>
                        </a:rPr>
                        <a:t>HV reference (fixed before round 1)</a:t>
                      </a:r>
                    </a:p>
                  </a:txBody>
                  <a:tcPr marL="54864" marR="54864" marT="27432" marB="27432">
                    <a:solidFill>
                      <a:srgbClr val="F6F6F6"/>
                    </a:solidFill>
                  </a:tcPr>
                </a:tc>
                <a:tc>
                  <a:txBody>
                    <a:bodyPr wrap="square"/>
                    <a:lstStyle/>
                    <a:p>
                      <a:r>
                        <a:rPr sz="1300" b="0" i="0">
                          <a:solidFill>
                            <a:srgbClr val="1F1F1F"/>
                          </a:solidFill>
                          <a:latin typeface="Arial"/>
                        </a:rPr>
                        <a:t>nadir of the 32 starts + 10 % span; HV₀ = 6.606e17</a:t>
                      </a:r>
                    </a:p>
                  </a:txBody>
                  <a:tcPr marL="54864" marR="54864" marT="27432" marB="27432">
                    <a:solidFill>
                      <a:srgbClr val="F6F6F6"/>
                    </a:solidFill>
                  </a:tcPr>
                </a:tc>
              </a:tr>
              <a:tr h="530352">
                <a:tc>
                  <a:txBody>
                    <a:bodyPr wrap="square"/>
                    <a:lstStyle/>
                    <a:p>
                      <a:r>
                        <a:rPr sz="1300" b="0" i="0">
                          <a:solidFill>
                            <a:srgbClr val="1F1F1F"/>
                          </a:solidFill>
                          <a:latin typeface="Arial"/>
                        </a:rPr>
                        <a:t>Stop rule</a:t>
                      </a:r>
                    </a:p>
                  </a:txBody>
                  <a:tcPr marL="54864" marR="54864" marT="27432" marB="27432">
                    <a:solidFill>
                      <a:srgbClr val="FFFFFF"/>
                    </a:solidFill>
                  </a:tcPr>
                </a:tc>
                <a:tc>
                  <a:txBody>
                    <a:bodyPr wrap="square"/>
                    <a:lstStyle/>
                    <a:p>
                      <a:r>
                        <a:rPr sz="1300" b="0" i="0">
                          <a:solidFill>
                            <a:srgbClr val="1F1F1F"/>
                          </a:solidFill>
                          <a:latin typeface="Arial"/>
                        </a:rPr>
                        <a:t>2 consecutive rounds with gain &lt; τ = 5.263e16 (8.0 % of HV₀; shed-floor-dominated, conservative)</a:t>
                      </a:r>
                    </a:p>
                  </a:txBody>
                  <a:tcPr marL="54864" marR="54864" marT="27432" marB="27432">
                    <a:solidFill>
                      <a:srgbClr val="FFFFFF"/>
                    </a:solidFill>
                  </a:tcPr>
                </a:tc>
              </a:tr>
              <a:tr h="530352">
                <a:tc>
                  <a:txBody>
                    <a:bodyPr wrap="square"/>
                    <a:lstStyle/>
                    <a:p>
                      <a:r>
                        <a:rPr sz="1300" b="0" i="0">
                          <a:solidFill>
                            <a:srgbClr val="1F1F1F"/>
                          </a:solidFill>
                          <a:latin typeface="Arial"/>
                        </a:rPr>
                        <a:t>Software</a:t>
                      </a:r>
                    </a:p>
                  </a:txBody>
                  <a:tcPr marL="54864" marR="54864" marT="27432" marB="27432">
                    <a:solidFill>
                      <a:srgbClr val="F6F6F6"/>
                    </a:solidFill>
                  </a:tcPr>
                </a:tc>
                <a:tc>
                  <a:txBody>
                    <a:bodyPr wrap="square"/>
                    <a:lstStyle/>
                    <a:p>
                      <a:r>
                        <a:rPr sz="1300" b="0" i="0">
                          <a:solidFill>
                            <a:srgbClr val="1F1F1F"/>
                          </a:solidFill>
                          <a:latin typeface="Arial"/>
                        </a:rPr>
                        <a:t>bo-gp feat/qparego @ 60e6328; RTS runs are bit-reproducible</a:t>
                      </a:r>
                    </a:p>
                  </a:txBody>
                  <a:tcPr marL="54864" marR="54864" marT="27432" marB="27432">
                    <a:solidFill>
                      <a:srgbClr val="F6F6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How the loop ran, and the one structural defect</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CRC compute nodes cannot qsub</a:t>
            </a:r>
          </a:p>
        </p:txBody>
      </p:sp>
      <p:sp>
        <p:nvSpPr>
          <p:cNvPr id="6" name="Rounded Rectangle 5"/>
          <p:cNvSpPr/>
          <p:nvPr/>
        </p:nvSpPr>
        <p:spPr>
          <a:xfrm>
            <a:off x="822960" y="1325880"/>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array</a:t>
            </a:r>
          </a:p>
          <a:p>
            <a:pPr algn="ctr"/>
            <a:r>
              <a:rPr sz="1200" b="0" i="0">
                <a:solidFill>
                  <a:srgbClr val="1F1F1F"/>
                </a:solidFill>
                <a:latin typeface="Arial"/>
              </a:rPr>
              <a:t>8 Prescient runs</a:t>
            </a:r>
          </a:p>
        </p:txBody>
      </p:sp>
      <p:cxnSp>
        <p:nvCxnSpPr>
          <p:cNvPr id="7" name="Connector 6"/>
          <p:cNvCxnSpPr/>
          <p:nvPr/>
        </p:nvCxnSpPr>
        <p:spPr>
          <a:xfrm>
            <a:off x="2743200" y="2194560"/>
            <a:ext cx="0" cy="384048"/>
          </a:xfrm>
          <a:prstGeom prst="line">
            <a:avLst/>
          </a:prstGeom>
          <a:ln w="28575">
            <a:solidFill>
              <a:srgbClr val="0C23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2578608"/>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collector</a:t>
            </a:r>
          </a:p>
          <a:p>
            <a:pPr algn="ctr"/>
            <a:r>
              <a:rPr sz="1200" b="0" i="0">
                <a:solidFill>
                  <a:srgbClr val="1F1F1F"/>
                </a:solidFill>
                <a:latin typeface="Arial"/>
              </a:rPr>
              <a:t>objectives, push</a:t>
            </a:r>
          </a:p>
        </p:txBody>
      </p:sp>
      <p:cxnSp>
        <p:nvCxnSpPr>
          <p:cNvPr id="9" name="Connector 8"/>
          <p:cNvCxnSpPr/>
          <p:nvPr/>
        </p:nvCxnSpPr>
        <p:spPr>
          <a:xfrm>
            <a:off x="2743200" y="3447288"/>
            <a:ext cx="0" cy="384048"/>
          </a:xfrm>
          <a:prstGeom prst="line">
            <a:avLst/>
          </a:prstGeom>
          <a:ln w="28575">
            <a:solidFill>
              <a:srgbClr val="0C23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2960" y="3831336"/>
            <a:ext cx="3840480" cy="868680"/>
          </a:xfrm>
          <a:prstGeom prst="roundRect">
            <a:avLst>
              <a:gd name="adj" fmla="val 15000"/>
            </a:avLst>
          </a:prstGeom>
          <a:solidFill>
            <a:srgbClr val="F2F4F7"/>
          </a:solidFill>
          <a:ln w="15875">
            <a:solidFill>
              <a:srgbClr val="0C23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0C2340"/>
                </a:solidFill>
                <a:latin typeface="Arial"/>
              </a:rPr>
              <a:t>acquisition</a:t>
            </a:r>
          </a:p>
          <a:p>
            <a:pPr algn="ctr"/>
            <a:r>
              <a:rPr sz="1200" b="0" i="0">
                <a:solidFill>
                  <a:srgbClr val="1F1F1F"/>
                </a:solidFill>
                <a:latin typeface="Arial"/>
              </a:rPr>
              <a:t>grade, propose, push</a:t>
            </a:r>
          </a:p>
        </p:txBody>
      </p:sp>
      <p:cxnSp>
        <p:nvCxnSpPr>
          <p:cNvPr id="11" name="Connector 10"/>
          <p:cNvCxnSpPr/>
          <p:nvPr/>
        </p:nvCxnSpPr>
        <p:spPr>
          <a:xfrm>
            <a:off x="2743200" y="4700016"/>
            <a:ext cx="0" cy="384048"/>
          </a:xfrm>
          <a:prstGeom prst="line">
            <a:avLst/>
          </a:prstGeom>
          <a:ln w="28575">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2960" y="5084064"/>
            <a:ext cx="3840480" cy="868680"/>
          </a:xfrm>
          <a:prstGeom prst="roundRect">
            <a:avLst>
              <a:gd name="adj" fmla="val 15000"/>
            </a:avLst>
          </a:prstGeom>
          <a:solidFill>
            <a:srgbClr val="FBE9E7"/>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C0392B"/>
                </a:solidFill>
                <a:latin typeface="Arial"/>
              </a:rPr>
              <a:t>submit next round</a:t>
            </a:r>
          </a:p>
          <a:p>
            <a:pPr algn="ctr"/>
            <a:r>
              <a:rPr sz="1200" b="0" i="0">
                <a:solidFill>
                  <a:srgbClr val="1F1F1F"/>
                </a:solidFill>
                <a:latin typeface="Arial"/>
              </a:rPr>
              <a:t>fails: compute nodes are not submit hosts</a:t>
            </a:r>
          </a:p>
        </p:txBody>
      </p:sp>
      <p:cxnSp>
        <p:nvCxnSpPr>
          <p:cNvPr id="13" name="Connector 12"/>
          <p:cNvCxnSpPr/>
          <p:nvPr/>
        </p:nvCxnSpPr>
        <p:spPr>
          <a:xfrm flipH="1">
            <a:off x="502920" y="5518404"/>
            <a:ext cx="320040" cy="0"/>
          </a:xfrm>
          <a:prstGeom prst="line">
            <a:avLst/>
          </a:prstGeom>
          <a:ln w="19050">
            <a:solidFill>
              <a:srgbClr val="6B6B6B"/>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02920" y="1760220"/>
            <a:ext cx="0" cy="3758184"/>
          </a:xfrm>
          <a:prstGeom prst="line">
            <a:avLst/>
          </a:prstGeom>
          <a:ln w="19050">
            <a:solidFill>
              <a:srgbClr val="6B6B6B"/>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2920" y="1760220"/>
            <a:ext cx="320040" cy="0"/>
          </a:xfrm>
          <a:prstGeom prst="line">
            <a:avLst/>
          </a:prstGeom>
          <a:ln w="19050">
            <a:solidFill>
              <a:srgbClr val="6B6B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263640"/>
            <a:ext cx="4572000" cy="274320"/>
          </a:xfrm>
          <a:prstGeom prst="rect">
            <a:avLst/>
          </a:prstGeom>
          <a:noFill/>
        </p:spPr>
        <p:txBody>
          <a:bodyPr wrap="square" anchor="t" lIns="45720" rIns="45720" tIns="27432" bIns="27432">
            <a:spAutoFit/>
          </a:bodyPr>
          <a:lstStyle/>
          <a:p>
            <a:pPr algn="l">
              <a:lnSpc>
                <a:spcPct val="105000"/>
              </a:lnSpc>
              <a:spcAft>
                <a:spcPts val="400"/>
              </a:spcAft>
            </a:pPr>
            <a:r>
              <a:rPr sz="1000" b="0" i="0">
                <a:solidFill>
                  <a:srgbClr val="6B6B6B"/>
                </a:solidFill>
                <a:latin typeface="Arial"/>
              </a:rPr>
              <a:t>Chain per round; dashed = next round.</a:t>
            </a:r>
          </a:p>
        </p:txBody>
      </p:sp>
      <p:sp>
        <p:nvSpPr>
          <p:cNvPr id="17" name="Rounded Rectangle 16"/>
          <p:cNvSpPr/>
          <p:nvPr/>
        </p:nvSpPr>
        <p:spPr>
          <a:xfrm>
            <a:off x="5212080" y="1280160"/>
            <a:ext cx="6492240" cy="50292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94960" y="1417320"/>
            <a:ext cx="6126480" cy="4800600"/>
          </a:xfrm>
          <a:prstGeom prst="rect">
            <a:avLst/>
          </a:prstGeom>
          <a:noFill/>
        </p:spPr>
        <p:txBody>
          <a:bodyPr wrap="square" anchor="t" lIns="45720" rIns="45720" tIns="27432" bIns="27432">
            <a:spAutoFit/>
          </a:bodyPr>
          <a:lstStyle/>
          <a:p>
            <a:pPr algn="l">
              <a:lnSpc>
                <a:spcPct val="105000"/>
              </a:lnSpc>
              <a:spcAft>
                <a:spcPts val="1400"/>
              </a:spcAft>
            </a:pPr>
            <a:r>
              <a:rPr sz="1700" b="0" i="0">
                <a:solidFill>
                  <a:srgbClr val="1F1F1F"/>
                </a:solidFill>
                <a:latin typeface="Arial"/>
              </a:rPr>
              <a:t>•  Unattended hops worked: both collectors, both acquisitions (grade → propose → commit → push).</a:t>
            </a:r>
          </a:p>
          <a:p>
            <a:pPr algn="l">
              <a:lnSpc>
                <a:spcPct val="105000"/>
              </a:lnSpc>
              <a:spcAft>
                <a:spcPts val="1400"/>
              </a:spcAft>
            </a:pPr>
            <a:r>
              <a:rPr sz="1700" b="1" i="0">
                <a:solidFill>
                  <a:srgbClr val="C0392B"/>
                </a:solidFill>
                <a:latin typeface="Arial"/>
              </a:rPr>
              <a:t>•  The submit hop cannot work on CRC: compute nodes are not submit hosts.</a:t>
            </a:r>
          </a:p>
          <a:p>
            <a:pPr algn="l">
              <a:lnSpc>
                <a:spcPct val="105000"/>
              </a:lnSpc>
              <a:spcAft>
                <a:spcPts val="1400"/>
              </a:spcAft>
            </a:pPr>
            <a:r>
              <a:rPr sz="1700" b="0" i="0">
                <a:solidFill>
                  <a:srgbClr val="1F1F1F"/>
                </a:solidFill>
                <a:latin typeface="Arial"/>
              </a:rPr>
              <a:t>•  The WEDGED trap fired and left a clear record. Kay submitted round 2 by hand.</a:t>
            </a:r>
          </a:p>
          <a:p>
            <a:pPr algn="l">
              <a:lnSpc>
                <a:spcPct val="105000"/>
              </a:lnSpc>
              <a:spcAft>
                <a:spcPts val="1400"/>
              </a:spcAft>
            </a:pPr>
            <a:r>
              <a:rPr sz="1700" b="0" i="0">
                <a:solidFill>
                  <a:srgbClr val="1F1F1F"/>
                </a:solidFill>
                <a:latin typeface="Arial"/>
              </a:rPr>
              <a:t>•  r2 acquisition re-run on the Mac: weights and all 8 designs identical to CRC.</a:t>
            </a:r>
          </a:p>
          <a:p>
            <a:pPr algn="l">
              <a:lnSpc>
                <a:spcPct val="105000"/>
              </a:lnSpc>
              <a:spcAft>
                <a:spcPts val="1400"/>
              </a:spcAft>
            </a:pPr>
            <a:r>
              <a:rPr sz="1700" b="0" i="0">
                <a:solidFill>
                  <a:srgbClr val="1F1F1F"/>
                </a:solidFill>
                <a:latin typeface="Arial"/>
              </a:rPr>
              <a:t>•  Proposed fix (not implemented): submit the whole chain from the login node with -hold_jid; or a login-node cron watcher.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BO result: HV trajectory and the stop rule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pic>
        <p:nvPicPr>
          <p:cNvPr id="5" name="Picture 4" descr="fig2_hv_trajectory.png"/>
          <p:cNvPicPr>
            <a:picLocks noChangeAspect="1"/>
          </p:cNvPicPr>
          <p:nvPr/>
        </p:nvPicPr>
        <p:blipFill>
          <a:blip r:embed="rId2"/>
          <a:stretch>
            <a:fillRect/>
          </a:stretch>
        </p:blipFill>
        <p:spPr>
          <a:xfrm>
            <a:off x="365760" y="1272163"/>
            <a:ext cx="6949440" cy="4661145"/>
          </a:xfrm>
          <a:prstGeom prst="rect">
            <a:avLst/>
          </a:prstGeom>
        </p:spPr>
      </p:pic>
      <p:sp>
        <p:nvSpPr>
          <p:cNvPr id="6" name="TextBox 5"/>
          <p:cNvSpPr txBox="1"/>
          <p:nvPr/>
        </p:nvSpPr>
        <p:spPr>
          <a:xfrm>
            <a:off x="365760" y="6035040"/>
            <a:ext cx="694944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/Users/yilu/Documents/GitHub/RTS-GMLC/trial_0826/campaign/analysis/bo_stage2/figs/fig2_hv_trajectory.png</a:t>
            </a:r>
          </a:p>
        </p:txBody>
      </p:sp>
      <p:sp>
        <p:nvSpPr>
          <p:cNvPr id="7" name="Rounded Rectangle 6"/>
          <p:cNvSpPr/>
          <p:nvPr/>
        </p:nvSpPr>
        <p:spPr>
          <a:xfrm>
            <a:off x="7498079" y="1280160"/>
            <a:ext cx="4206240" cy="49377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80960" y="1417320"/>
            <a:ext cx="3840480" cy="4663440"/>
          </a:xfrm>
          <a:prstGeom prst="rect">
            <a:avLst/>
          </a:prstGeom>
          <a:noFill/>
        </p:spPr>
        <p:txBody>
          <a:bodyPr wrap="square" anchor="t" lIns="45720" rIns="45720" tIns="27432" bIns="27432">
            <a:spAutoFit/>
          </a:bodyPr>
          <a:lstStyle/>
          <a:p>
            <a:pPr algn="l">
              <a:lnSpc>
                <a:spcPct val="105000"/>
              </a:lnSpc>
              <a:spcAft>
                <a:spcPts val="1400"/>
              </a:spcAft>
            </a:pPr>
            <a:r>
              <a:rPr sz="1800" b="0" i="0">
                <a:solidFill>
                  <a:srgbClr val="1F1F1F"/>
                </a:solidFill>
                <a:latin typeface="Arial"/>
              </a:rPr>
              <a:t>•  HV: 6.606e17 → 6.969e17 (+5.5 %) → 7.061e17 (+1.4 %).</a:t>
            </a:r>
          </a:p>
          <a:p>
            <a:pPr algn="l">
              <a:lnSpc>
                <a:spcPct val="105000"/>
              </a:lnSpc>
              <a:spcAft>
                <a:spcPts val="1400"/>
              </a:spcAft>
            </a:pPr>
            <a:r>
              <a:rPr sz="1800" b="0" i="0">
                <a:solidFill>
                  <a:srgbClr val="1F1F1F"/>
                </a:solidFill>
                <a:latin typeface="Arial"/>
              </a:rPr>
              <a:t>•  Both gains are under the 8 % bar → stop after round 2.</a:t>
            </a:r>
          </a:p>
          <a:p>
            <a:pPr algn="l">
              <a:lnSpc>
                <a:spcPct val="105000"/>
              </a:lnSpc>
              <a:spcAft>
                <a:spcPts val="1400"/>
              </a:spcAft>
            </a:pPr>
            <a:r>
              <a:rPr sz="1800" b="1" i="0">
                <a:solidFill>
                  <a:srgbClr val="1F1F1F"/>
                </a:solidFill>
                <a:latin typeface="Arial"/>
              </a:rPr>
              <a:t>•  The stop means "gains below a conservative noise bar". It does not mean "front converged".</a:t>
            </a:r>
          </a:p>
          <a:p>
            <a:pPr algn="l">
              <a:lnSpc>
                <a:spcPct val="105000"/>
              </a:lnSpc>
              <a:spcAft>
                <a:spcPts val="1400"/>
              </a:spcAft>
            </a:pPr>
            <a:r>
              <a:rPr sz="1800" b="0" i="0">
                <a:solidFill>
                  <a:srgbClr val="1F1F1F"/>
                </a:solidFill>
                <a:latin typeface="Arial"/>
              </a:rPr>
              <a:t>•  Sensitivity: with any bar below 5.5 %, round 3 would have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BO result: the final front and its corners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pic>
        <p:nvPicPr>
          <p:cNvPr id="5" name="Picture 4" descr="fig1_front.png"/>
          <p:cNvPicPr>
            <a:picLocks noChangeAspect="1"/>
          </p:cNvPicPr>
          <p:nvPr/>
        </p:nvPicPr>
        <p:blipFill>
          <a:blip r:embed="rId2"/>
          <a:stretch>
            <a:fillRect/>
          </a:stretch>
        </p:blipFill>
        <p:spPr>
          <a:xfrm>
            <a:off x="1593662" y="1097280"/>
            <a:ext cx="8974195" cy="3319272"/>
          </a:xfrm>
          <a:prstGeom prst="rect">
            <a:avLst/>
          </a:prstGeom>
        </p:spPr>
      </p:pic>
      <p:sp>
        <p:nvSpPr>
          <p:cNvPr id="6" name="TextBox 5"/>
          <p:cNvSpPr txBox="1"/>
          <p:nvPr/>
        </p:nvSpPr>
        <p:spPr>
          <a:xfrm>
            <a:off x="457200" y="443484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/Users/yilu/Documents/GitHub/RTS-GMLC/trial_0826/campaign/analysis/bo_stage2/figs/fig1_front.png</a:t>
            </a:r>
          </a:p>
        </p:txBody>
      </p:sp>
      <p:graphicFrame>
        <p:nvGraphicFramePr>
          <p:cNvPr id="7" name="Table 6"/>
          <p:cNvGraphicFramePr>
            <a:graphicFrameLocks noGrp="1"/>
          </p:cNvGraphicFramePr>
          <p:nvPr/>
        </p:nvGraphicFramePr>
        <p:xfrm>
          <a:off x="457200" y="4800600"/>
          <a:ext cx="11247120" cy="1536192"/>
        </p:xfrm>
        <a:graphic>
          <a:graphicData uri="http://schemas.openxmlformats.org/drawingml/2006/table">
            <a:tbl>
              <a:tblPr firstRow="1" bandRow="1">
                <a:tableStyleId>{5C22544A-7EE6-4342-B048-85BDC9FD1C3A}</a:tableStyleId>
              </a:tblPr>
              <a:tblGrid>
                <a:gridCol w="1645920"/>
                <a:gridCol w="9601200"/>
              </a:tblGrid>
              <a:tr h="384048">
                <a:tc>
                  <a:txBody>
                    <a:bodyPr wrap="square"/>
                    <a:lstStyle/>
                    <a:p>
                      <a:r>
                        <a:rPr sz="1300" b="1" i="0">
                          <a:solidFill>
                            <a:srgbClr val="1F1F1F"/>
                          </a:solidFill>
                          <a:latin typeface="Arial"/>
                        </a:rPr>
                        <a:t>Best in</a:t>
                      </a:r>
                    </a:p>
                  </a:txBody>
                  <a:tcPr marL="54864" marR="54864" marT="27432" marB="27432">
                    <a:solidFill>
                      <a:srgbClr val="DCE3EE"/>
                    </a:solidFill>
                  </a:tcPr>
                </a:tc>
                <a:tc>
                  <a:txBody>
                    <a:bodyPr wrap="square"/>
                    <a:lstStyle/>
                    <a:p>
                      <a:r>
                        <a:rPr sz="1300" b="1" i="0">
                          <a:solidFill>
                            <a:srgbClr val="1F1F1F"/>
                          </a:solidFill>
                          <a:latin typeface="Arial"/>
                        </a:rPr>
                        <a:t>Design(s)</a:t>
                      </a:r>
                    </a:p>
                  </a:txBody>
                  <a:tcPr marL="54864" marR="54864" marT="27432" marB="27432">
                    <a:solidFill>
                      <a:srgbClr val="DCE3EE"/>
                    </a:solidFill>
                  </a:tcPr>
                </a:tc>
              </a:tr>
              <a:tr h="384048">
                <a:tc>
                  <a:txBody>
                    <a:bodyPr wrap="square"/>
                    <a:lstStyle/>
                    <a:p>
                      <a:r>
                        <a:rPr sz="1300" b="0" i="0">
                          <a:solidFill>
                            <a:srgbClr val="1F1F1F"/>
                          </a:solidFill>
                          <a:latin typeface="Arial"/>
                        </a:rPr>
                        <a:t>Shed</a:t>
                      </a:r>
                    </a:p>
                  </a:txBody>
                  <a:tcPr marL="54864" marR="54864" marT="27432" marB="27432">
                    <a:solidFill>
                      <a:srgbClr val="FFFFFF"/>
                    </a:solidFill>
                  </a:tcPr>
                </a:tc>
                <a:tc>
                  <a:txBody>
                    <a:bodyPr wrap="square"/>
                    <a:lstStyle/>
                    <a:p>
                      <a:r>
                        <a:rPr sz="1300" b="0" i="0">
                          <a:solidFill>
                            <a:srgbClr val="1F1F1F"/>
                          </a:solidFill>
                          <a:latin typeface="Arial"/>
                        </a:rPr>
                        <a:t>4 designs tie at 0; cheapest r2#6 $582M; r1#5 = 0 shed + lowest curtailment at $668M</a:t>
                      </a:r>
                    </a:p>
                  </a:txBody>
                  <a:tcPr marL="54864" marR="54864" marT="27432" marB="27432">
                    <a:solidFill>
                      <a:srgbClr val="FFFFFF"/>
                    </a:solidFill>
                  </a:tcPr>
                </a:tc>
              </a:tr>
              <a:tr h="384048">
                <a:tc>
                  <a:txBody>
                    <a:bodyPr wrap="square"/>
                    <a:lstStyle/>
                    <a:p>
                      <a:r>
                        <a:rPr sz="1300" b="0" i="0">
                          <a:solidFill>
                            <a:srgbClr val="1F1F1F"/>
                          </a:solidFill>
                          <a:latin typeface="Arial"/>
                        </a:rPr>
                        <a:t>Curtailment</a:t>
                      </a:r>
                    </a:p>
                  </a:txBody>
                  <a:tcPr marL="54864" marR="54864" marT="27432" marB="27432">
                    <a:solidFill>
                      <a:srgbClr val="F6F6F6"/>
                    </a:solidFill>
                  </a:tcPr>
                </a:tc>
                <a:tc>
                  <a:txBody>
                    <a:bodyPr wrap="square"/>
                    <a:lstStyle/>
                    <a:p>
                      <a:r>
                        <a:rPr sz="1300" b="0" i="0">
                          <a:solidFill>
                            <a:srgbClr val="1F1F1F"/>
                          </a:solidFill>
                          <a:latin typeface="Arial"/>
                        </a:rPr>
                        <a:t>r1#5: 48 GWh, $668M (nuclear ω = 1.0)</a:t>
                      </a:r>
                    </a:p>
                  </a:txBody>
                  <a:tcPr marL="54864" marR="54864" marT="27432" marB="27432">
                    <a:solidFill>
                      <a:srgbClr val="F6F6F6"/>
                    </a:solidFill>
                  </a:tcPr>
                </a:tc>
              </a:tr>
              <a:tr h="384048">
                <a:tc>
                  <a:txBody>
                    <a:bodyPr wrap="square"/>
                    <a:lstStyle/>
                    <a:p>
                      <a:r>
                        <a:rPr sz="1300" b="0" i="0">
                          <a:solidFill>
                            <a:srgbClr val="1F1F1F"/>
                          </a:solidFill>
                          <a:latin typeface="Arial"/>
                        </a:rPr>
                        <a:t>Cost</a:t>
                      </a:r>
                    </a:p>
                  </a:txBody>
                  <a:tcPr marL="54864" marR="54864" marT="27432" marB="27432">
                    <a:solidFill>
                      <a:srgbClr val="FFFFFF"/>
                    </a:solidFill>
                  </a:tcPr>
                </a:tc>
                <a:tc>
                  <a:txBody>
                    <a:bodyPr wrap="square"/>
                    <a:lstStyle/>
                    <a:p>
                      <a:r>
                        <a:rPr sz="1300" b="0" i="0">
                          <a:solidFill>
                            <a:srgbClr val="1F1F1F"/>
                          </a:solidFill>
                          <a:latin typeface="Arial"/>
                        </a:rPr>
                        <a:t>r2#3: $510M (all tiers 0.05 except tail 1.0; 29 GWh shed, 1.26 TWh curtailed)</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Why the gains are small: dense front, not a box artifact</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TextBox 4"/>
          <p:cNvSpPr txBox="1"/>
          <p:nvPr/>
        </p:nvSpPr>
        <p:spPr>
          <a:xfrm>
            <a:off x="640080" y="1371600"/>
            <a:ext cx="10881360" cy="4846320"/>
          </a:xfrm>
          <a:prstGeom prst="rect">
            <a:avLst/>
          </a:prstGeom>
          <a:noFill/>
        </p:spPr>
        <p:txBody>
          <a:bodyPr wrap="square" anchor="t" lIns="45720" rIns="45720" tIns="27432" bIns="27432">
            <a:spAutoFit/>
          </a:bodyPr>
          <a:lstStyle/>
          <a:p>
            <a:pPr algn="l">
              <a:lnSpc>
                <a:spcPct val="105000"/>
              </a:lnSpc>
              <a:spcAft>
                <a:spcPts val="1600"/>
              </a:spcAft>
            </a:pPr>
            <a:r>
              <a:rPr sz="2000" b="0" i="0">
                <a:solidFill>
                  <a:srgbClr val="1F1F1F"/>
                </a:solidFill>
                <a:latin typeface="Arial"/>
              </a:rPr>
              <a:t>•  5 of 16 BO designs lie outside the fixed HV box. They earn zero HV by construction.</a:t>
            </a:r>
          </a:p>
          <a:p>
            <a:pPr algn="l">
              <a:lnSpc>
                <a:spcPct val="105000"/>
              </a:lnSpc>
              <a:spcAft>
                <a:spcPts val="1600"/>
              </a:spcAft>
            </a:pPr>
            <a:r>
              <a:rPr sz="2000" b="0" i="0">
                <a:solidFill>
                  <a:srgbClr val="1F1F1F"/>
                </a:solidFill>
                <a:latin typeface="Arial"/>
              </a:rPr>
              <a:t>•  With a wider box (nadir of all 48 + 10 %), the gains are 2.6 % and 2.0 %. Still small.</a:t>
            </a:r>
          </a:p>
          <a:p>
            <a:pPr algn="l">
              <a:lnSpc>
                <a:spcPct val="105000"/>
              </a:lnSpc>
              <a:spcAft>
                <a:spcPts val="1600"/>
              </a:spcAft>
            </a:pPr>
            <a:r>
              <a:rPr sz="2000" b="1" i="0">
                <a:solidFill>
                  <a:srgbClr val="1F1F1F"/>
                </a:solidFill>
                <a:latin typeface="Arial"/>
              </a:rPr>
              <a:t>•  The main cause is the dense front: 26 of 48 points are non-dominated.</a:t>
            </a:r>
          </a:p>
          <a:p>
            <a:pPr algn="l">
              <a:lnSpc>
                <a:spcPct val="105000"/>
              </a:lnSpc>
              <a:spcAft>
                <a:spcPts val="1600"/>
              </a:spcAft>
            </a:pPr>
            <a:r>
              <a:rPr sz="2000" b="0" i="0">
                <a:solidFill>
                  <a:srgbClr val="1F1F1F"/>
                </a:solidFill>
                <a:latin typeface="Arial"/>
              </a:rPr>
              <a:t>•  Stage-1 replay (2-D, scenario C): BO 0.813 → 0.899 → 0.941 vs random 0.807 → 0.885 → 0.923. BO led by a small margin. Stage 2 repeats that picture in 6-D.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Calibration: the GPs are right for cost, not for shed and curtailment at corners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corner extrapolation</a:t>
            </a:r>
          </a:p>
        </p:txBody>
      </p:sp>
      <p:pic>
        <p:nvPicPr>
          <p:cNvPr id="6" name="Picture 5" descr="fig3_calibration.png"/>
          <p:cNvPicPr>
            <a:picLocks noChangeAspect="1"/>
          </p:cNvPicPr>
          <p:nvPr/>
        </p:nvPicPr>
        <p:blipFill>
          <a:blip r:embed="rId2"/>
          <a:stretch>
            <a:fillRect/>
          </a:stretch>
        </p:blipFill>
        <p:spPr>
          <a:xfrm>
            <a:off x="1547833" y="1051560"/>
            <a:ext cx="9065853" cy="3136392"/>
          </a:xfrm>
          <a:prstGeom prst="rect">
            <a:avLst/>
          </a:prstGeom>
        </p:spPr>
      </p:pic>
      <p:sp>
        <p:nvSpPr>
          <p:cNvPr id="7" name="TextBox 6"/>
          <p:cNvSpPr txBox="1"/>
          <p:nvPr/>
        </p:nvSpPr>
        <p:spPr>
          <a:xfrm>
            <a:off x="457200" y="420624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/Users/yilu/Documents/GitHub/RTS-GMLC/trial_0826/campaign/analysis/bo_stage2/figs/fig3_calibration.png</a:t>
            </a:r>
          </a:p>
        </p:txBody>
      </p:sp>
      <p:graphicFrame>
        <p:nvGraphicFramePr>
          <p:cNvPr id="8" name="Table 7"/>
          <p:cNvGraphicFramePr>
            <a:graphicFrameLocks noGrp="1"/>
          </p:cNvGraphicFramePr>
          <p:nvPr/>
        </p:nvGraphicFramePr>
        <p:xfrm>
          <a:off x="457200" y="4572000"/>
          <a:ext cx="6309358" cy="1536192"/>
        </p:xfrm>
        <a:graphic>
          <a:graphicData uri="http://schemas.openxmlformats.org/drawingml/2006/table">
            <a:tbl>
              <a:tblPr firstRow="1" bandRow="1">
                <a:tableStyleId>{5C22544A-7EE6-4342-B048-85BDC9FD1C3A}</a:tableStyleId>
              </a:tblPr>
              <a:tblGrid>
                <a:gridCol w="1442139"/>
                <a:gridCol w="1081604"/>
                <a:gridCol w="1081604"/>
                <a:gridCol w="1261872"/>
                <a:gridCol w="1442139"/>
              </a:tblGrid>
              <a:tr h="384048">
                <a:tc>
                  <a:txBody>
                    <a:bodyPr wrap="square"/>
                    <a:lstStyle/>
                    <a:p>
                      <a:r>
                        <a:rPr sz="1200" b="1" i="0">
                          <a:solidFill>
                            <a:srgbClr val="1F1F1F"/>
                          </a:solidFill>
                          <a:latin typeface="Arial"/>
                        </a:rPr>
                        <a:t>Objective</a:t>
                      </a:r>
                    </a:p>
                  </a:txBody>
                  <a:tcPr marL="54864" marR="54864" marT="27432" marB="27432">
                    <a:solidFill>
                      <a:srgbClr val="DCE3EE"/>
                    </a:solidFill>
                  </a:tcPr>
                </a:tc>
                <a:tc>
                  <a:txBody>
                    <a:bodyPr wrap="square"/>
                    <a:lstStyle/>
                    <a:p>
                      <a:r>
                        <a:rPr sz="1200" b="1" i="0">
                          <a:solidFill>
                            <a:srgbClr val="1F1F1F"/>
                          </a:solidFill>
                          <a:latin typeface="Arial"/>
                        </a:rPr>
                        <a:t>r1 RMS(z)</a:t>
                      </a:r>
                    </a:p>
                  </a:txBody>
                  <a:tcPr marL="54864" marR="54864" marT="27432" marB="27432">
                    <a:solidFill>
                      <a:srgbClr val="DCE3EE"/>
                    </a:solidFill>
                  </a:tcPr>
                </a:tc>
                <a:tc>
                  <a:txBody>
                    <a:bodyPr wrap="square"/>
                    <a:lstStyle/>
                    <a:p>
                      <a:r>
                        <a:rPr sz="1200" b="1" i="0">
                          <a:solidFill>
                            <a:srgbClr val="1F1F1F"/>
                          </a:solidFill>
                          <a:latin typeface="Arial"/>
                        </a:rPr>
                        <a:t>r2 RMS(z)</a:t>
                      </a:r>
                    </a:p>
                  </a:txBody>
                  <a:tcPr marL="54864" marR="54864" marT="27432" marB="27432">
                    <a:solidFill>
                      <a:srgbClr val="DCE3EE"/>
                    </a:solidFill>
                  </a:tcPr>
                </a:tc>
                <a:tc>
                  <a:txBody>
                    <a:bodyPr wrap="square"/>
                    <a:lstStyle/>
                    <a:p>
                      <a:r>
                        <a:rPr sz="1200" b="1" i="0">
                          <a:solidFill>
                            <a:srgbClr val="1F1F1F"/>
                          </a:solidFill>
                          <a:latin typeface="Arial"/>
                        </a:rPr>
                        <a:t>Pooled cov95</a:t>
                      </a:r>
                    </a:p>
                  </a:txBody>
                  <a:tcPr marL="54864" marR="54864" marT="27432" marB="27432">
                    <a:solidFill>
                      <a:srgbClr val="DCE3EE"/>
                    </a:solidFill>
                  </a:tcPr>
                </a:tc>
                <a:tc>
                  <a:txBody>
                    <a:bodyPr wrap="square"/>
                    <a:lstStyle/>
                    <a:p>
                      <a:r>
                        <a:rPr sz="1200" b="1" i="0">
                          <a:solidFill>
                            <a:srgbClr val="1F1F1F"/>
                          </a:solidFill>
                          <a:latin typeface="Arial"/>
                        </a:rPr>
                        <a:t>Verdict</a:t>
                      </a:r>
                    </a:p>
                  </a:txBody>
                  <a:tcPr marL="54864" marR="54864" marT="27432" marB="27432">
                    <a:solidFill>
                      <a:srgbClr val="DCE3EE"/>
                    </a:solidFill>
                  </a:tcPr>
                </a:tc>
              </a:tr>
              <a:tr h="384048">
                <a:tc>
                  <a:txBody>
                    <a:bodyPr wrap="square"/>
                    <a:lstStyle/>
                    <a:p>
                      <a:r>
                        <a:rPr sz="1200" b="0" i="0">
                          <a:solidFill>
                            <a:srgbClr val="1F1F1F"/>
                          </a:solidFill>
                          <a:latin typeface="Arial"/>
                        </a:rPr>
                        <a:t>shed</a:t>
                      </a:r>
                    </a:p>
                  </a:txBody>
                  <a:tcPr marL="54864" marR="54864" marT="27432" marB="27432">
                    <a:solidFill>
                      <a:srgbClr val="FFFFFF"/>
                    </a:solidFill>
                  </a:tcPr>
                </a:tc>
                <a:tc>
                  <a:txBody>
                    <a:bodyPr wrap="square"/>
                    <a:lstStyle/>
                    <a:p>
                      <a:r>
                        <a:rPr sz="1200" b="0" i="0">
                          <a:solidFill>
                            <a:srgbClr val="1F1F1F"/>
                          </a:solidFill>
                          <a:latin typeface="Arial"/>
                        </a:rPr>
                        <a:t>0.33</a:t>
                      </a:r>
                    </a:p>
                  </a:txBody>
                  <a:tcPr marL="54864" marR="54864" marT="27432" marB="27432">
                    <a:solidFill>
                      <a:srgbClr val="FFFFFF"/>
                    </a:solidFill>
                  </a:tcPr>
                </a:tc>
                <a:tc>
                  <a:txBody>
                    <a:bodyPr wrap="square"/>
                    <a:lstStyle/>
                    <a:p>
                      <a:r>
                        <a:rPr sz="1200" b="0" i="0">
                          <a:solidFill>
                            <a:srgbClr val="1F1F1F"/>
                          </a:solidFill>
                          <a:latin typeface="Arial"/>
                        </a:rPr>
                        <a:t>1.88</a:t>
                      </a:r>
                    </a:p>
                  </a:txBody>
                  <a:tcPr marL="54864" marR="54864" marT="27432" marB="27432">
                    <a:solidFill>
                      <a:srgbClr val="FFFFFF"/>
                    </a:solidFill>
                  </a:tcPr>
                </a:tc>
                <a:tc>
                  <a:txBody>
                    <a:bodyPr wrap="square"/>
                    <a:lstStyle/>
                    <a:p>
                      <a:r>
                        <a:rPr sz="1200" b="0" i="0">
                          <a:solidFill>
                            <a:srgbClr val="1F1F1F"/>
                          </a:solidFill>
                          <a:latin typeface="Arial"/>
                        </a:rPr>
                        <a:t>94 %</a:t>
                      </a:r>
                    </a:p>
                  </a:txBody>
                  <a:tcPr marL="54864" marR="54864" marT="27432" marB="27432">
                    <a:solidFill>
                      <a:srgbClr val="FFFFFF"/>
                    </a:solidFill>
                  </a:tcPr>
                </a:tc>
                <a:tc>
                  <a:txBody>
                    <a:bodyPr wrap="square"/>
                    <a:lstStyle/>
                    <a:p>
                      <a:r>
                        <a:rPr sz="1200" b="0" i="0">
                          <a:solidFill>
                            <a:srgbClr val="1F1F1F"/>
                          </a:solidFill>
                          <a:latin typeface="Arial"/>
                        </a:rPr>
                        <a:t>not calibrated</a:t>
                      </a:r>
                    </a:p>
                  </a:txBody>
                  <a:tcPr marL="54864" marR="54864" marT="27432" marB="27432">
                    <a:solidFill>
                      <a:srgbClr val="FFFFFF"/>
                    </a:solidFill>
                  </a:tcPr>
                </a:tc>
              </a:tr>
              <a:tr h="384048">
                <a:tc>
                  <a:txBody>
                    <a:bodyPr wrap="square"/>
                    <a:lstStyle/>
                    <a:p>
                      <a:r>
                        <a:rPr sz="1200" b="0" i="0">
                          <a:solidFill>
                            <a:srgbClr val="1F1F1F"/>
                          </a:solidFill>
                          <a:latin typeface="Arial"/>
                        </a:rPr>
                        <a:t>curtailment</a:t>
                      </a:r>
                    </a:p>
                  </a:txBody>
                  <a:tcPr marL="54864" marR="54864" marT="27432" marB="27432">
                    <a:solidFill>
                      <a:srgbClr val="F6F6F6"/>
                    </a:solidFill>
                  </a:tcPr>
                </a:tc>
                <a:tc>
                  <a:txBody>
                    <a:bodyPr wrap="square"/>
                    <a:lstStyle/>
                    <a:p>
                      <a:r>
                        <a:rPr sz="1200" b="0" i="0">
                          <a:solidFill>
                            <a:srgbClr val="1F1F1F"/>
                          </a:solidFill>
                          <a:latin typeface="Arial"/>
                        </a:rPr>
                        <a:t>0.55</a:t>
                      </a:r>
                    </a:p>
                  </a:txBody>
                  <a:tcPr marL="54864" marR="54864" marT="27432" marB="27432">
                    <a:solidFill>
                      <a:srgbClr val="F6F6F6"/>
                    </a:solidFill>
                  </a:tcPr>
                </a:tc>
                <a:tc>
                  <a:txBody>
                    <a:bodyPr wrap="square"/>
                    <a:lstStyle/>
                    <a:p>
                      <a:r>
                        <a:rPr sz="1200" b="0" i="0">
                          <a:solidFill>
                            <a:srgbClr val="1F1F1F"/>
                          </a:solidFill>
                          <a:latin typeface="Arial"/>
                        </a:rPr>
                        <a:t>2.49</a:t>
                      </a:r>
                    </a:p>
                  </a:txBody>
                  <a:tcPr marL="54864" marR="54864" marT="27432" marB="27432">
                    <a:solidFill>
                      <a:srgbClr val="F6F6F6"/>
                    </a:solidFill>
                  </a:tcPr>
                </a:tc>
                <a:tc>
                  <a:txBody>
                    <a:bodyPr wrap="square"/>
                    <a:lstStyle/>
                    <a:p>
                      <a:r>
                        <a:rPr sz="1200" b="0" i="0">
                          <a:solidFill>
                            <a:srgbClr val="1F1F1F"/>
                          </a:solidFill>
                          <a:latin typeface="Arial"/>
                        </a:rPr>
                        <a:t>88 %</a:t>
                      </a:r>
                    </a:p>
                  </a:txBody>
                  <a:tcPr marL="54864" marR="54864" marT="27432" marB="27432">
                    <a:solidFill>
                      <a:srgbClr val="F6F6F6"/>
                    </a:solidFill>
                  </a:tcPr>
                </a:tc>
                <a:tc>
                  <a:txBody>
                    <a:bodyPr wrap="square"/>
                    <a:lstStyle/>
                    <a:p>
                      <a:r>
                        <a:rPr sz="1200" b="0" i="0">
                          <a:solidFill>
                            <a:srgbClr val="1F1F1F"/>
                          </a:solidFill>
                          <a:latin typeface="Arial"/>
                        </a:rPr>
                        <a:t>not calibrated</a:t>
                      </a:r>
                    </a:p>
                  </a:txBody>
                  <a:tcPr marL="54864" marR="54864" marT="27432" marB="27432">
                    <a:solidFill>
                      <a:srgbClr val="F6F6F6"/>
                    </a:solidFill>
                  </a:tcPr>
                </a:tc>
              </a:tr>
              <a:tr h="384048">
                <a:tc>
                  <a:txBody>
                    <a:bodyPr wrap="square"/>
                    <a:lstStyle/>
                    <a:p>
                      <a:r>
                        <a:rPr sz="1200" b="0" i="0">
                          <a:solidFill>
                            <a:srgbClr val="1F1F1F"/>
                          </a:solidFill>
                          <a:latin typeface="Arial"/>
                        </a:rPr>
                        <a:t>cost</a:t>
                      </a:r>
                    </a:p>
                  </a:txBody>
                  <a:tcPr marL="54864" marR="54864" marT="27432" marB="27432">
                    <a:solidFill>
                      <a:srgbClr val="FFFFFF"/>
                    </a:solidFill>
                  </a:tcPr>
                </a:tc>
                <a:tc>
                  <a:txBody>
                    <a:bodyPr wrap="square"/>
                    <a:lstStyle/>
                    <a:p>
                      <a:r>
                        <a:rPr sz="1200" b="0" i="0">
                          <a:solidFill>
                            <a:srgbClr val="1F1F1F"/>
                          </a:solidFill>
                          <a:latin typeface="Arial"/>
                        </a:rPr>
                        <a:t>0.91</a:t>
                      </a:r>
                    </a:p>
                  </a:txBody>
                  <a:tcPr marL="54864" marR="54864" marT="27432" marB="27432">
                    <a:solidFill>
                      <a:srgbClr val="FFFFFF"/>
                    </a:solidFill>
                  </a:tcPr>
                </a:tc>
                <a:tc>
                  <a:txBody>
                    <a:bodyPr wrap="square"/>
                    <a:lstStyle/>
                    <a:p>
                      <a:r>
                        <a:rPr sz="1200" b="0" i="0">
                          <a:solidFill>
                            <a:srgbClr val="1F1F1F"/>
                          </a:solidFill>
                          <a:latin typeface="Arial"/>
                        </a:rPr>
                        <a:t>1.01</a:t>
                      </a:r>
                    </a:p>
                  </a:txBody>
                  <a:tcPr marL="54864" marR="54864" marT="27432" marB="27432">
                    <a:solidFill>
                      <a:srgbClr val="FFFFFF"/>
                    </a:solidFill>
                  </a:tcPr>
                </a:tc>
                <a:tc>
                  <a:txBody>
                    <a:bodyPr wrap="square"/>
                    <a:lstStyle/>
                    <a:p>
                      <a:r>
                        <a:rPr sz="1200" b="0" i="0">
                          <a:solidFill>
                            <a:srgbClr val="1F1F1F"/>
                          </a:solidFill>
                          <a:latin typeface="Arial"/>
                        </a:rPr>
                        <a:t>100 %</a:t>
                      </a:r>
                    </a:p>
                  </a:txBody>
                  <a:tcPr marL="54864" marR="54864" marT="27432" marB="27432">
                    <a:solidFill>
                      <a:srgbClr val="FFFFFF"/>
                    </a:solidFill>
                  </a:tcPr>
                </a:tc>
                <a:tc>
                  <a:txBody>
                    <a:bodyPr wrap="square"/>
                    <a:lstStyle/>
                    <a:p>
                      <a:r>
                        <a:rPr sz="1200" b="0" i="0">
                          <a:solidFill>
                            <a:srgbClr val="1F1F1F"/>
                          </a:solidFill>
                          <a:latin typeface="Arial"/>
                        </a:rPr>
                        <a:t>calibrated</a:t>
                      </a:r>
                    </a:p>
                  </a:txBody>
                  <a:tcPr marL="54864" marR="54864" marT="27432" marB="27432">
                    <a:solidFill>
                      <a:srgbClr val="FFFFFF"/>
                    </a:solidFill>
                  </a:tcPr>
                </a:tc>
              </a:tr>
            </a:tbl>
          </a:graphicData>
        </a:graphic>
      </p:graphicFrame>
      <p:sp>
        <p:nvSpPr>
          <p:cNvPr id="9" name="TextBox 8"/>
          <p:cNvSpPr txBox="1"/>
          <p:nvPr/>
        </p:nvSpPr>
        <p:spPr>
          <a:xfrm>
            <a:off x="6949440" y="4526280"/>
            <a:ext cx="4754880" cy="1828800"/>
          </a:xfrm>
          <a:prstGeom prst="rect">
            <a:avLst/>
          </a:prstGeom>
          <a:noFill/>
        </p:spPr>
        <p:txBody>
          <a:bodyPr wrap="square" anchor="t" lIns="45720" rIns="45720" tIns="27432" bIns="27432">
            <a:spAutoFit/>
          </a:bodyPr>
          <a:lstStyle/>
          <a:p>
            <a:pPr algn="l">
              <a:lnSpc>
                <a:spcPct val="105000"/>
              </a:lnSpc>
              <a:spcAft>
                <a:spcPts val="500"/>
              </a:spcAft>
            </a:pPr>
            <a:r>
              <a:rPr sz="1300" b="0" i="0">
                <a:solidFill>
                  <a:srgbClr val="1F1F1F"/>
                </a:solidFill>
                <a:latin typeface="Arial"/>
              </a:rPr>
              <a:t>•  r1 too wide, r2 overconfident at corners (r2#3 shed 29.2k vs 8.5k predicted).</a:t>
            </a:r>
          </a:p>
          <a:p>
            <a:pPr algn="l">
              <a:lnSpc>
                <a:spcPct val="105000"/>
              </a:lnSpc>
              <a:spcAft>
                <a:spcPts val="500"/>
              </a:spcAft>
            </a:pPr>
            <a:r>
              <a:rPr sz="1300" b="0" i="0">
                <a:solidFill>
                  <a:srgbClr val="1F1F1F"/>
                </a:solidFill>
                <a:latin typeface="Arial"/>
              </a:rPr>
              <a:t>•  Calibration was report-only; no gate was violated.</a:t>
            </a:r>
          </a:p>
          <a:p>
            <a:pPr algn="l">
              <a:lnSpc>
                <a:spcPct val="105000"/>
              </a:lnSpc>
              <a:spcAft>
                <a:spcPts val="500"/>
              </a:spcAft>
            </a:pPr>
            <a:r>
              <a:rPr sz="1300" b="1" i="0">
                <a:solidFill>
                  <a:srgbClr val="1F1F1F"/>
                </a:solidFill>
                <a:latin typeface="Arial"/>
              </a:rPr>
              <a:t>•  Any restart: add corner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Where BO went: outward to the edges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pic>
        <p:nvPicPr>
          <p:cNvPr id="5" name="Picture 4" descr="fig4_front_designs.png"/>
          <p:cNvPicPr>
            <a:picLocks noChangeAspect="1"/>
          </p:cNvPicPr>
          <p:nvPr/>
        </p:nvPicPr>
        <p:blipFill>
          <a:blip r:embed="rId2"/>
          <a:stretch>
            <a:fillRect/>
          </a:stretch>
        </p:blipFill>
        <p:spPr>
          <a:xfrm>
            <a:off x="365760" y="1172073"/>
            <a:ext cx="7223760" cy="3398284"/>
          </a:xfrm>
          <a:prstGeom prst="rect">
            <a:avLst/>
          </a:prstGeom>
        </p:spPr>
      </p:pic>
      <p:sp>
        <p:nvSpPr>
          <p:cNvPr id="6" name="TextBox 5"/>
          <p:cNvSpPr txBox="1"/>
          <p:nvPr/>
        </p:nvSpPr>
        <p:spPr>
          <a:xfrm>
            <a:off x="365760" y="4617719"/>
            <a:ext cx="722376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/Users/yilu/Documents/GitHub/RTS-GMLC/trial_0826/campaign/analysis/bo_stage2/figs/fig4_front_designs.png</a:t>
            </a:r>
          </a:p>
        </p:txBody>
      </p:sp>
      <p:graphicFrame>
        <p:nvGraphicFramePr>
          <p:cNvPr id="7" name="Table 6"/>
          <p:cNvGraphicFramePr>
            <a:graphicFrameLocks noGrp="1"/>
          </p:cNvGraphicFramePr>
          <p:nvPr/>
        </p:nvGraphicFramePr>
        <p:xfrm>
          <a:off x="822960" y="4983480"/>
          <a:ext cx="6309360" cy="1316736"/>
        </p:xfrm>
        <a:graphic>
          <a:graphicData uri="http://schemas.openxmlformats.org/drawingml/2006/table">
            <a:tbl>
              <a:tblPr firstRow="1" bandRow="1">
                <a:tableStyleId>{5C22544A-7EE6-4342-B048-85BDC9FD1C3A}</a:tableStyleId>
              </a:tblPr>
              <a:tblGrid>
                <a:gridCol w="1280160"/>
                <a:gridCol w="2743200"/>
                <a:gridCol w="2286000"/>
              </a:tblGrid>
              <a:tr h="329184">
                <a:tc>
                  <a:txBody>
                    <a:bodyPr wrap="square"/>
                    <a:lstStyle/>
                    <a:p>
                      <a:r>
                        <a:rPr sz="1200" b="1" i="0">
                          <a:solidFill>
                            <a:srgbClr val="1F1F1F"/>
                          </a:solidFill>
                          <a:latin typeface="Arial"/>
                        </a:rPr>
                        <a:t>Set</a:t>
                      </a:r>
                    </a:p>
                  </a:txBody>
                  <a:tcPr marL="54864" marR="54864" marT="27432" marB="27432">
                    <a:solidFill>
                      <a:srgbClr val="DCE3EE"/>
                    </a:solidFill>
                  </a:tcPr>
                </a:tc>
                <a:tc>
                  <a:txBody>
                    <a:bodyPr wrap="square"/>
                    <a:lstStyle/>
                    <a:p>
                      <a:r>
                        <a:rPr sz="1200" b="1" i="0">
                          <a:solidFill>
                            <a:srgbClr val="1F1F1F"/>
                          </a:solidFill>
                          <a:latin typeface="Arial"/>
                        </a:rPr>
                        <a:t>Tiers at an edge (of 6)</a:t>
                      </a:r>
                    </a:p>
                  </a:txBody>
                  <a:tcPr marL="54864" marR="54864" marT="27432" marB="27432">
                    <a:solidFill>
                      <a:srgbClr val="DCE3EE"/>
                    </a:solidFill>
                  </a:tcPr>
                </a:tc>
                <a:tc>
                  <a:txBody>
                    <a:bodyPr wrap="square"/>
                    <a:lstStyle/>
                    <a:p>
                      <a:r>
                        <a:rPr sz="1200" b="1" i="0">
                          <a:solidFill>
                            <a:srgbClr val="1F1F1F"/>
                          </a:solidFill>
                          <a:latin typeface="Arial"/>
                        </a:rPr>
                        <a:t>Fully interior</a:t>
                      </a:r>
                    </a:p>
                  </a:txBody>
                  <a:tcPr marL="54864" marR="54864" marT="27432" marB="27432">
                    <a:solidFill>
                      <a:srgbClr val="DCE3EE"/>
                    </a:solidFill>
                  </a:tcPr>
                </a:tc>
              </a:tr>
              <a:tr h="329184">
                <a:tc>
                  <a:txBody>
                    <a:bodyPr wrap="square"/>
                    <a:lstStyle/>
                    <a:p>
                      <a:r>
                        <a:rPr sz="1200" b="0" i="0">
                          <a:solidFill>
                            <a:srgbClr val="1F1F1F"/>
                          </a:solidFill>
                          <a:latin typeface="Arial"/>
                        </a:rPr>
                        <a:t>starts</a:t>
                      </a:r>
                    </a:p>
                  </a:txBody>
                  <a:tcPr marL="54864" marR="54864" marT="27432" marB="27432">
                    <a:solidFill>
                      <a:srgbClr val="FFFFFF"/>
                    </a:solidFill>
                  </a:tcPr>
                </a:tc>
                <a:tc>
                  <a:txBody>
                    <a:bodyPr wrap="square"/>
                    <a:lstStyle/>
                    <a:p>
                      <a:r>
                        <a:rPr sz="1200" b="0" i="0">
                          <a:solidFill>
                            <a:srgbClr val="1F1F1F"/>
                          </a:solidFill>
                          <a:latin typeface="Arial"/>
                        </a:rPr>
                        <a:t>0.75</a:t>
                      </a:r>
                    </a:p>
                  </a:txBody>
                  <a:tcPr marL="54864" marR="54864" marT="27432" marB="27432">
                    <a:solidFill>
                      <a:srgbClr val="FFFFFF"/>
                    </a:solidFill>
                  </a:tcPr>
                </a:tc>
                <a:tc>
                  <a:txBody>
                    <a:bodyPr wrap="square"/>
                    <a:lstStyle/>
                    <a:p>
                      <a:r>
                        <a:rPr sz="1200" b="0" i="0">
                          <a:solidFill>
                            <a:srgbClr val="1F1F1F"/>
                          </a:solidFill>
                          <a:latin typeface="Arial"/>
                        </a:rPr>
                        <a:t>44 %</a:t>
                      </a:r>
                    </a:p>
                  </a:txBody>
                  <a:tcPr marL="54864" marR="54864" marT="27432" marB="27432">
                    <a:solidFill>
                      <a:srgbClr val="FFFFFF"/>
                    </a:solidFill>
                  </a:tcPr>
                </a:tc>
              </a:tr>
              <a:tr h="329184">
                <a:tc>
                  <a:txBody>
                    <a:bodyPr wrap="square"/>
                    <a:lstStyle/>
                    <a:p>
                      <a:r>
                        <a:rPr sz="1200" b="0" i="0">
                          <a:solidFill>
                            <a:srgbClr val="1F1F1F"/>
                          </a:solidFill>
                          <a:latin typeface="Arial"/>
                        </a:rPr>
                        <a:t>r1</a:t>
                      </a:r>
                    </a:p>
                  </a:txBody>
                  <a:tcPr marL="54864" marR="54864" marT="27432" marB="27432">
                    <a:solidFill>
                      <a:srgbClr val="F6F6F6"/>
                    </a:solidFill>
                  </a:tcPr>
                </a:tc>
                <a:tc>
                  <a:txBody>
                    <a:bodyPr wrap="square"/>
                    <a:lstStyle/>
                    <a:p>
                      <a:r>
                        <a:rPr sz="1200" b="0" i="0">
                          <a:solidFill>
                            <a:srgbClr val="1F1F1F"/>
                          </a:solidFill>
                          <a:latin typeface="Arial"/>
                        </a:rPr>
                        <a:t>1.9</a:t>
                      </a:r>
                    </a:p>
                  </a:txBody>
                  <a:tcPr marL="54864" marR="54864" marT="27432" marB="27432">
                    <a:solidFill>
                      <a:srgbClr val="F6F6F6"/>
                    </a:solidFill>
                  </a:tcPr>
                </a:tc>
                <a:tc>
                  <a:txBody>
                    <a:bodyPr wrap="square"/>
                    <a:lstStyle/>
                    <a:p>
                      <a:r>
                        <a:rPr sz="1200" b="0" i="0">
                          <a:solidFill>
                            <a:srgbClr val="1F1F1F"/>
                          </a:solidFill>
                          <a:latin typeface="Arial"/>
                        </a:rPr>
                        <a:t>0 %</a:t>
                      </a:r>
                    </a:p>
                  </a:txBody>
                  <a:tcPr marL="54864" marR="54864" marT="27432" marB="27432">
                    <a:solidFill>
                      <a:srgbClr val="F6F6F6"/>
                    </a:solidFill>
                  </a:tcPr>
                </a:tc>
              </a:tr>
              <a:tr h="329184">
                <a:tc>
                  <a:txBody>
                    <a:bodyPr wrap="square"/>
                    <a:lstStyle/>
                    <a:p>
                      <a:r>
                        <a:rPr sz="1200" b="0" i="0">
                          <a:solidFill>
                            <a:srgbClr val="1F1F1F"/>
                          </a:solidFill>
                          <a:latin typeface="Arial"/>
                        </a:rPr>
                        <a:t>r2</a:t>
                      </a:r>
                    </a:p>
                  </a:txBody>
                  <a:tcPr marL="54864" marR="54864" marT="27432" marB="27432">
                    <a:solidFill>
                      <a:srgbClr val="FFFFFF"/>
                    </a:solidFill>
                  </a:tcPr>
                </a:tc>
                <a:tc>
                  <a:txBody>
                    <a:bodyPr wrap="square"/>
                    <a:lstStyle/>
                    <a:p>
                      <a:r>
                        <a:rPr sz="1200" b="0" i="0">
                          <a:solidFill>
                            <a:srgbClr val="1F1F1F"/>
                          </a:solidFill>
                          <a:latin typeface="Arial"/>
                        </a:rPr>
                        <a:t>3.25</a:t>
                      </a:r>
                    </a:p>
                  </a:txBody>
                  <a:tcPr marL="54864" marR="54864" marT="27432" marB="27432">
                    <a:solidFill>
                      <a:srgbClr val="FFFFFF"/>
                    </a:solidFill>
                  </a:tcPr>
                </a:tc>
                <a:tc>
                  <a:txBody>
                    <a:bodyPr wrap="square"/>
                    <a:lstStyle/>
                    <a:p>
                      <a:r>
                        <a:rPr sz="1200" b="0" i="0">
                          <a:solidFill>
                            <a:srgbClr val="1F1F1F"/>
                          </a:solidFill>
                          <a:latin typeface="Arial"/>
                        </a:rPr>
                        <a:t>0 %</a:t>
                      </a:r>
                    </a:p>
                  </a:txBody>
                  <a:tcPr marL="54864" marR="54864" marT="27432" marB="27432">
                    <a:solidFill>
                      <a:srgbClr val="FFFFFF"/>
                    </a:solidFill>
                  </a:tcPr>
                </a:tc>
              </a:tr>
            </a:tbl>
          </a:graphicData>
        </a:graphic>
      </p:graphicFrame>
      <p:sp>
        <p:nvSpPr>
          <p:cNvPr id="8" name="Rounded Rectangle 7"/>
          <p:cNvSpPr/>
          <p:nvPr/>
        </p:nvSpPr>
        <p:spPr>
          <a:xfrm>
            <a:off x="7772400" y="1280160"/>
            <a:ext cx="3931920" cy="49834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09560" y="1417320"/>
            <a:ext cx="3657600" cy="4754880"/>
          </a:xfrm>
          <a:prstGeom prst="rect">
            <a:avLst/>
          </a:prstGeom>
          <a:noFill/>
        </p:spPr>
        <p:txBody>
          <a:bodyPr wrap="square" anchor="t" lIns="45720" rIns="45720" tIns="27432" bIns="27432">
            <a:spAutoFit/>
          </a:bodyPr>
          <a:lstStyle/>
          <a:p>
            <a:pPr algn="l">
              <a:lnSpc>
                <a:spcPct val="105000"/>
              </a:lnSpc>
              <a:spcAft>
                <a:spcPts val="1400"/>
              </a:spcAft>
            </a:pPr>
            <a:r>
              <a:rPr sz="1600" b="0" i="0">
                <a:solidFill>
                  <a:srgbClr val="1F1F1F"/>
                </a:solidFill>
                <a:latin typeface="Arial"/>
              </a:rPr>
              <a:t>•  Nuclear is bang-bang: 0.05 on the knees, 1.0 at the reliability corners. Spearman(nuclear MW, cost) = 0.89.</a:t>
            </a:r>
          </a:p>
          <a:p>
            <a:pPr algn="l">
              <a:lnSpc>
                <a:spcPct val="105000"/>
              </a:lnSpc>
              <a:spcAft>
                <a:spcPts val="1400"/>
              </a:spcAft>
            </a:pPr>
            <a:r>
              <a:rPr sz="1600" b="0" i="0">
                <a:solidFill>
                  <a:srgbClr val="1F1F1F"/>
                </a:solidFill>
                <a:latin typeface="Arial"/>
              </a:rPr>
              <a:t>•  wind_303 and wind_317 are loaded up on the front (mean ω 0.65 / 0.61).</a:t>
            </a:r>
          </a:p>
          <a:p>
            <a:pPr algn="l">
              <a:lnSpc>
                <a:spcPct val="105000"/>
              </a:lnSpc>
              <a:spcAft>
                <a:spcPts val="1400"/>
              </a:spcAft>
            </a:pPr>
            <a:r>
              <a:rPr sz="1600" b="0" i="0">
                <a:solidFill>
                  <a:srgbClr val="1F1F1F"/>
                </a:solidFill>
                <a:latin typeface="Arial"/>
              </a:rPr>
              <a:t>•  Tail goes to 1.0 in r2, but it correlates with nothing. Read it as EI pushing a flat direction, not a tail effect.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Random baseline: why, and how it was pre-registered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Kay chose option (c), 10-10</a:t>
            </a:r>
          </a:p>
        </p:txBody>
      </p:sp>
      <p:sp>
        <p:nvSpPr>
          <p:cNvPr id="6" name="TextBox 5"/>
          <p:cNvSpPr txBox="1"/>
          <p:nvPr/>
        </p:nvSpPr>
        <p:spPr>
          <a:xfrm>
            <a:off x="640080" y="1280160"/>
            <a:ext cx="10881360" cy="5029200"/>
          </a:xfrm>
          <a:prstGeom prst="rect">
            <a:avLst/>
          </a:prstGeom>
          <a:noFill/>
        </p:spPr>
        <p:txBody>
          <a:bodyPr wrap="square" anchor="t" lIns="45720" rIns="45720" tIns="27432" bIns="27432">
            <a:spAutoFit/>
          </a:bodyPr>
          <a:lstStyle/>
          <a:p>
            <a:pPr algn="l">
              <a:lnSpc>
                <a:spcPct val="105000"/>
              </a:lnSpc>
              <a:spcAft>
                <a:spcPts val="1600"/>
              </a:spcAft>
            </a:pPr>
            <a:r>
              <a:rPr sz="1900" b="1" i="0">
                <a:solidFill>
                  <a:srgbClr val="1F1F1F"/>
                </a:solidFill>
                <a:latin typeface="Arial"/>
              </a:rPr>
              <a:t>•  Question: is this BO run better than random 16-design batches at the same budget?</a:t>
            </a:r>
          </a:p>
          <a:p>
            <a:pPr algn="l">
              <a:lnSpc>
                <a:spcPct val="105000"/>
              </a:lnSpc>
              <a:spcAft>
                <a:spcPts val="1600"/>
              </a:spcAft>
            </a:pPr>
            <a:r>
              <a:rPr sz="1900" b="0" i="0">
                <a:solidFill>
                  <a:srgbClr val="1F1F1F"/>
                </a:solidFill>
                <a:latin typeface="Arial"/>
              </a:rPr>
              <a:t>•  48 uniform random lattice designs, never repeating the evaluated 48. One i.i.d. pool.</a:t>
            </a:r>
          </a:p>
          <a:p>
            <a:pPr algn="l">
              <a:lnSpc>
                <a:spcPct val="105000"/>
              </a:lnSpc>
              <a:spcAft>
                <a:spcPts val="1600"/>
              </a:spcAft>
            </a:pPr>
            <a:r>
              <a:rPr sz="1900" b="0" i="0">
                <a:solidFill>
                  <a:srgbClr val="1F1F1F"/>
                </a:solidFill>
                <a:latin typeface="Arial"/>
              </a:rPr>
              <a:t>•  Statistic: draw 100,000 random 16-subsets of the pool; p̂48 = fraction with HV below BO's.</a:t>
            </a:r>
          </a:p>
          <a:p>
            <a:pPr algn="l">
              <a:lnSpc>
                <a:spcPct val="105000"/>
              </a:lnSpc>
              <a:spcAft>
                <a:spcPts val="1600"/>
              </a:spcAft>
            </a:pPr>
            <a:r>
              <a:rPr sz="1900" b="0" i="0">
                <a:solidFill>
                  <a:srgbClr val="1F1F1F"/>
                </a:solidFill>
                <a:latin typeface="Arial"/>
              </a:rPr>
              <a:t>•  Interval: 1,000 pool bootstraps. Two refs: R_frozen (ledger) and R_union (all 96 points).</a:t>
            </a:r>
          </a:p>
          <a:p>
            <a:pPr algn="l">
              <a:lnSpc>
                <a:spcPct val="105000"/>
              </a:lnSpc>
              <a:spcAft>
                <a:spcPts val="1600"/>
              </a:spcAft>
            </a:pPr>
            <a:r>
              <a:rPr sz="1900" b="0" i="0">
                <a:solidFill>
                  <a:srgbClr val="1F1F1F"/>
                </a:solidFill>
                <a:latin typeface="Arial"/>
              </a:rPr>
              <a:t>•  Wording fixed before results: "above" needs p̂ ≥ 0.90 and p_lo ≥ 0.50 at BOTH refs. "Beat random" is banned.</a:t>
            </a:r>
          </a:p>
          <a:p>
            <a:pPr algn="l">
              <a:lnSpc>
                <a:spcPct val="105000"/>
              </a:lnSpc>
              <a:spcAft>
                <a:spcPts val="1600"/>
              </a:spcAft>
            </a:pPr>
            <a:r>
              <a:rPr sz="1900" b="0" i="0">
                <a:solidFill>
                  <a:srgbClr val="1F1F1F"/>
                </a:solidFill>
                <a:latin typeface="Arial"/>
              </a:rPr>
              <a:t>•  Expectation written before submission: "comparable" is most likely; the extremes test (S1) can separate the methods.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Random baseline: primary result</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pic>
        <p:nvPicPr>
          <p:cNvPr id="5" name="Picture 4" descr="fig1_hv_band.png"/>
          <p:cNvPicPr>
            <a:picLocks noChangeAspect="1"/>
          </p:cNvPicPr>
          <p:nvPr/>
        </p:nvPicPr>
        <p:blipFill>
          <a:blip r:embed="rId2"/>
          <a:stretch>
            <a:fillRect/>
          </a:stretch>
        </p:blipFill>
        <p:spPr>
          <a:xfrm>
            <a:off x="472904" y="1051560"/>
            <a:ext cx="6552271" cy="2743200"/>
          </a:xfrm>
          <a:prstGeom prst="rect">
            <a:avLst/>
          </a:prstGeom>
        </p:spPr>
      </p:pic>
      <p:pic>
        <p:nvPicPr>
          <p:cNvPr id="6" name="Picture 5" descr="fig2_percentile_hist.png"/>
          <p:cNvPicPr>
            <a:picLocks noChangeAspect="1"/>
          </p:cNvPicPr>
          <p:nvPr/>
        </p:nvPicPr>
        <p:blipFill>
          <a:blip r:embed="rId3"/>
          <a:stretch>
            <a:fillRect/>
          </a:stretch>
        </p:blipFill>
        <p:spPr>
          <a:xfrm>
            <a:off x="7337394" y="1051560"/>
            <a:ext cx="4344732" cy="2743200"/>
          </a:xfrm>
          <a:prstGeom prst="rect">
            <a:avLst/>
          </a:prstGeom>
        </p:spPr>
      </p:pic>
      <p:sp>
        <p:nvSpPr>
          <p:cNvPr id="7" name="TextBox 6"/>
          <p:cNvSpPr txBox="1"/>
          <p:nvPr/>
        </p:nvSpPr>
        <p:spPr>
          <a:xfrm>
            <a:off x="365760" y="3794760"/>
            <a:ext cx="1143000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Left: /Users/yilu/Documents/GitHub/RTS-GMLC/trial_0826/campaign/analysis/random_baseline/figs/fig1_hv_band.png</a:t>
            </a:r>
          </a:p>
          <a:p>
            <a:pPr algn="l">
              <a:lnSpc>
                <a:spcPct val="105000"/>
              </a:lnSpc>
              <a:spcAft>
                <a:spcPts val="0"/>
              </a:spcAft>
            </a:pPr>
            <a:r>
              <a:rPr sz="800" b="0" i="0">
                <a:solidFill>
                  <a:srgbClr val="8A8A8A"/>
                </a:solidFill>
                <a:latin typeface="Arial"/>
              </a:rPr>
              <a:t>Right: /Users/yilu/Documents/GitHub/RTS-GMLC/trial_0826/campaign/analysis/random_baseline/figs/fig2_percentile_hist.png</a:t>
            </a:r>
          </a:p>
        </p:txBody>
      </p:sp>
      <p:graphicFrame>
        <p:nvGraphicFramePr>
          <p:cNvPr id="8" name="Table 7"/>
          <p:cNvGraphicFramePr>
            <a:graphicFrameLocks noGrp="1"/>
          </p:cNvGraphicFramePr>
          <p:nvPr/>
        </p:nvGraphicFramePr>
        <p:xfrm>
          <a:off x="457200" y="4114800"/>
          <a:ext cx="11247117" cy="987552"/>
        </p:xfrm>
        <a:graphic>
          <a:graphicData uri="http://schemas.openxmlformats.org/drawingml/2006/table">
            <a:tbl>
              <a:tblPr firstRow="1" bandRow="1">
                <a:tableStyleId>{5C22544A-7EE6-4342-B048-85BDC9FD1C3A}</a:tableStyleId>
              </a:tblPr>
              <a:tblGrid>
                <a:gridCol w="1418555"/>
                <a:gridCol w="1519881"/>
                <a:gridCol w="3242412"/>
                <a:gridCol w="1621206"/>
                <a:gridCol w="2431809"/>
                <a:gridCol w="1013254"/>
              </a:tblGrid>
              <a:tr h="329184">
                <a:tc>
                  <a:txBody>
                    <a:bodyPr wrap="square"/>
                    <a:lstStyle/>
                    <a:p>
                      <a:r>
                        <a:rPr sz="1200" b="1" i="0">
                          <a:solidFill>
                            <a:srgbClr val="1F1F1F"/>
                          </a:solidFill>
                          <a:latin typeface="Arial"/>
                        </a:rPr>
                        <a:t>Ref</a:t>
                      </a:r>
                    </a:p>
                  </a:txBody>
                  <a:tcPr marL="54864" marR="54864" marT="27432" marB="27432">
                    <a:solidFill>
                      <a:srgbClr val="DCE3EE"/>
                    </a:solidFill>
                  </a:tcPr>
                </a:tc>
                <a:tc>
                  <a:txBody>
                    <a:bodyPr wrap="square"/>
                    <a:lstStyle/>
                    <a:p>
                      <a:r>
                        <a:rPr sz="1200" b="1" i="0">
                          <a:solidFill>
                            <a:srgbClr val="1F1F1F"/>
                          </a:solidFill>
                          <a:latin typeface="Arial"/>
                        </a:rPr>
                        <a:t>BO HV/HV₀</a:t>
                      </a:r>
                    </a:p>
                  </a:txBody>
                  <a:tcPr marL="54864" marR="54864" marT="27432" marB="27432">
                    <a:solidFill>
                      <a:srgbClr val="DCE3EE"/>
                    </a:solidFill>
                  </a:tcPr>
                </a:tc>
                <a:tc>
                  <a:txBody>
                    <a:bodyPr wrap="square"/>
                    <a:lstStyle/>
                    <a:p>
                      <a:r>
                        <a:rPr sz="1200" b="1" i="0">
                          <a:solidFill>
                            <a:srgbClr val="1F1F1F"/>
                          </a:solidFill>
                          <a:latin typeface="Arial"/>
                        </a:rPr>
                        <a:t>Random p10 / p50 / p90</a:t>
                      </a:r>
                    </a:p>
                  </a:txBody>
                  <a:tcPr marL="54864" marR="54864" marT="27432" marB="27432">
                    <a:solidFill>
                      <a:srgbClr val="DCE3EE"/>
                    </a:solidFill>
                  </a:tcPr>
                </a:tc>
                <a:tc>
                  <a:txBody>
                    <a:bodyPr wrap="square"/>
                    <a:lstStyle/>
                    <a:p>
                      <a:r>
                        <a:rPr sz="1200" b="1" i="0">
                          <a:solidFill>
                            <a:srgbClr val="1F1F1F"/>
                          </a:solidFill>
                          <a:latin typeface="Arial"/>
                        </a:rPr>
                        <a:t>BO − median</a:t>
                      </a:r>
                    </a:p>
                  </a:txBody>
                  <a:tcPr marL="54864" marR="54864" marT="27432" marB="27432">
                    <a:solidFill>
                      <a:srgbClr val="DCE3EE"/>
                    </a:solidFill>
                  </a:tcPr>
                </a:tc>
                <a:tc>
                  <a:txBody>
                    <a:bodyPr wrap="square"/>
                    <a:lstStyle/>
                    <a:p>
                      <a:r>
                        <a:rPr sz="1200" b="1" i="0">
                          <a:solidFill>
                            <a:srgbClr val="1F1F1F"/>
                          </a:solidFill>
                          <a:latin typeface="Arial"/>
                        </a:rPr>
                        <a:t>p̂48 [interval]</a:t>
                      </a:r>
                    </a:p>
                  </a:txBody>
                  <a:tcPr marL="54864" marR="54864" marT="27432" marB="27432">
                    <a:solidFill>
                      <a:srgbClr val="DCE3EE"/>
                    </a:solidFill>
                  </a:tcPr>
                </a:tc>
                <a:tc>
                  <a:txBody>
                    <a:bodyPr wrap="square"/>
                    <a:lstStyle/>
                    <a:p>
                      <a:r>
                        <a:rPr sz="1200" b="1" i="0">
                          <a:solidFill>
                            <a:srgbClr val="1F1F1F"/>
                          </a:solidFill>
                          <a:latin typeface="Arial"/>
                        </a:rPr>
                        <a:t>Row</a:t>
                      </a:r>
                    </a:p>
                  </a:txBody>
                  <a:tcPr marL="54864" marR="54864" marT="27432" marB="27432">
                    <a:solidFill>
                      <a:srgbClr val="DCE3EE"/>
                    </a:solidFill>
                  </a:tcPr>
                </a:tc>
              </a:tr>
              <a:tr h="329184">
                <a:tc>
                  <a:txBody>
                    <a:bodyPr wrap="square"/>
                    <a:lstStyle/>
                    <a:p>
                      <a:r>
                        <a:rPr sz="1200" b="0" i="0">
                          <a:solidFill>
                            <a:srgbClr val="1F1F1F"/>
                          </a:solidFill>
                          <a:latin typeface="Arial"/>
                        </a:rPr>
                        <a:t>R_frozen</a:t>
                      </a:r>
                    </a:p>
                  </a:txBody>
                  <a:tcPr marL="54864" marR="54864" marT="27432" marB="27432">
                    <a:solidFill>
                      <a:srgbClr val="FFFFFF"/>
                    </a:solidFill>
                  </a:tcPr>
                </a:tc>
                <a:tc>
                  <a:txBody>
                    <a:bodyPr wrap="square"/>
                    <a:lstStyle/>
                    <a:p>
                      <a:r>
                        <a:rPr sz="1200" b="0" i="0">
                          <a:solidFill>
                            <a:srgbClr val="1F1F1F"/>
                          </a:solidFill>
                          <a:latin typeface="Arial"/>
                        </a:rPr>
                        <a:t>1.0688</a:t>
                      </a:r>
                    </a:p>
                  </a:txBody>
                  <a:tcPr marL="54864" marR="54864" marT="27432" marB="27432">
                    <a:solidFill>
                      <a:srgbClr val="FFFFFF"/>
                    </a:solidFill>
                  </a:tcPr>
                </a:tc>
                <a:tc>
                  <a:txBody>
                    <a:bodyPr wrap="square"/>
                    <a:lstStyle/>
                    <a:p>
                      <a:r>
                        <a:rPr sz="1200" b="0" i="0">
                          <a:solidFill>
                            <a:srgbClr val="1F1F1F"/>
                          </a:solidFill>
                          <a:latin typeface="Arial"/>
                        </a:rPr>
                        <a:t>1.0158 / 1.0421 / 1.0651</a:t>
                      </a:r>
                    </a:p>
                  </a:txBody>
                  <a:tcPr marL="54864" marR="54864" marT="27432" marB="27432">
                    <a:solidFill>
                      <a:srgbClr val="FFFFFF"/>
                    </a:solidFill>
                  </a:tcPr>
                </a:tc>
                <a:tc>
                  <a:txBody>
                    <a:bodyPr wrap="square"/>
                    <a:lstStyle/>
                    <a:p>
                      <a:r>
                        <a:rPr sz="1200" b="0" i="0">
                          <a:solidFill>
                            <a:srgbClr val="1F1F1F"/>
                          </a:solidFill>
                          <a:latin typeface="Arial"/>
                        </a:rPr>
                        <a:t>+0.027</a:t>
                      </a:r>
                    </a:p>
                  </a:txBody>
                  <a:tcPr marL="54864" marR="54864" marT="27432" marB="27432">
                    <a:solidFill>
                      <a:srgbClr val="FFFFFF"/>
                    </a:solidFill>
                  </a:tcPr>
                </a:tc>
                <a:tc>
                  <a:txBody>
                    <a:bodyPr wrap="square"/>
                    <a:lstStyle/>
                    <a:p>
                      <a:r>
                        <a:rPr sz="1200" b="0" i="0">
                          <a:solidFill>
                            <a:srgbClr val="1F1F1F"/>
                          </a:solidFill>
                          <a:latin typeface="Arial"/>
                        </a:rPr>
                        <a:t>0.94 [0.84, 1.00]</a:t>
                      </a:r>
                    </a:p>
                  </a:txBody>
                  <a:tcPr marL="54864" marR="54864" marT="27432" marB="27432">
                    <a:solidFill>
                      <a:srgbClr val="FFFFFF"/>
                    </a:solidFill>
                  </a:tcPr>
                </a:tc>
                <a:tc>
                  <a:txBody>
                    <a:bodyPr wrap="square"/>
                    <a:lstStyle/>
                    <a:p>
                      <a:r>
                        <a:rPr sz="1200" b="0" i="0">
                          <a:solidFill>
                            <a:srgbClr val="1F1F1F"/>
                          </a:solidFill>
                          <a:latin typeface="Arial"/>
                        </a:rPr>
                        <a:t>above</a:t>
                      </a:r>
                    </a:p>
                  </a:txBody>
                  <a:tcPr marL="54864" marR="54864" marT="27432" marB="27432">
                    <a:solidFill>
                      <a:srgbClr val="FFFFFF"/>
                    </a:solidFill>
                  </a:tcPr>
                </a:tc>
              </a:tr>
              <a:tr h="329184">
                <a:tc>
                  <a:txBody>
                    <a:bodyPr wrap="square"/>
                    <a:lstStyle/>
                    <a:p>
                      <a:r>
                        <a:rPr sz="1200" b="0" i="0">
                          <a:solidFill>
                            <a:srgbClr val="1F1F1F"/>
                          </a:solidFill>
                          <a:latin typeface="Arial"/>
                        </a:rPr>
                        <a:t>R_union</a:t>
                      </a:r>
                    </a:p>
                  </a:txBody>
                  <a:tcPr marL="54864" marR="54864" marT="27432" marB="27432">
                    <a:solidFill>
                      <a:srgbClr val="F6F6F6"/>
                    </a:solidFill>
                  </a:tcPr>
                </a:tc>
                <a:tc>
                  <a:txBody>
                    <a:bodyPr wrap="square"/>
                    <a:lstStyle/>
                    <a:p>
                      <a:r>
                        <a:rPr sz="1200" b="0" i="0">
                          <a:solidFill>
                            <a:srgbClr val="1F1F1F"/>
                          </a:solidFill>
                          <a:latin typeface="Arial"/>
                        </a:rPr>
                        <a:t>1.0460</a:t>
                      </a:r>
                    </a:p>
                  </a:txBody>
                  <a:tcPr marL="54864" marR="54864" marT="27432" marB="27432">
                    <a:solidFill>
                      <a:srgbClr val="F6F6F6"/>
                    </a:solidFill>
                  </a:tcPr>
                </a:tc>
                <a:tc>
                  <a:txBody>
                    <a:bodyPr wrap="square"/>
                    <a:lstStyle/>
                    <a:p>
                      <a:r>
                        <a:rPr sz="1200" b="0" i="0">
                          <a:solidFill>
                            <a:srgbClr val="1F1F1F"/>
                          </a:solidFill>
                          <a:latin typeface="Arial"/>
                        </a:rPr>
                        <a:t>1.0083 / 1.0204 / 1.0311</a:t>
                      </a:r>
                    </a:p>
                  </a:txBody>
                  <a:tcPr marL="54864" marR="54864" marT="27432" marB="27432">
                    <a:solidFill>
                      <a:srgbClr val="F6F6F6"/>
                    </a:solidFill>
                  </a:tcPr>
                </a:tc>
                <a:tc>
                  <a:txBody>
                    <a:bodyPr wrap="square"/>
                    <a:lstStyle/>
                    <a:p>
                      <a:r>
                        <a:rPr sz="1200" b="0" i="0">
                          <a:solidFill>
                            <a:srgbClr val="1F1F1F"/>
                          </a:solidFill>
                          <a:latin typeface="Arial"/>
                        </a:rPr>
                        <a:t>+0.026</a:t>
                      </a:r>
                    </a:p>
                  </a:txBody>
                  <a:tcPr marL="54864" marR="54864" marT="27432" marB="27432">
                    <a:solidFill>
                      <a:srgbClr val="F6F6F6"/>
                    </a:solidFill>
                  </a:tcPr>
                </a:tc>
                <a:tc>
                  <a:txBody>
                    <a:bodyPr wrap="square"/>
                    <a:lstStyle/>
                    <a:p>
                      <a:r>
                        <a:rPr sz="1200" b="0" i="0">
                          <a:solidFill>
                            <a:srgbClr val="1F1F1F"/>
                          </a:solidFill>
                          <a:latin typeface="Arial"/>
                        </a:rPr>
                        <a:t>1.00 [1.00, 1.00]</a:t>
                      </a:r>
                    </a:p>
                  </a:txBody>
                  <a:tcPr marL="54864" marR="54864" marT="27432" marB="27432">
                    <a:solidFill>
                      <a:srgbClr val="F6F6F6"/>
                    </a:solidFill>
                  </a:tcPr>
                </a:tc>
                <a:tc>
                  <a:txBody>
                    <a:bodyPr wrap="square"/>
                    <a:lstStyle/>
                    <a:p>
                      <a:r>
                        <a:rPr sz="1200" b="0" i="0">
                          <a:solidFill>
                            <a:srgbClr val="1F1F1F"/>
                          </a:solidFill>
                          <a:latin typeface="Arial"/>
                        </a:rPr>
                        <a:t>above</a:t>
                      </a:r>
                    </a:p>
                  </a:txBody>
                  <a:tcPr marL="54864" marR="54864" marT="27432" marB="27432">
                    <a:solidFill>
                      <a:srgbClr val="F6F6F6"/>
                    </a:solidFill>
                  </a:tcPr>
                </a:tc>
              </a:tr>
            </a:tbl>
          </a:graphicData>
        </a:graphic>
      </p:graphicFrame>
      <p:sp>
        <p:nvSpPr>
          <p:cNvPr id="9" name="Rounded Rectangle 8"/>
          <p:cNvSpPr/>
          <p:nvPr/>
        </p:nvSpPr>
        <p:spPr>
          <a:xfrm>
            <a:off x="457200" y="5166360"/>
            <a:ext cx="6035040" cy="118872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5212080"/>
            <a:ext cx="5760720" cy="1097280"/>
          </a:xfrm>
          <a:prstGeom prst="rect">
            <a:avLst/>
          </a:prstGeom>
          <a:noFill/>
        </p:spPr>
        <p:txBody>
          <a:bodyPr wrap="square" anchor="ctr" lIns="45720" rIns="45720" tIns="27432" bIns="27432">
            <a:spAutoFit/>
          </a:bodyPr>
          <a:lstStyle/>
          <a:p>
            <a:pPr algn="l">
              <a:lnSpc>
                <a:spcPct val="105000"/>
              </a:lnSpc>
              <a:spcAft>
                <a:spcPts val="300"/>
              </a:spcAft>
            </a:pPr>
            <a:r>
              <a:rPr sz="1200" b="0" i="0">
                <a:solidFill>
                  <a:srgbClr val="1F1F1F"/>
                </a:solidFill>
                <a:latin typeface="Arial"/>
              </a:rPr>
              <a:t>BO's total HV gain (6.9 % of HV₀) is below the campaign's per-round noise bar (8 %). No HV result in this experiment can show BO ahead by more than that bar.</a:t>
            </a:r>
          </a:p>
        </p:txBody>
      </p:sp>
      <p:sp>
        <p:nvSpPr>
          <p:cNvPr id="11" name="TextBox 10"/>
          <p:cNvSpPr txBox="1"/>
          <p:nvPr/>
        </p:nvSpPr>
        <p:spPr>
          <a:xfrm>
            <a:off x="6675120" y="5166360"/>
            <a:ext cx="5029200" cy="1188720"/>
          </a:xfrm>
          <a:prstGeom prst="rect">
            <a:avLst/>
          </a:prstGeom>
          <a:noFill/>
        </p:spPr>
        <p:txBody>
          <a:bodyPr wrap="square" anchor="t" lIns="45720" rIns="45720" tIns="27432" bIns="27432">
            <a:spAutoFit/>
          </a:bodyPr>
          <a:lstStyle/>
          <a:p>
            <a:pPr algn="l">
              <a:lnSpc>
                <a:spcPct val="105000"/>
              </a:lnSpc>
              <a:spcAft>
                <a:spcPts val="200"/>
              </a:spcAft>
            </a:pPr>
            <a:r>
              <a:rPr sz="1200" b="1" i="0">
                <a:solidFill>
                  <a:srgbClr val="0C2340"/>
                </a:solidFill>
                <a:latin typeface="Arial"/>
              </a:rPr>
              <a:t>Expert review</a:t>
            </a:r>
          </a:p>
          <a:p>
            <a:pPr algn="l">
              <a:lnSpc>
                <a:spcPct val="105000"/>
              </a:lnSpc>
              <a:spcAft>
                <a:spcPts val="200"/>
              </a:spcAft>
            </a:pPr>
            <a:r>
              <a:rPr sz="1200" b="0" i="0">
                <a:solidFill>
                  <a:srgbClr val="1F1F1F"/>
                </a:solidFill>
                <a:latin typeface="Arial"/>
              </a:rPr>
              <a:t>R_union equals REF48 and mainly credits BO's corner picks. Its 1.00 restates the extremes result; do not count it as separate evidence. Lead with R_frozen.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1800" b="1" i="0">
                <a:solidFill>
                  <a:srgbClr val="0C2340"/>
                </a:solidFill>
                <a:latin typeface="Arial"/>
              </a:rPr>
              <a:t>Robustness: the verdict is not robust, and the reason is the shed axis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sensitivity to sub-floor shed differences</a:t>
            </a:r>
          </a:p>
        </p:txBody>
      </p:sp>
      <p:sp>
        <p:nvSpPr>
          <p:cNvPr id="6" name="Rounded Rectangle 5"/>
          <p:cNvSpPr/>
          <p:nvPr/>
        </p:nvSpPr>
        <p:spPr>
          <a:xfrm>
            <a:off x="457200" y="1234440"/>
            <a:ext cx="5532120" cy="3108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325880"/>
            <a:ext cx="5166360" cy="2926080"/>
          </a:xfrm>
          <a:prstGeom prst="rect">
            <a:avLst/>
          </a:prstGeom>
          <a:noFill/>
        </p:spPr>
        <p:txBody>
          <a:bodyPr wrap="square" anchor="t" lIns="45720" rIns="45720" tIns="27432" bIns="27432">
            <a:spAutoFit/>
          </a:bodyPr>
          <a:lstStyle/>
          <a:p>
            <a:pPr algn="l">
              <a:lnSpc>
                <a:spcPct val="105000"/>
              </a:lnSpc>
              <a:spcAft>
                <a:spcPts val="1000"/>
              </a:spcAft>
            </a:pPr>
            <a:r>
              <a:rPr sz="1600" b="1" i="0">
                <a:solidFill>
                  <a:srgbClr val="0C2340"/>
                </a:solidFill>
                <a:latin typeface="Arial"/>
              </a:rPr>
              <a:t>Pre-registered</a:t>
            </a:r>
          </a:p>
          <a:p>
            <a:pPr algn="l">
              <a:lnSpc>
                <a:spcPct val="105000"/>
              </a:lnSpc>
              <a:spcAft>
                <a:spcPts val="1000"/>
              </a:spcAft>
            </a:pPr>
            <a:r>
              <a:rPr sz="1600" b="0" i="0">
                <a:solidFill>
                  <a:srgbClr val="1F1F1F"/>
                </a:solidFill>
                <a:latin typeface="Arial"/>
              </a:rPr>
              <a:t>1,000 perturbed draws (floors 3,000 MWh / 5,000 MWh / $0.5M).</a:t>
            </a:r>
          </a:p>
          <a:p>
            <a:pPr algn="l">
              <a:lnSpc>
                <a:spcPct val="105000"/>
              </a:lnSpc>
              <a:spcAft>
                <a:spcPts val="1000"/>
              </a:spcAft>
            </a:pPr>
            <a:r>
              <a:rPr sz="1600" b="0" i="0">
                <a:solidFill>
                  <a:srgbClr val="1F1F1F"/>
                </a:solidFill>
                <a:latin typeface="Arial"/>
              </a:rPr>
              <a:t>467 above, 531 comparable, 2 matched.</a:t>
            </a:r>
          </a:p>
          <a:p>
            <a:pPr algn="l">
              <a:lnSpc>
                <a:spcPct val="105000"/>
              </a:lnSpc>
              <a:spcAft>
                <a:spcPts val="1000"/>
              </a:spcAft>
            </a:pPr>
            <a:r>
              <a:rPr sz="1600" b="0" i="0">
                <a:solidFill>
                  <a:srgbClr val="1F1F1F"/>
                </a:solidFill>
                <a:latin typeface="Arial"/>
              </a:rPr>
              <a:t>0.467 &lt; 0.8 → "not robust to floor-level output perturbation".</a:t>
            </a:r>
          </a:p>
          <a:p>
            <a:pPr algn="l">
              <a:lnSpc>
                <a:spcPct val="105000"/>
              </a:lnSpc>
              <a:spcAft>
                <a:spcPts val="1000"/>
              </a:spcAft>
            </a:pPr>
            <a:r>
              <a:rPr sz="1600" b="1" i="0">
                <a:solidFill>
                  <a:srgbClr val="1F1F1F"/>
                </a:solidFill>
                <a:latin typeface="Arial"/>
              </a:rPr>
              <a:t>The flag stays.</a:t>
            </a:r>
          </a:p>
        </p:txBody>
      </p:sp>
      <p:sp>
        <p:nvSpPr>
          <p:cNvPr id="8" name="Rounded Rectangle 7"/>
          <p:cNvSpPr/>
          <p:nvPr/>
        </p:nvSpPr>
        <p:spPr>
          <a:xfrm>
            <a:off x="6172200" y="1234440"/>
            <a:ext cx="5532120" cy="3108960"/>
          </a:xfrm>
          <a:prstGeom prst="roundRect">
            <a:avLst>
              <a:gd name="adj" fmla="val 4000"/>
            </a:avLst>
          </a:prstGeom>
          <a:solidFill>
            <a:srgbClr val="F2F4F7"/>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55080" y="1325880"/>
            <a:ext cx="5166360" cy="2926080"/>
          </a:xfrm>
          <a:prstGeom prst="rect">
            <a:avLst/>
          </a:prstGeom>
          <a:noFill/>
        </p:spPr>
        <p:txBody>
          <a:bodyPr wrap="square" anchor="t" lIns="45720" rIns="45720" tIns="27432" bIns="27432">
            <a:spAutoFit/>
          </a:bodyPr>
          <a:lstStyle/>
          <a:p>
            <a:pPr algn="l">
              <a:lnSpc>
                <a:spcPct val="105000"/>
              </a:lnSpc>
              <a:spcAft>
                <a:spcPts val="1000"/>
              </a:spcAft>
            </a:pPr>
            <a:r>
              <a:rPr sz="1600" b="1" i="0">
                <a:solidFill>
                  <a:srgbClr val="AE9342"/>
                </a:solidFill>
                <a:latin typeface="Arial"/>
              </a:rPr>
              <a:t>POST-HOC (not pre-registered)</a:t>
            </a:r>
          </a:p>
          <a:p>
            <a:pPr algn="l">
              <a:lnSpc>
                <a:spcPct val="105000"/>
              </a:lnSpc>
              <a:spcAft>
                <a:spcPts val="1000"/>
              </a:spcAft>
            </a:pPr>
            <a:r>
              <a:rPr sz="1600" b="0" i="0">
                <a:solidFill>
                  <a:srgbClr val="1F1F1F"/>
                </a:solidFill>
                <a:latin typeface="Arial"/>
              </a:rPr>
              <a:t>The shed floor (3,000 MWh) is 20 % of the R_frozen shed width (15,102 MWh).</a:t>
            </a:r>
          </a:p>
          <a:p>
            <a:pPr algn="l">
              <a:lnSpc>
                <a:spcPct val="105000"/>
              </a:lnSpc>
              <a:spcAft>
                <a:spcPts val="1000"/>
              </a:spcAft>
            </a:pPr>
            <a:r>
              <a:rPr sz="1600" b="0" i="0">
                <a:solidFill>
                  <a:srgbClr val="1F1F1F"/>
                </a:solidFill>
                <a:latin typeface="Arial"/>
              </a:rPr>
              <a:t>Without shed noise, 0.89 of draws keep "above"; clipping shed at 0 gives 0.48.</a:t>
            </a:r>
          </a:p>
          <a:p>
            <a:pPr algn="l">
              <a:lnSpc>
                <a:spcPct val="105000"/>
              </a:lnSpc>
              <a:spcAft>
                <a:spcPts val="1000"/>
              </a:spcAft>
            </a:pPr>
            <a:r>
              <a:rPr sz="1600" b="0" i="0">
                <a:solidFill>
                  <a:srgbClr val="1F1F1F"/>
                </a:solidFill>
                <a:latin typeface="Arial"/>
              </a:rPr>
              <a:t>RTS runs are deterministic, so this is a materiality stress test, not measurement noise.</a:t>
            </a:r>
          </a:p>
        </p:txBody>
      </p:sp>
      <p:sp>
        <p:nvSpPr>
          <p:cNvPr id="10" name="Rounded Rectangle 9"/>
          <p:cNvSpPr/>
          <p:nvPr/>
        </p:nvSpPr>
        <p:spPr>
          <a:xfrm>
            <a:off x="457200" y="4526280"/>
            <a:ext cx="11247120" cy="17373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 y="4572000"/>
            <a:ext cx="10972800" cy="1645920"/>
          </a:xfrm>
          <a:prstGeom prst="rect">
            <a:avLst/>
          </a:prstGeom>
          <a:noFill/>
        </p:spPr>
        <p:txBody>
          <a:bodyPr wrap="square" anchor="ctr" lIns="45720" rIns="45720" tIns="27432" bIns="27432">
            <a:spAutoFit/>
          </a:bodyPr>
          <a:lstStyle/>
          <a:p>
            <a:pPr algn="l">
              <a:lnSpc>
                <a:spcPct val="105000"/>
              </a:lnSpc>
              <a:spcAft>
                <a:spcPts val="300"/>
              </a:spcAft>
            </a:pPr>
            <a:r>
              <a:rPr sz="1800" b="1" i="0">
                <a:solidFill>
                  <a:srgbClr val="0C2340"/>
                </a:solidFill>
                <a:latin typeface="Arial"/>
              </a:rPr>
              <a:t>Reading</a:t>
            </a:r>
          </a:p>
          <a:p>
            <a:pPr algn="l">
              <a:lnSpc>
                <a:spcPct val="105000"/>
              </a:lnSpc>
              <a:spcAft>
                <a:spcPts val="300"/>
              </a:spcAft>
            </a:pPr>
            <a:r>
              <a:rPr sz="1800" b="0" i="0">
                <a:solidFill>
                  <a:srgbClr val="1F1F1F"/>
                </a:solidFill>
                <a:latin typeface="Arial"/>
              </a:rPr>
              <a:t>"BO's percentile lead depends partly on load-shed differences smaller than 3,000 MWh." Also: p̂ = 0.94 sits only 0.04 above the 0.90 cutoff.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Extremes (S1): BO's clearest advantage</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pic>
        <p:nvPicPr>
          <p:cNvPr id="5" name="Picture 4" descr="fig3_s1_extremes.png"/>
          <p:cNvPicPr>
            <a:picLocks noChangeAspect="1"/>
          </p:cNvPicPr>
          <p:nvPr/>
        </p:nvPicPr>
        <p:blipFill>
          <a:blip r:embed="rId2"/>
          <a:stretch>
            <a:fillRect/>
          </a:stretch>
        </p:blipFill>
        <p:spPr>
          <a:xfrm>
            <a:off x="1009710" y="1051560"/>
            <a:ext cx="10142099" cy="2953512"/>
          </a:xfrm>
          <a:prstGeom prst="rect">
            <a:avLst/>
          </a:prstGeom>
        </p:spPr>
      </p:pic>
      <p:sp>
        <p:nvSpPr>
          <p:cNvPr id="6" name="TextBox 5"/>
          <p:cNvSpPr txBox="1"/>
          <p:nvPr/>
        </p:nvSpPr>
        <p:spPr>
          <a:xfrm>
            <a:off x="457200" y="402336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/Users/yilu/Documents/GitHub/RTS-GMLC/trial_0826/campaign/analysis/random_baseline/figs/fig3_s1_extremes.png</a:t>
            </a:r>
          </a:p>
        </p:txBody>
      </p:sp>
      <p:graphicFrame>
        <p:nvGraphicFramePr>
          <p:cNvPr id="7" name="Table 6"/>
          <p:cNvGraphicFramePr>
            <a:graphicFrameLocks noGrp="1"/>
          </p:cNvGraphicFramePr>
          <p:nvPr/>
        </p:nvGraphicFramePr>
        <p:xfrm>
          <a:off x="457200" y="4389120"/>
          <a:ext cx="6400800" cy="1463040"/>
        </p:xfrm>
        <a:graphic>
          <a:graphicData uri="http://schemas.openxmlformats.org/drawingml/2006/table">
            <a:tbl>
              <a:tblPr firstRow="1" bandRow="1">
                <a:tableStyleId>{5C22544A-7EE6-4342-B048-85BDC9FD1C3A}</a:tableStyleId>
              </a:tblPr>
              <a:tblGrid>
                <a:gridCol w="1155700"/>
                <a:gridCol w="1689100"/>
                <a:gridCol w="1600200"/>
                <a:gridCol w="1955800"/>
              </a:tblGrid>
              <a:tr h="365760">
                <a:tc>
                  <a:txBody>
                    <a:bodyPr wrap="square"/>
                    <a:lstStyle/>
                    <a:p>
                      <a:r>
                        <a:rPr sz="1200" b="1" i="0">
                          <a:solidFill>
                            <a:srgbClr val="1F1F1F"/>
                          </a:solidFill>
                          <a:latin typeface="Arial"/>
                        </a:rPr>
                        <a:t>Objective</a:t>
                      </a:r>
                    </a:p>
                  </a:txBody>
                  <a:tcPr marL="54864" marR="54864" marT="27432" marB="27432">
                    <a:solidFill>
                      <a:srgbClr val="DCE3EE"/>
                    </a:solidFill>
                  </a:tcPr>
                </a:tc>
                <a:tc>
                  <a:txBody>
                    <a:bodyPr wrap="square"/>
                    <a:lstStyle/>
                    <a:p>
                      <a:r>
                        <a:rPr sz="1200" b="1" i="0">
                          <a:solidFill>
                            <a:srgbClr val="1F1F1F"/>
                          </a:solidFill>
                          <a:latin typeface="Arial"/>
                        </a:rPr>
                        <a:t>BO best</a:t>
                      </a:r>
                    </a:p>
                  </a:txBody>
                  <a:tcPr marL="54864" marR="54864" marT="27432" marB="27432">
                    <a:solidFill>
                      <a:srgbClr val="DCE3EE"/>
                    </a:solidFill>
                  </a:tcPr>
                </a:tc>
                <a:tc>
                  <a:txBody>
                    <a:bodyPr wrap="square"/>
                    <a:lstStyle/>
                    <a:p>
                      <a:r>
                        <a:rPr sz="1200" b="1" i="0">
                          <a:solidFill>
                            <a:srgbClr val="1F1F1F"/>
                          </a:solidFill>
                          <a:latin typeface="Arial"/>
                        </a:rPr>
                        <a:t>Best of 48 random</a:t>
                      </a:r>
                    </a:p>
                  </a:txBody>
                  <a:tcPr marL="54864" marR="54864" marT="27432" marB="27432">
                    <a:solidFill>
                      <a:srgbClr val="DCE3EE"/>
                    </a:solidFill>
                  </a:tcPr>
                </a:tc>
                <a:tc>
                  <a:txBody>
                    <a:bodyPr wrap="square"/>
                    <a:lstStyle/>
                    <a:p>
                      <a:r>
                        <a:rPr sz="1200" b="1" i="0">
                          <a:solidFill>
                            <a:srgbClr val="1F1F1F"/>
                          </a:solidFill>
                          <a:latin typeface="Arial"/>
                        </a:rPr>
                        <a:t>BO ahead by &gt; floor?</a:t>
                      </a:r>
                    </a:p>
                  </a:txBody>
                  <a:tcPr marL="54864" marR="54864" marT="27432" marB="27432">
                    <a:solidFill>
                      <a:srgbClr val="DCE3EE"/>
                    </a:solidFill>
                  </a:tcPr>
                </a:tc>
              </a:tr>
              <a:tr h="365760">
                <a:tc>
                  <a:txBody>
                    <a:bodyPr wrap="square"/>
                    <a:lstStyle/>
                    <a:p>
                      <a:r>
                        <a:rPr sz="1200" b="0" i="0">
                          <a:solidFill>
                            <a:srgbClr val="1F1F1F"/>
                          </a:solidFill>
                          <a:latin typeface="Arial"/>
                        </a:rPr>
                        <a:t>shed</a:t>
                      </a:r>
                    </a:p>
                  </a:txBody>
                  <a:tcPr marL="54864" marR="54864" marT="27432" marB="27432">
                    <a:solidFill>
                      <a:srgbClr val="FFFFFF"/>
                    </a:solidFill>
                  </a:tcPr>
                </a:tc>
                <a:tc>
                  <a:txBody>
                    <a:bodyPr wrap="square"/>
                    <a:lstStyle/>
                    <a:p>
                      <a:r>
                        <a:rPr sz="1200" b="0" i="0">
                          <a:solidFill>
                            <a:srgbClr val="1F1F1F"/>
                          </a:solidFill>
                          <a:latin typeface="Arial"/>
                        </a:rPr>
                        <a:t>0</a:t>
                      </a:r>
                    </a:p>
                  </a:txBody>
                  <a:tcPr marL="54864" marR="54864" marT="27432" marB="27432">
                    <a:solidFill>
                      <a:srgbClr val="FFFFFF"/>
                    </a:solidFill>
                  </a:tcPr>
                </a:tc>
                <a:tc>
                  <a:txBody>
                    <a:bodyPr wrap="square"/>
                    <a:lstStyle/>
                    <a:p>
                      <a:r>
                        <a:rPr sz="1200" b="0" i="0">
                          <a:solidFill>
                            <a:srgbClr val="1F1F1F"/>
                          </a:solidFill>
                          <a:latin typeface="Arial"/>
                        </a:rPr>
                        <a:t>0</a:t>
                      </a:r>
                    </a:p>
                  </a:txBody>
                  <a:tcPr marL="54864" marR="54864" marT="27432" marB="27432">
                    <a:solidFill>
                      <a:srgbClr val="FFFFFF"/>
                    </a:solidFill>
                  </a:tcPr>
                </a:tc>
                <a:tc>
                  <a:txBody>
                    <a:bodyPr wrap="square"/>
                    <a:lstStyle/>
                    <a:p>
                      <a:r>
                        <a:rPr sz="1200" b="0" i="0">
                          <a:solidFill>
                            <a:srgbClr val="1F1F1F"/>
                          </a:solidFill>
                          <a:latin typeface="Arial"/>
                        </a:rPr>
                        <a:t>no (tie)</a:t>
                      </a:r>
                    </a:p>
                  </a:txBody>
                  <a:tcPr marL="54864" marR="54864" marT="27432" marB="27432">
                    <a:solidFill>
                      <a:srgbClr val="FFFFFF"/>
                    </a:solidFill>
                  </a:tcPr>
                </a:tc>
              </a:tr>
              <a:tr h="365760">
                <a:tc>
                  <a:txBody>
                    <a:bodyPr wrap="square"/>
                    <a:lstStyle/>
                    <a:p>
                      <a:r>
                        <a:rPr sz="1200" b="0" i="0">
                          <a:solidFill>
                            <a:srgbClr val="1F1F1F"/>
                          </a:solidFill>
                          <a:latin typeface="Arial"/>
                        </a:rPr>
                        <a:t>curtailment</a:t>
                      </a:r>
                    </a:p>
                  </a:txBody>
                  <a:tcPr marL="54864" marR="54864" marT="27432" marB="27432">
                    <a:solidFill>
                      <a:srgbClr val="F6F6F6"/>
                    </a:solidFill>
                  </a:tcPr>
                </a:tc>
                <a:tc>
                  <a:txBody>
                    <a:bodyPr wrap="square"/>
                    <a:lstStyle/>
                    <a:p>
                      <a:r>
                        <a:rPr sz="1200" b="0" i="0">
                          <a:solidFill>
                            <a:srgbClr val="1F1F1F"/>
                          </a:solidFill>
                          <a:latin typeface="Arial"/>
                        </a:rPr>
                        <a:t>48,444 MWh (r1#5)</a:t>
                      </a:r>
                    </a:p>
                  </a:txBody>
                  <a:tcPr marL="54864" marR="54864" marT="27432" marB="27432">
                    <a:solidFill>
                      <a:srgbClr val="F6F6F6"/>
                    </a:solidFill>
                  </a:tcPr>
                </a:tc>
                <a:tc>
                  <a:txBody>
                    <a:bodyPr wrap="square"/>
                    <a:lstStyle/>
                    <a:p>
                      <a:r>
                        <a:rPr sz="1200" b="0" i="0">
                          <a:solidFill>
                            <a:srgbClr val="1F1F1F"/>
                          </a:solidFill>
                          <a:latin typeface="Arial"/>
                        </a:rPr>
                        <a:t>61,739 (rnd#15)</a:t>
                      </a:r>
                    </a:p>
                  </a:txBody>
                  <a:tcPr marL="54864" marR="54864" marT="27432" marB="27432">
                    <a:solidFill>
                      <a:srgbClr val="F6F6F6"/>
                    </a:solidFill>
                  </a:tcPr>
                </a:tc>
                <a:tc>
                  <a:txBody>
                    <a:bodyPr wrap="square"/>
                    <a:lstStyle/>
                    <a:p>
                      <a:r>
                        <a:rPr sz="1200" b="0" i="0">
                          <a:solidFill>
                            <a:srgbClr val="1F1F1F"/>
                          </a:solidFill>
                          <a:latin typeface="Arial"/>
                        </a:rPr>
                        <a:t>yes, 13.3 GWh</a:t>
                      </a:r>
                    </a:p>
                  </a:txBody>
                  <a:tcPr marL="54864" marR="54864" marT="27432" marB="27432">
                    <a:solidFill>
                      <a:srgbClr val="F6F6F6"/>
                    </a:solidFill>
                  </a:tcPr>
                </a:tc>
              </a:tr>
              <a:tr h="365760">
                <a:tc>
                  <a:txBody>
                    <a:bodyPr wrap="square"/>
                    <a:lstStyle/>
                    <a:p>
                      <a:r>
                        <a:rPr sz="1200" b="0" i="0">
                          <a:solidFill>
                            <a:srgbClr val="1F1F1F"/>
                          </a:solidFill>
                          <a:latin typeface="Arial"/>
                        </a:rPr>
                        <a:t>cost</a:t>
                      </a:r>
                    </a:p>
                  </a:txBody>
                  <a:tcPr marL="54864" marR="54864" marT="27432" marB="27432">
                    <a:solidFill>
                      <a:srgbClr val="FFFFFF"/>
                    </a:solidFill>
                  </a:tcPr>
                </a:tc>
                <a:tc>
                  <a:txBody>
                    <a:bodyPr wrap="square"/>
                    <a:lstStyle/>
                    <a:p>
                      <a:r>
                        <a:rPr sz="1200" b="0" i="0">
                          <a:solidFill>
                            <a:srgbClr val="1F1F1F"/>
                          </a:solidFill>
                          <a:latin typeface="Arial"/>
                        </a:rPr>
                        <a:t>$510.1M (r2#3)</a:t>
                      </a:r>
                    </a:p>
                  </a:txBody>
                  <a:tcPr marL="54864" marR="54864" marT="27432" marB="27432">
                    <a:solidFill>
                      <a:srgbClr val="FFFFFF"/>
                    </a:solidFill>
                  </a:tcPr>
                </a:tc>
                <a:tc>
                  <a:txBody>
                    <a:bodyPr wrap="square"/>
                    <a:lstStyle/>
                    <a:p>
                      <a:r>
                        <a:rPr sz="1200" b="0" i="0">
                          <a:solidFill>
                            <a:srgbClr val="1F1F1F"/>
                          </a:solidFill>
                          <a:latin typeface="Arial"/>
                        </a:rPr>
                        <a:t>$536.0M (rnd#42)</a:t>
                      </a:r>
                    </a:p>
                  </a:txBody>
                  <a:tcPr marL="54864" marR="54864" marT="27432" marB="27432">
                    <a:solidFill>
                      <a:srgbClr val="FFFFFF"/>
                    </a:solidFill>
                  </a:tcPr>
                </a:tc>
                <a:tc>
                  <a:txBody>
                    <a:bodyPr wrap="square"/>
                    <a:lstStyle/>
                    <a:p>
                      <a:r>
                        <a:rPr sz="1200" b="0" i="0">
                          <a:solidFill>
                            <a:srgbClr val="1F1F1F"/>
                          </a:solidFill>
                          <a:latin typeface="Arial"/>
                        </a:rPr>
                        <a:t>yes, $25.9M</a:t>
                      </a:r>
                    </a:p>
                  </a:txBody>
                  <a:tcPr marL="54864" marR="54864" marT="27432" marB="27432">
                    <a:solidFill>
                      <a:srgbClr val="FFFFFF"/>
                    </a:solidFill>
                  </a:tcPr>
                </a:tc>
              </a:tr>
            </a:tbl>
          </a:graphicData>
        </a:graphic>
      </p:graphicFrame>
      <p:sp>
        <p:nvSpPr>
          <p:cNvPr id="8" name="TextBox 7"/>
          <p:cNvSpPr txBox="1"/>
          <p:nvPr/>
        </p:nvSpPr>
        <p:spPr>
          <a:xfrm>
            <a:off x="7040880" y="4343400"/>
            <a:ext cx="4663440" cy="2011680"/>
          </a:xfrm>
          <a:prstGeom prst="rect">
            <a:avLst/>
          </a:prstGeom>
          <a:noFill/>
        </p:spPr>
        <p:txBody>
          <a:bodyPr wrap="square" anchor="t" lIns="45720" rIns="45720" tIns="27432" bIns="27432">
            <a:spAutoFit/>
          </a:bodyPr>
          <a:lstStyle/>
          <a:p>
            <a:pPr algn="l">
              <a:lnSpc>
                <a:spcPct val="105000"/>
              </a:lnSpc>
              <a:spcAft>
                <a:spcPts val="500"/>
              </a:spcAft>
            </a:pPr>
            <a:r>
              <a:rPr sz="1200" b="0" i="0">
                <a:solidFill>
                  <a:srgbClr val="1F1F1F"/>
                </a:solidFill>
                <a:latin typeface="Arial"/>
              </a:rPr>
              <a:t>•  No random 16-batch came within a floor of either extreme.</a:t>
            </a:r>
          </a:p>
          <a:p>
            <a:pPr algn="l">
              <a:lnSpc>
                <a:spcPct val="105000"/>
              </a:lnSpc>
              <a:spcAft>
                <a:spcPts val="500"/>
              </a:spcAft>
            </a:pPr>
            <a:r>
              <a:rPr sz="1200" b="0" i="0">
                <a:solidFill>
                  <a:srgbClr val="1F1F1F"/>
                </a:solidFill>
                <a:latin typeface="Arial"/>
              </a:rPr>
              <a:t>•  Caveat: the cost extreme is a minimum-build corner, guessable from physics; S1 compares BO with uniform random, not with a heuristic.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Grand front of 96 designs</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pic>
        <p:nvPicPr>
          <p:cNvPr id="5" name="Picture 4" descr="fig4b_grand_front_unified.png"/>
          <p:cNvPicPr>
            <a:picLocks noChangeAspect="1"/>
          </p:cNvPicPr>
          <p:nvPr/>
        </p:nvPicPr>
        <p:blipFill>
          <a:blip r:embed="rId2"/>
          <a:stretch>
            <a:fillRect/>
          </a:stretch>
        </p:blipFill>
        <p:spPr>
          <a:xfrm>
            <a:off x="1268966" y="1097280"/>
            <a:ext cx="9623587" cy="3364992"/>
          </a:xfrm>
          <a:prstGeom prst="rect">
            <a:avLst/>
          </a:prstGeom>
        </p:spPr>
      </p:pic>
      <p:sp>
        <p:nvSpPr>
          <p:cNvPr id="6" name="TextBox 5"/>
          <p:cNvSpPr txBox="1"/>
          <p:nvPr/>
        </p:nvSpPr>
        <p:spPr>
          <a:xfrm>
            <a:off x="457200" y="4480560"/>
            <a:ext cx="11247120" cy="292608"/>
          </a:xfrm>
          <a:prstGeom prst="rect">
            <a:avLst/>
          </a:prstGeom>
          <a:noFill/>
        </p:spPr>
        <p:txBody>
          <a:bodyPr wrap="square" anchor="t" lIns="45720" rIns="45720" tIns="27432" bIns="27432">
            <a:spAutoFit/>
          </a:bodyPr>
          <a:lstStyle/>
          <a:p>
            <a:pPr algn="l">
              <a:lnSpc>
                <a:spcPct val="105000"/>
              </a:lnSpc>
              <a:spcAft>
                <a:spcPts val="0"/>
              </a:spcAft>
            </a:pPr>
            <a:r>
              <a:rPr sz="800" b="0" i="0">
                <a:solidFill>
                  <a:srgbClr val="8A8A8A"/>
                </a:solidFill>
                <a:latin typeface="Arial"/>
              </a:rPr>
              <a:t>/Users/yilu/Documents/GitHub/RTS-GMLC/trial_0826/campaign/analysis/random_baseline/figs/fig4b_grand_front_unified.png</a:t>
            </a:r>
          </a:p>
        </p:txBody>
      </p:sp>
      <p:sp>
        <p:nvSpPr>
          <p:cNvPr id="7" name="TextBox 6"/>
          <p:cNvSpPr txBox="1"/>
          <p:nvPr/>
        </p:nvSpPr>
        <p:spPr>
          <a:xfrm>
            <a:off x="640080" y="4846320"/>
            <a:ext cx="10881360" cy="1508760"/>
          </a:xfrm>
          <a:prstGeom prst="rect">
            <a:avLst/>
          </a:prstGeom>
          <a:noFill/>
        </p:spPr>
        <p:txBody>
          <a:bodyPr wrap="square" anchor="t" lIns="45720" rIns="45720" tIns="27432" bIns="27432">
            <a:spAutoFit/>
          </a:bodyPr>
          <a:lstStyle/>
          <a:p>
            <a:pPr algn="l">
              <a:lnSpc>
                <a:spcPct val="105000"/>
              </a:lnSpc>
              <a:spcAft>
                <a:spcPts val="500"/>
              </a:spcAft>
            </a:pPr>
            <a:r>
              <a:rPr sz="1500" b="0" i="0">
                <a:solidFill>
                  <a:srgbClr val="1F1F1F"/>
                </a:solidFill>
                <a:latin typeface="Arial"/>
              </a:rPr>
              <a:t>•  Same panels and markers as slide 10. Of the 13 starts on the 48-point front, 6 are now dominated by random designs; all 13 BO front designs stay.</a:t>
            </a:r>
          </a:p>
          <a:p>
            <a:pPr algn="l">
              <a:lnSpc>
                <a:spcPct val="105000"/>
              </a:lnSpc>
              <a:spcAft>
                <a:spcPts val="500"/>
              </a:spcAft>
            </a:pPr>
            <a:r>
              <a:rPr sz="1500" b="0" i="0">
                <a:solidFill>
                  <a:srgbClr val="1F1F1F"/>
                </a:solidFill>
                <a:latin typeface="Arial"/>
              </a:rPr>
              <a:t>•  32 designs on the 96-point front: BO 13 of 16 (81 %), random 12 of 48 (25 %), starts 7 of 32.</a:t>
            </a:r>
          </a:p>
          <a:p>
            <a:pPr algn="l">
              <a:lnSpc>
                <a:spcPct val="105000"/>
              </a:lnSpc>
              <a:spcAft>
                <a:spcPts val="500"/>
              </a:spcAft>
            </a:pPr>
            <a:r>
              <a:rPr sz="1500" b="0" i="0">
                <a:solidFill>
                  <a:srgbClr val="1F1F1F"/>
                </a:solidFill>
                <a:latin typeface="Arial"/>
              </a:rPr>
              <a:t>•  A random 16-batch puts 6.6 designs (p10–p90 5–8) on the front of starts ∪ batch. BO puts 13.</a:t>
            </a:r>
          </a:p>
          <a:p>
            <a:pPr algn="l">
              <a:lnSpc>
                <a:spcPct val="105000"/>
              </a:lnSpc>
              <a:spcAft>
                <a:spcPts val="500"/>
              </a:spcAft>
            </a:pPr>
            <a:r>
              <a:rPr sz="1500" b="0" i="0">
                <a:solidFill>
                  <a:srgbClr val="1F1F1F"/>
                </a:solidFill>
                <a:latin typeface="Arial"/>
              </a:rPr>
              <a:t>•  No random design dominates any BO design (set coverage 0.00).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The design recipe, revisited: two rules hold, two fail</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Costs are g1-pending (option c adds +$28.188M to every design)</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approve the narrowed recipe wording</a:t>
            </a:r>
          </a:p>
        </p:txBody>
      </p:sp>
      <p:graphicFrame>
        <p:nvGraphicFramePr>
          <p:cNvPr id="6" name="Table 5"/>
          <p:cNvGraphicFramePr>
            <a:graphicFrameLocks noGrp="1"/>
          </p:cNvGraphicFramePr>
          <p:nvPr/>
        </p:nvGraphicFramePr>
        <p:xfrm>
          <a:off x="457200" y="1051560"/>
          <a:ext cx="11247116" cy="1920240"/>
        </p:xfrm>
        <a:graphic>
          <a:graphicData uri="http://schemas.openxmlformats.org/drawingml/2006/table">
            <a:tbl>
              <a:tblPr firstRow="1" bandRow="1">
                <a:tableStyleId>{5C22544A-7EE6-4342-B048-85BDC9FD1C3A}</a:tableStyleId>
              </a:tblPr>
              <a:tblGrid>
                <a:gridCol w="1606731"/>
                <a:gridCol w="1178269"/>
                <a:gridCol w="1178269"/>
                <a:gridCol w="1285385"/>
                <a:gridCol w="1285385"/>
                <a:gridCol w="2142308"/>
                <a:gridCol w="1392500"/>
                <a:gridCol w="1178269"/>
              </a:tblGrid>
              <a:tr h="274320">
                <a:tc>
                  <a:txBody>
                    <a:bodyPr wrap="square"/>
                    <a:lstStyle/>
                    <a:p>
                      <a:r>
                        <a:rPr sz="1100" b="1" i="0">
                          <a:solidFill>
                            <a:srgbClr val="1F1F1F"/>
                          </a:solidFill>
                          <a:latin typeface="Arial"/>
                        </a:rPr>
                        <a:t>Normalization</a:t>
                      </a:r>
                    </a:p>
                  </a:txBody>
                  <a:tcPr marL="54864" marR="54864" marT="27432" marB="27432">
                    <a:solidFill>
                      <a:srgbClr val="DCE3EE"/>
                    </a:solidFill>
                  </a:tcPr>
                </a:tc>
                <a:tc>
                  <a:txBody>
                    <a:bodyPr wrap="square"/>
                    <a:lstStyle/>
                    <a:p>
                      <a:r>
                        <a:rPr sz="1100" b="1" i="0">
                          <a:solidFill>
                            <a:srgbClr val="1F1F1F"/>
                          </a:solidFill>
                          <a:latin typeface="Arial"/>
                        </a:rPr>
                        <a:t>Knee</a:t>
                      </a:r>
                    </a:p>
                  </a:txBody>
                  <a:tcPr marL="54864" marR="54864" marT="27432" marB="27432">
                    <a:solidFill>
                      <a:srgbClr val="DCE3EE"/>
                    </a:solidFill>
                  </a:tcPr>
                </a:tc>
                <a:tc>
                  <a:txBody>
                    <a:bodyPr wrap="square"/>
                    <a:lstStyle/>
                    <a:p>
                      <a:r>
                        <a:rPr sz="1100" b="1" i="0">
                          <a:solidFill>
                            <a:srgbClr val="1F1F1F"/>
                          </a:solidFill>
                          <a:latin typeface="Arial"/>
                        </a:rPr>
                        <a:t>Source</a:t>
                      </a:r>
                    </a:p>
                  </a:txBody>
                  <a:tcPr marL="54864" marR="54864" marT="27432" marB="27432">
                    <a:solidFill>
                      <a:srgbClr val="DCE3EE"/>
                    </a:solidFill>
                  </a:tcPr>
                </a:tc>
                <a:tc>
                  <a:txBody>
                    <a:bodyPr wrap="square"/>
                    <a:lstStyle/>
                    <a:p>
                      <a:r>
                        <a:rPr sz="1100" b="1" i="0">
                          <a:solidFill>
                            <a:srgbClr val="1F1F1F"/>
                          </a:solidFill>
                          <a:latin typeface="Arial"/>
                        </a:rPr>
                        <a:t>Nuclear ω</a:t>
                      </a:r>
                    </a:p>
                  </a:txBody>
                  <a:tcPr marL="54864" marR="54864" marT="27432" marB="27432">
                    <a:solidFill>
                      <a:srgbClr val="DCE3EE"/>
                    </a:solidFill>
                  </a:tcPr>
                </a:tc>
                <a:tc>
                  <a:txBody>
                    <a:bodyPr wrap="square"/>
                    <a:lstStyle/>
                    <a:p>
                      <a:r>
                        <a:rPr sz="1100" b="1" i="0">
                          <a:solidFill>
                            <a:srgbClr val="1F1F1F"/>
                          </a:solidFill>
                          <a:latin typeface="Arial"/>
                        </a:rPr>
                        <a:t>Total MW</a:t>
                      </a:r>
                    </a:p>
                  </a:txBody>
                  <a:tcPr marL="54864" marR="54864" marT="27432" marB="27432">
                    <a:solidFill>
                      <a:srgbClr val="DCE3EE"/>
                    </a:solidFill>
                  </a:tcPr>
                </a:tc>
                <a:tc>
                  <a:txBody>
                    <a:bodyPr wrap="square"/>
                    <a:lstStyle/>
                    <a:p>
                      <a:r>
                        <a:rPr sz="1100" b="1" i="0">
                          <a:solidFill>
                            <a:srgbClr val="1F1F1F"/>
                          </a:solidFill>
                          <a:latin typeface="Arial"/>
                        </a:rPr>
                        <a:t>wind_303+317 share</a:t>
                      </a:r>
                    </a:p>
                  </a:txBody>
                  <a:tcPr marL="54864" marR="54864" marT="27432" marB="27432">
                    <a:solidFill>
                      <a:srgbClr val="DCE3EE"/>
                    </a:solidFill>
                  </a:tcPr>
                </a:tc>
                <a:tc>
                  <a:txBody>
                    <a:bodyPr wrap="square"/>
                    <a:lstStyle/>
                    <a:p>
                      <a:r>
                        <a:rPr sz="1100" b="1" i="0">
                          <a:solidFill>
                            <a:srgbClr val="1F1F1F"/>
                          </a:solidFill>
                          <a:latin typeface="Arial"/>
                        </a:rPr>
                        <a:t>wind_122 ω</a:t>
                      </a:r>
                    </a:p>
                  </a:txBody>
                  <a:tcPr marL="54864" marR="54864" marT="27432" marB="27432">
                    <a:solidFill>
                      <a:srgbClr val="DCE3EE"/>
                    </a:solidFill>
                  </a:tcPr>
                </a:tc>
                <a:tc>
                  <a:txBody>
                    <a:bodyPr wrap="square"/>
                    <a:lstStyle/>
                    <a:p>
                      <a:r>
                        <a:rPr sz="1100" b="1" i="0">
                          <a:solidFill>
                            <a:srgbClr val="1F1F1F"/>
                          </a:solidFill>
                          <a:latin typeface="Arial"/>
                        </a:rPr>
                        <a:t>In old R</a:t>
                      </a:r>
                    </a:p>
                  </a:txBody>
                  <a:tcPr marL="54864" marR="54864" marT="27432" marB="27432">
                    <a:solidFill>
                      <a:srgbClr val="DCE3EE"/>
                    </a:solidFill>
                  </a:tcPr>
                </a:tc>
              </a:tr>
              <a:tr h="274320">
                <a:tc>
                  <a:txBody>
                    <a:bodyPr wrap="square"/>
                    <a:lstStyle/>
                    <a:p>
                      <a:r>
                        <a:rPr sz="1100" b="0" i="0">
                          <a:solidFill>
                            <a:srgbClr val="1F1F1F"/>
                          </a:solidFill>
                          <a:latin typeface="Arial"/>
                        </a:rPr>
                        <a:t>full</a:t>
                      </a:r>
                    </a:p>
                  </a:txBody>
                  <a:tcPr marL="54864" marR="54864" marT="27432" marB="27432">
                    <a:solidFill>
                      <a:srgbClr val="FFFFFF"/>
                    </a:solidFill>
                  </a:tcPr>
                </a:tc>
                <a:tc>
                  <a:txBody>
                    <a:bodyPr wrap="square"/>
                    <a:lstStyle/>
                    <a:p>
                      <a:r>
                        <a:rPr sz="1100" b="0" i="0">
                          <a:solidFill>
                            <a:srgbClr val="1F1F1F"/>
                          </a:solidFill>
                          <a:latin typeface="Arial"/>
                        </a:rPr>
                        <a:t>rnd#2</a:t>
                      </a:r>
                    </a:p>
                  </a:txBody>
                  <a:tcPr marL="54864" marR="54864" marT="27432" marB="27432">
                    <a:solidFill>
                      <a:srgbClr val="FFFFFF"/>
                    </a:solidFill>
                  </a:tcPr>
                </a:tc>
                <a:tc>
                  <a:txBody>
                    <a:bodyPr wrap="square"/>
                    <a:lstStyle/>
                    <a:p>
                      <a:r>
                        <a:rPr sz="1100" b="0" i="0">
                          <a:solidFill>
                            <a:srgbClr val="1F1F1F"/>
                          </a:solidFill>
                          <a:latin typeface="Arial"/>
                        </a:rPr>
                        <a:t>random</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1,491</a:t>
                      </a:r>
                    </a:p>
                  </a:txBody>
                  <a:tcPr marL="54864" marR="54864" marT="27432" marB="27432">
                    <a:solidFill>
                      <a:srgbClr val="FFFFFF"/>
                    </a:solidFill>
                  </a:tcPr>
                </a:tc>
                <a:tc>
                  <a:txBody>
                    <a:bodyPr wrap="square"/>
                    <a:lstStyle/>
                    <a:p>
                      <a:r>
                        <a:rPr sz="1100" b="0" i="0">
                          <a:solidFill>
                            <a:srgbClr val="1F1F1F"/>
                          </a:solidFill>
                          <a:latin typeface="Arial"/>
                        </a:rPr>
                        <a:t>0.70</a:t>
                      </a:r>
                    </a:p>
                  </a:txBody>
                  <a:tcPr marL="54864" marR="54864" marT="27432" marB="27432">
                    <a:solidFill>
                      <a:srgbClr val="FFFFFF"/>
                    </a:solidFill>
                  </a:tcPr>
                </a:tc>
                <a:tc>
                  <a:txBody>
                    <a:bodyPr wrap="square"/>
                    <a:lstStyle/>
                    <a:p>
                      <a:r>
                        <a:rPr sz="1100" b="0" i="0">
                          <a:solidFill>
                            <a:srgbClr val="1F1F1F"/>
                          </a:solidFill>
                          <a:latin typeface="Arial"/>
                        </a:rPr>
                        <a:t>0.169</a:t>
                      </a:r>
                    </a:p>
                  </a:txBody>
                  <a:tcPr marL="54864" marR="54864" marT="27432" marB="27432">
                    <a:solidFill>
                      <a:srgbClr val="FFFFFF"/>
                    </a:solidFill>
                  </a:tcPr>
                </a:tc>
                <a:tc>
                  <a:txBody>
                    <a:bodyPr wrap="square"/>
                    <a:lstStyle/>
                    <a:p>
                      <a:r>
                        <a:rPr sz="1100" b="0" i="0">
                          <a:solidFill>
                            <a:srgbClr val="1F1F1F"/>
                          </a:solidFill>
                          <a:latin typeface="Arial"/>
                        </a:rPr>
                        <a:t>no</a:t>
                      </a:r>
                    </a:p>
                  </a:txBody>
                  <a:tcPr marL="54864" marR="54864" marT="27432" marB="27432">
                    <a:solidFill>
                      <a:srgbClr val="FFFFFF"/>
                    </a:solidFill>
                  </a:tcPr>
                </a:tc>
              </a:tr>
              <a:tr h="274320">
                <a:tc>
                  <a:txBody>
                    <a:bodyPr wrap="square"/>
                    <a:lstStyle/>
                    <a:p>
                      <a:r>
                        <a:rPr sz="1100" b="0" i="0">
                          <a:solidFill>
                            <a:srgbClr val="1F1F1F"/>
                          </a:solidFill>
                          <a:latin typeface="Arial"/>
                        </a:rPr>
                        <a:t>full</a:t>
                      </a:r>
                    </a:p>
                  </a:txBody>
                  <a:tcPr marL="54864" marR="54864" marT="27432" marB="27432">
                    <a:solidFill>
                      <a:srgbClr val="F6F6F6"/>
                    </a:solidFill>
                  </a:tcPr>
                </a:tc>
                <a:tc>
                  <a:txBody>
                    <a:bodyPr wrap="square"/>
                    <a:lstStyle/>
                    <a:p>
                      <a:r>
                        <a:rPr sz="1100" b="0" i="0">
                          <a:solidFill>
                            <a:srgbClr val="1F1F1F"/>
                          </a:solidFill>
                          <a:latin typeface="Arial"/>
                        </a:rPr>
                        <a:t>n0b#8</a:t>
                      </a:r>
                    </a:p>
                  </a:txBody>
                  <a:tcPr marL="54864" marR="54864" marT="27432" marB="27432">
                    <a:solidFill>
                      <a:srgbClr val="F6F6F6"/>
                    </a:solidFill>
                  </a:tcPr>
                </a:tc>
                <a:tc>
                  <a:txBody>
                    <a:bodyPr wrap="square"/>
                    <a:lstStyle/>
                    <a:p>
                      <a:r>
                        <a:rPr sz="1100" b="0" i="0">
                          <a:solidFill>
                            <a:srgbClr val="1F1F1F"/>
                          </a:solidFill>
                          <a:latin typeface="Arial"/>
                        </a:rPr>
                        <a:t>start</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1,699</a:t>
                      </a:r>
                    </a:p>
                  </a:txBody>
                  <a:tcPr marL="54864" marR="54864" marT="27432" marB="27432">
                    <a:solidFill>
                      <a:srgbClr val="F6F6F6"/>
                    </a:solidFill>
                  </a:tcPr>
                </a:tc>
                <a:tc>
                  <a:txBody>
                    <a:bodyPr wrap="square"/>
                    <a:lstStyle/>
                    <a:p>
                      <a:r>
                        <a:rPr sz="1100" b="0" i="0">
                          <a:solidFill>
                            <a:srgbClr val="1F1F1F"/>
                          </a:solidFill>
                          <a:latin typeface="Arial"/>
                        </a:rPr>
                        <a:t>0.79</a:t>
                      </a:r>
                    </a:p>
                  </a:txBody>
                  <a:tcPr marL="54864" marR="54864" marT="27432" marB="27432">
                    <a:solidFill>
                      <a:srgbClr val="F6F6F6"/>
                    </a:solidFill>
                  </a:tcPr>
                </a:tc>
                <a:tc>
                  <a:txBody>
                    <a:bodyPr wrap="square"/>
                    <a:lstStyle/>
                    <a:p>
                      <a:r>
                        <a:rPr sz="1100" b="0" i="0">
                          <a:solidFill>
                            <a:srgbClr val="1F1F1F"/>
                          </a:solidFill>
                          <a:latin typeface="Arial"/>
                        </a:rPr>
                        <a:t>0.169</a:t>
                      </a:r>
                    </a:p>
                  </a:txBody>
                  <a:tcPr marL="54864" marR="54864" marT="27432" marB="27432">
                    <a:solidFill>
                      <a:srgbClr val="F6F6F6"/>
                    </a:solidFill>
                  </a:tcPr>
                </a:tc>
                <a:tc>
                  <a:txBody>
                    <a:bodyPr wrap="square"/>
                    <a:lstStyle/>
                    <a:p>
                      <a:r>
                        <a:rPr sz="1100" b="0" i="0">
                          <a:solidFill>
                            <a:srgbClr val="1F1F1F"/>
                          </a:solidFill>
                          <a:latin typeface="Arial"/>
                        </a:rPr>
                        <a:t>yes</a:t>
                      </a:r>
                    </a:p>
                  </a:txBody>
                  <a:tcPr marL="54864" marR="54864" marT="27432" marB="27432">
                    <a:solidFill>
                      <a:srgbClr val="F6F6F6"/>
                    </a:solidFill>
                  </a:tcPr>
                </a:tc>
              </a:tr>
              <a:tr h="274320">
                <a:tc>
                  <a:txBody>
                    <a:bodyPr wrap="square"/>
                    <a:lstStyle/>
                    <a:p>
                      <a:r>
                        <a:rPr sz="1100" b="0" i="0">
                          <a:solidFill>
                            <a:srgbClr val="1F1F1F"/>
                          </a:solidFill>
                          <a:latin typeface="Arial"/>
                        </a:rPr>
                        <a:t>full</a:t>
                      </a:r>
                    </a:p>
                  </a:txBody>
                  <a:tcPr marL="54864" marR="54864" marT="27432" marB="27432">
                    <a:solidFill>
                      <a:srgbClr val="FFFFFF"/>
                    </a:solidFill>
                  </a:tcPr>
                </a:tc>
                <a:tc>
                  <a:txBody>
                    <a:bodyPr wrap="square"/>
                    <a:lstStyle/>
                    <a:p>
                      <a:r>
                        <a:rPr sz="1100" b="0" i="0">
                          <a:solidFill>
                            <a:srgbClr val="1F1F1F"/>
                          </a:solidFill>
                          <a:latin typeface="Arial"/>
                        </a:rPr>
                        <a:t>r1#2</a:t>
                      </a:r>
                    </a:p>
                  </a:txBody>
                  <a:tcPr marL="54864" marR="54864" marT="27432" marB="27432">
                    <a:solidFill>
                      <a:srgbClr val="FFFFFF"/>
                    </a:solidFill>
                  </a:tcPr>
                </a:tc>
                <a:tc>
                  <a:txBody>
                    <a:bodyPr wrap="square"/>
                    <a:lstStyle/>
                    <a:p>
                      <a:r>
                        <a:rPr sz="1100" b="0" i="0">
                          <a:solidFill>
                            <a:srgbClr val="1F1F1F"/>
                          </a:solidFill>
                          <a:latin typeface="Arial"/>
                        </a:rPr>
                        <a:t>BO</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1,705</a:t>
                      </a:r>
                    </a:p>
                  </a:txBody>
                  <a:tcPr marL="54864" marR="54864" marT="27432" marB="27432">
                    <a:solidFill>
                      <a:srgbClr val="FFFFFF"/>
                    </a:solidFill>
                  </a:tcPr>
                </a:tc>
                <a:tc>
                  <a:txBody>
                    <a:bodyPr wrap="square"/>
                    <a:lstStyle/>
                    <a:p>
                      <a:r>
                        <a:rPr sz="1100" b="0" i="0">
                          <a:solidFill>
                            <a:srgbClr val="1F1F1F"/>
                          </a:solidFill>
                          <a:latin typeface="Arial"/>
                        </a:rPr>
                        <a:t>0.68</a:t>
                      </a:r>
                    </a:p>
                  </a:txBody>
                  <a:tcPr marL="54864" marR="54864" marT="27432" marB="27432">
                    <a:solidFill>
                      <a:srgbClr val="FFFFFF"/>
                    </a:solidFill>
                  </a:tcPr>
                </a:tc>
                <a:tc>
                  <a:txBody>
                    <a:bodyPr wrap="square"/>
                    <a:lstStyle/>
                    <a:p>
                      <a:r>
                        <a:rPr sz="1100" b="0" i="0">
                          <a:solidFill>
                            <a:srgbClr val="1F1F1F"/>
                          </a:solidFill>
                          <a:latin typeface="Arial"/>
                        </a:rPr>
                        <a:t>0.288</a:t>
                      </a:r>
                    </a:p>
                  </a:txBody>
                  <a:tcPr marL="54864" marR="54864" marT="27432" marB="27432">
                    <a:solidFill>
                      <a:srgbClr val="FFFFFF"/>
                    </a:solidFill>
                  </a:tcPr>
                </a:tc>
                <a:tc>
                  <a:txBody>
                    <a:bodyPr wrap="square"/>
                    <a:lstStyle/>
                    <a:p>
                      <a:r>
                        <a:rPr sz="1100" b="0" i="0">
                          <a:solidFill>
                            <a:srgbClr val="1F1F1F"/>
                          </a:solidFill>
                          <a:latin typeface="Arial"/>
                        </a:rPr>
                        <a:t>yes</a:t>
                      </a:r>
                    </a:p>
                  </a:txBody>
                  <a:tcPr marL="54864" marR="54864" marT="27432" marB="27432">
                    <a:solidFill>
                      <a:srgbClr val="FFFFFF"/>
                    </a:solidFill>
                  </a:tcPr>
                </a:tc>
              </a:tr>
              <a:tr h="274320">
                <a:tc>
                  <a:txBody>
                    <a:bodyPr wrap="square"/>
                    <a:lstStyle/>
                    <a:p>
                      <a:r>
                        <a:rPr sz="1100" b="0" i="0">
                          <a:solidFill>
                            <a:srgbClr val="1F1F1F"/>
                          </a:solidFill>
                          <a:latin typeface="Arial"/>
                        </a:rPr>
                        <a:t>clipped</a:t>
                      </a:r>
                    </a:p>
                  </a:txBody>
                  <a:tcPr marL="54864" marR="54864" marT="27432" marB="27432">
                    <a:solidFill>
                      <a:srgbClr val="F6F6F6"/>
                    </a:solidFill>
                  </a:tcPr>
                </a:tc>
                <a:tc>
                  <a:txBody>
                    <a:bodyPr wrap="square"/>
                    <a:lstStyle/>
                    <a:p>
                      <a:r>
                        <a:rPr sz="1100" b="0" i="0">
                          <a:solidFill>
                            <a:srgbClr val="1F1F1F"/>
                          </a:solidFill>
                          <a:latin typeface="Arial"/>
                        </a:rPr>
                        <a:t>r2#1</a:t>
                      </a:r>
                    </a:p>
                  </a:txBody>
                  <a:tcPr marL="54864" marR="54864" marT="27432" marB="27432">
                    <a:solidFill>
                      <a:srgbClr val="F6F6F6"/>
                    </a:solidFill>
                  </a:tcPr>
                </a:tc>
                <a:tc>
                  <a:txBody>
                    <a:bodyPr wrap="square"/>
                    <a:lstStyle/>
                    <a:p>
                      <a:r>
                        <a:rPr sz="1100" b="0" i="0">
                          <a:solidFill>
                            <a:srgbClr val="1F1F1F"/>
                          </a:solidFill>
                          <a:latin typeface="Arial"/>
                        </a:rPr>
                        <a:t>BO</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1,825</a:t>
                      </a:r>
                    </a:p>
                  </a:txBody>
                  <a:tcPr marL="54864" marR="54864" marT="27432" marB="27432">
                    <a:solidFill>
                      <a:srgbClr val="F6F6F6"/>
                    </a:solidFill>
                  </a:tcPr>
                </a:tc>
                <a:tc>
                  <a:txBody>
                    <a:bodyPr wrap="square"/>
                    <a:lstStyle/>
                    <a:p>
                      <a:r>
                        <a:rPr sz="1100" b="0" i="0">
                          <a:solidFill>
                            <a:srgbClr val="1F1F1F"/>
                          </a:solidFill>
                          <a:latin typeface="Arial"/>
                        </a:rPr>
                        <a:t>0.58</a:t>
                      </a:r>
                    </a:p>
                  </a:txBody>
                  <a:tcPr marL="54864" marR="54864" marT="27432" marB="27432">
                    <a:solidFill>
                      <a:srgbClr val="F6F6F6"/>
                    </a:solidFill>
                  </a:tcPr>
                </a:tc>
                <a:tc>
                  <a:txBody>
                    <a:bodyPr wrap="square"/>
                    <a:lstStyle/>
                    <a:p>
                      <a:r>
                        <a:rPr sz="1100" b="0" i="0">
                          <a:solidFill>
                            <a:srgbClr val="1F1F1F"/>
                          </a:solidFill>
                          <a:latin typeface="Arial"/>
                        </a:rPr>
                        <a:t>0.525</a:t>
                      </a:r>
                    </a:p>
                  </a:txBody>
                  <a:tcPr marL="54864" marR="54864" marT="27432" marB="27432">
                    <a:solidFill>
                      <a:srgbClr val="F6F6F6"/>
                    </a:solidFill>
                  </a:tcPr>
                </a:tc>
                <a:tc>
                  <a:txBody>
                    <a:bodyPr wrap="square"/>
                    <a:lstStyle/>
                    <a:p>
                      <a:r>
                        <a:rPr sz="1100" b="0" i="0">
                          <a:solidFill>
                            <a:srgbClr val="1F1F1F"/>
                          </a:solidFill>
                          <a:latin typeface="Arial"/>
                        </a:rPr>
                        <a:t>no</a:t>
                      </a:r>
                    </a:p>
                  </a:txBody>
                  <a:tcPr marL="54864" marR="54864" marT="27432" marB="27432">
                    <a:solidFill>
                      <a:srgbClr val="F6F6F6"/>
                    </a:solidFill>
                  </a:tcPr>
                </a:tc>
              </a:tr>
              <a:tr h="274320">
                <a:tc>
                  <a:txBody>
                    <a:bodyPr wrap="square"/>
                    <a:lstStyle/>
                    <a:p>
                      <a:r>
                        <a:rPr sz="1100" b="0" i="0">
                          <a:solidFill>
                            <a:srgbClr val="1F1F1F"/>
                          </a:solidFill>
                          <a:latin typeface="Arial"/>
                        </a:rPr>
                        <a:t>clipped</a:t>
                      </a:r>
                    </a:p>
                  </a:txBody>
                  <a:tcPr marL="54864" marR="54864" marT="27432" marB="27432">
                    <a:solidFill>
                      <a:srgbClr val="FFFFFF"/>
                    </a:solidFill>
                  </a:tcPr>
                </a:tc>
                <a:tc>
                  <a:txBody>
                    <a:bodyPr wrap="square"/>
                    <a:lstStyle/>
                    <a:p>
                      <a:r>
                        <a:rPr sz="1100" b="0" i="0">
                          <a:solidFill>
                            <a:srgbClr val="1F1F1F"/>
                          </a:solidFill>
                          <a:latin typeface="Arial"/>
                        </a:rPr>
                        <a:t>rnd#43</a:t>
                      </a:r>
                    </a:p>
                  </a:txBody>
                  <a:tcPr marL="54864" marR="54864" marT="27432" marB="27432">
                    <a:solidFill>
                      <a:srgbClr val="FFFFFF"/>
                    </a:solidFill>
                  </a:tcPr>
                </a:tc>
                <a:tc>
                  <a:txBody>
                    <a:bodyPr wrap="square"/>
                    <a:lstStyle/>
                    <a:p>
                      <a:r>
                        <a:rPr sz="1100" b="0" i="0">
                          <a:solidFill>
                            <a:srgbClr val="1F1F1F"/>
                          </a:solidFill>
                          <a:latin typeface="Arial"/>
                        </a:rPr>
                        <a:t>random</a:t>
                      </a:r>
                    </a:p>
                  </a:txBody>
                  <a:tcPr marL="54864" marR="54864" marT="27432" marB="27432">
                    <a:solidFill>
                      <a:srgbClr val="FFFFFF"/>
                    </a:solidFill>
                  </a:tcPr>
                </a:tc>
                <a:tc>
                  <a:txBody>
                    <a:bodyPr wrap="square"/>
                    <a:lstStyle/>
                    <a:p>
                      <a:r>
                        <a:rPr sz="1100" b="0" i="0">
                          <a:solidFill>
                            <a:srgbClr val="1F1F1F"/>
                          </a:solidFill>
                          <a:latin typeface="Arial"/>
                        </a:rPr>
                        <a:t>0.05</a:t>
                      </a:r>
                    </a:p>
                  </a:txBody>
                  <a:tcPr marL="54864" marR="54864" marT="27432" marB="27432">
                    <a:solidFill>
                      <a:srgbClr val="FFFFFF"/>
                    </a:solidFill>
                  </a:tcPr>
                </a:tc>
                <a:tc>
                  <a:txBody>
                    <a:bodyPr wrap="square"/>
                    <a:lstStyle/>
                    <a:p>
                      <a:r>
                        <a:rPr sz="1100" b="0" i="0">
                          <a:solidFill>
                            <a:srgbClr val="1F1F1F"/>
                          </a:solidFill>
                          <a:latin typeface="Arial"/>
                        </a:rPr>
                        <a:t>2,084</a:t>
                      </a:r>
                    </a:p>
                  </a:txBody>
                  <a:tcPr marL="54864" marR="54864" marT="27432" marB="27432">
                    <a:solidFill>
                      <a:srgbClr val="FFFFFF"/>
                    </a:solidFill>
                  </a:tcPr>
                </a:tc>
                <a:tc>
                  <a:txBody>
                    <a:bodyPr wrap="square"/>
                    <a:lstStyle/>
                    <a:p>
                      <a:r>
                        <a:rPr sz="1100" b="0" i="0">
                          <a:solidFill>
                            <a:srgbClr val="1F1F1F"/>
                          </a:solidFill>
                          <a:latin typeface="Arial"/>
                        </a:rPr>
                        <a:t>0.55</a:t>
                      </a:r>
                    </a:p>
                  </a:txBody>
                  <a:tcPr marL="54864" marR="54864" marT="27432" marB="27432">
                    <a:solidFill>
                      <a:srgbClr val="FFFFFF"/>
                    </a:solidFill>
                  </a:tcPr>
                </a:tc>
                <a:tc>
                  <a:txBody>
                    <a:bodyPr wrap="square"/>
                    <a:lstStyle/>
                    <a:p>
                      <a:r>
                        <a:rPr sz="1100" b="0" i="0">
                          <a:solidFill>
                            <a:srgbClr val="1F1F1F"/>
                          </a:solidFill>
                          <a:latin typeface="Arial"/>
                        </a:rPr>
                        <a:t>0.644</a:t>
                      </a:r>
                    </a:p>
                  </a:txBody>
                  <a:tcPr marL="54864" marR="54864" marT="27432" marB="27432">
                    <a:solidFill>
                      <a:srgbClr val="FFFFFF"/>
                    </a:solidFill>
                  </a:tcPr>
                </a:tc>
                <a:tc>
                  <a:txBody>
                    <a:bodyPr wrap="square"/>
                    <a:lstStyle/>
                    <a:p>
                      <a:r>
                        <a:rPr sz="1100" b="0" i="0">
                          <a:solidFill>
                            <a:srgbClr val="1F1F1F"/>
                          </a:solidFill>
                          <a:latin typeface="Arial"/>
                        </a:rPr>
                        <a:t>no</a:t>
                      </a:r>
                    </a:p>
                  </a:txBody>
                  <a:tcPr marL="54864" marR="54864" marT="27432" marB="27432">
                    <a:solidFill>
                      <a:srgbClr val="FFFFFF"/>
                    </a:solidFill>
                  </a:tcPr>
                </a:tc>
              </a:tr>
              <a:tr h="274320">
                <a:tc>
                  <a:txBody>
                    <a:bodyPr wrap="square"/>
                    <a:lstStyle/>
                    <a:p>
                      <a:r>
                        <a:rPr sz="1100" b="0" i="0">
                          <a:solidFill>
                            <a:srgbClr val="1F1F1F"/>
                          </a:solidFill>
                          <a:latin typeface="Arial"/>
                        </a:rPr>
                        <a:t>clipped</a:t>
                      </a:r>
                    </a:p>
                  </a:txBody>
                  <a:tcPr marL="54864" marR="54864" marT="27432" marB="27432">
                    <a:solidFill>
                      <a:srgbClr val="F6F6F6"/>
                    </a:solidFill>
                  </a:tcPr>
                </a:tc>
                <a:tc>
                  <a:txBody>
                    <a:bodyPr wrap="square"/>
                    <a:lstStyle/>
                    <a:p>
                      <a:r>
                        <a:rPr sz="1100" b="0" i="0">
                          <a:solidFill>
                            <a:srgbClr val="1F1F1F"/>
                          </a:solidFill>
                          <a:latin typeface="Arial"/>
                        </a:rPr>
                        <a:t>r1#2</a:t>
                      </a:r>
                    </a:p>
                  </a:txBody>
                  <a:tcPr marL="54864" marR="54864" marT="27432" marB="27432">
                    <a:solidFill>
                      <a:srgbClr val="F6F6F6"/>
                    </a:solidFill>
                  </a:tcPr>
                </a:tc>
                <a:tc>
                  <a:txBody>
                    <a:bodyPr wrap="square"/>
                    <a:lstStyle/>
                    <a:p>
                      <a:r>
                        <a:rPr sz="1100" b="0" i="0">
                          <a:solidFill>
                            <a:srgbClr val="1F1F1F"/>
                          </a:solidFill>
                          <a:latin typeface="Arial"/>
                        </a:rPr>
                        <a:t>BO</a:t>
                      </a:r>
                    </a:p>
                  </a:txBody>
                  <a:tcPr marL="54864" marR="54864" marT="27432" marB="27432">
                    <a:solidFill>
                      <a:srgbClr val="F6F6F6"/>
                    </a:solidFill>
                  </a:tcPr>
                </a:tc>
                <a:tc>
                  <a:txBody>
                    <a:bodyPr wrap="square"/>
                    <a:lstStyle/>
                    <a:p>
                      <a:r>
                        <a:rPr sz="1100" b="0" i="0">
                          <a:solidFill>
                            <a:srgbClr val="1F1F1F"/>
                          </a:solidFill>
                          <a:latin typeface="Arial"/>
                        </a:rPr>
                        <a:t>0.05</a:t>
                      </a:r>
                    </a:p>
                  </a:txBody>
                  <a:tcPr marL="54864" marR="54864" marT="27432" marB="27432">
                    <a:solidFill>
                      <a:srgbClr val="F6F6F6"/>
                    </a:solidFill>
                  </a:tcPr>
                </a:tc>
                <a:tc>
                  <a:txBody>
                    <a:bodyPr wrap="square"/>
                    <a:lstStyle/>
                    <a:p>
                      <a:r>
                        <a:rPr sz="1100" b="0" i="0">
                          <a:solidFill>
                            <a:srgbClr val="1F1F1F"/>
                          </a:solidFill>
                          <a:latin typeface="Arial"/>
                        </a:rPr>
                        <a:t>1,705</a:t>
                      </a:r>
                    </a:p>
                  </a:txBody>
                  <a:tcPr marL="54864" marR="54864" marT="27432" marB="27432">
                    <a:solidFill>
                      <a:srgbClr val="F6F6F6"/>
                    </a:solidFill>
                  </a:tcPr>
                </a:tc>
                <a:tc>
                  <a:txBody>
                    <a:bodyPr wrap="square"/>
                    <a:lstStyle/>
                    <a:p>
                      <a:r>
                        <a:rPr sz="1100" b="0" i="0">
                          <a:solidFill>
                            <a:srgbClr val="1F1F1F"/>
                          </a:solidFill>
                          <a:latin typeface="Arial"/>
                        </a:rPr>
                        <a:t>0.68</a:t>
                      </a:r>
                    </a:p>
                  </a:txBody>
                  <a:tcPr marL="54864" marR="54864" marT="27432" marB="27432">
                    <a:solidFill>
                      <a:srgbClr val="F6F6F6"/>
                    </a:solidFill>
                  </a:tcPr>
                </a:tc>
                <a:tc>
                  <a:txBody>
                    <a:bodyPr wrap="square"/>
                    <a:lstStyle/>
                    <a:p>
                      <a:r>
                        <a:rPr sz="1100" b="0" i="0">
                          <a:solidFill>
                            <a:srgbClr val="1F1F1F"/>
                          </a:solidFill>
                          <a:latin typeface="Arial"/>
                        </a:rPr>
                        <a:t>0.288</a:t>
                      </a:r>
                    </a:p>
                  </a:txBody>
                  <a:tcPr marL="54864" marR="54864" marT="27432" marB="27432">
                    <a:solidFill>
                      <a:srgbClr val="F6F6F6"/>
                    </a:solidFill>
                  </a:tcPr>
                </a:tc>
                <a:tc>
                  <a:txBody>
                    <a:bodyPr wrap="square"/>
                    <a:lstStyle/>
                    <a:p>
                      <a:r>
                        <a:rPr sz="1100" b="0" i="0">
                          <a:solidFill>
                            <a:srgbClr val="1F1F1F"/>
                          </a:solidFill>
                          <a:latin typeface="Arial"/>
                        </a:rPr>
                        <a:t>yes</a:t>
                      </a:r>
                    </a:p>
                  </a:txBody>
                  <a:tcPr marL="54864" marR="54864" marT="27432" marB="27432">
                    <a:solidFill>
                      <a:srgbClr val="F6F6F6"/>
                    </a:solidFill>
                  </a:tcPr>
                </a:tc>
              </a:tr>
            </a:tbl>
          </a:graphicData>
        </a:graphic>
      </p:graphicFrame>
      <p:sp>
        <p:nvSpPr>
          <p:cNvPr id="7" name="Rounded Rectangle 6"/>
          <p:cNvSpPr/>
          <p:nvPr/>
        </p:nvSpPr>
        <p:spPr>
          <a:xfrm>
            <a:off x="457200" y="3108960"/>
            <a:ext cx="4206240" cy="14630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3154680"/>
            <a:ext cx="3931920" cy="1371600"/>
          </a:xfrm>
          <a:prstGeom prst="rect">
            <a:avLst/>
          </a:prstGeom>
          <a:noFill/>
        </p:spPr>
        <p:txBody>
          <a:bodyPr wrap="square" anchor="t" lIns="45720" rIns="45720" tIns="27432" bIns="27432">
            <a:spAutoFit/>
          </a:bodyPr>
          <a:lstStyle/>
          <a:p>
            <a:pPr algn="l">
              <a:lnSpc>
                <a:spcPct val="105000"/>
              </a:lnSpc>
              <a:spcAft>
                <a:spcPts val="200"/>
              </a:spcAft>
            </a:pPr>
            <a:r>
              <a:rPr sz="1200" b="1" i="0">
                <a:solidFill>
                  <a:srgbClr val="1E8449"/>
                </a:solidFill>
                <a:latin typeface="Arial"/>
              </a:rPr>
              <a:t>Holds</a:t>
            </a:r>
          </a:p>
          <a:p>
            <a:pPr algn="l">
              <a:lnSpc>
                <a:spcPct val="105000"/>
              </a:lnSpc>
              <a:spcAft>
                <a:spcPts val="200"/>
              </a:spcAft>
            </a:pPr>
            <a:r>
              <a:rPr sz="1200" b="0" i="0">
                <a:solidFill>
                  <a:srgbClr val="1F1F1F"/>
                </a:solidFill>
                <a:latin typeface="Arial"/>
              </a:rPr>
              <a:t>Nuclear at 0.05; wind_303 + wind_317 share ≥ 0.5 (0.55–0.79).</a:t>
            </a:r>
          </a:p>
          <a:p>
            <a:pPr algn="l">
              <a:lnSpc>
                <a:spcPct val="105000"/>
              </a:lnSpc>
              <a:spcAft>
                <a:spcPts val="200"/>
              </a:spcAft>
            </a:pPr>
            <a:r>
              <a:rPr sz="1200" b="1" i="0">
                <a:solidFill>
                  <a:srgbClr val="C0392B"/>
                </a:solidFill>
                <a:latin typeface="Arial"/>
              </a:rPr>
              <a:t>Fails</a:t>
            </a:r>
          </a:p>
          <a:p>
            <a:pPr algn="l">
              <a:lnSpc>
                <a:spcPct val="105000"/>
              </a:lnSpc>
              <a:spcAft>
                <a:spcPts val="200"/>
              </a:spcAft>
            </a:pPr>
            <a:r>
              <a:rPr sz="1200" b="0" i="0">
                <a:solidFill>
                  <a:srgbClr val="1F1F1F"/>
                </a:solidFill>
                <a:latin typeface="Arial"/>
              </a:rPr>
              <a:t>The 1.6–2.0 GW band; the wind_122 cap (drop it).</a:t>
            </a:r>
          </a:p>
        </p:txBody>
      </p:sp>
      <p:sp>
        <p:nvSpPr>
          <p:cNvPr id="9" name="Rounded Rectangle 8"/>
          <p:cNvSpPr/>
          <p:nvPr/>
        </p:nvSpPr>
        <p:spPr>
          <a:xfrm>
            <a:off x="4846320" y="3108960"/>
            <a:ext cx="6858000" cy="146304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83480" y="3154680"/>
            <a:ext cx="6583680" cy="1371600"/>
          </a:xfrm>
          <a:prstGeom prst="rect">
            <a:avLst/>
          </a:prstGeom>
          <a:noFill/>
        </p:spPr>
        <p:txBody>
          <a:bodyPr wrap="square" anchor="ctr" lIns="45720" rIns="45720" tIns="27432" bIns="27432">
            <a:spAutoFit/>
          </a:bodyPr>
          <a:lstStyle/>
          <a:p>
            <a:pPr algn="l">
              <a:lnSpc>
                <a:spcPct val="105000"/>
              </a:lnSpc>
              <a:spcAft>
                <a:spcPts val="300"/>
              </a:spcAft>
            </a:pPr>
            <a:r>
              <a:rPr sz="1300" b="1" i="0">
                <a:solidFill>
                  <a:srgbClr val="0C2340"/>
                </a:solidFill>
                <a:latin typeface="Arial"/>
              </a:rPr>
              <a:t>Key point</a:t>
            </a:r>
          </a:p>
          <a:p>
            <a:pPr algn="l">
              <a:lnSpc>
                <a:spcPct val="105000"/>
              </a:lnSpc>
              <a:spcAft>
                <a:spcPts val="300"/>
              </a:spcAft>
            </a:pPr>
            <a:r>
              <a:rPr sz="1300" b="0" i="0">
                <a:solidFill>
                  <a:srgbClr val="1F1F1F"/>
                </a:solidFill>
                <a:latin typeface="Arial"/>
              </a:rPr>
              <a:t>Total MW is the position along the front, not a size rule. Across 1.49 → 2.08 GW cost rises about 5 % and curtailment falls about 44 %. The size is a curtailment-vs-cost choice.</a:t>
            </a:r>
          </a:p>
        </p:txBody>
      </p:sp>
      <p:sp>
        <p:nvSpPr>
          <p:cNvPr id="11" name="TextBox 10"/>
          <p:cNvSpPr txBox="1"/>
          <p:nvPr/>
        </p:nvSpPr>
        <p:spPr>
          <a:xfrm>
            <a:off x="457200" y="4709160"/>
            <a:ext cx="11247120" cy="320040"/>
          </a:xfrm>
          <a:prstGeom prst="rect">
            <a:avLst/>
          </a:prstGeom>
          <a:noFill/>
        </p:spPr>
        <p:txBody>
          <a:bodyPr wrap="square" anchor="t" lIns="45720" rIns="45720" tIns="27432" bIns="27432">
            <a:spAutoFit/>
          </a:bodyPr>
          <a:lstStyle/>
          <a:p>
            <a:pPr algn="l">
              <a:lnSpc>
                <a:spcPct val="105000"/>
              </a:lnSpc>
              <a:spcAft>
                <a:spcPts val="400"/>
              </a:spcAft>
            </a:pPr>
            <a:r>
              <a:rPr sz="1300" b="1" i="0">
                <a:solidFill>
                  <a:srgbClr val="6B6B6B"/>
                </a:solidFill>
                <a:latin typeface="Arial"/>
              </a:rPr>
              <a:t>Caveats</a:t>
            </a:r>
          </a:p>
        </p:txBody>
      </p:sp>
      <p:sp>
        <p:nvSpPr>
          <p:cNvPr id="12" name="TextBox 11"/>
          <p:cNvSpPr txBox="1"/>
          <p:nvPr/>
        </p:nvSpPr>
        <p:spPr>
          <a:xfrm>
            <a:off x="457200" y="5029200"/>
            <a:ext cx="11247120" cy="1371600"/>
          </a:xfrm>
          <a:prstGeom prst="rect">
            <a:avLst/>
          </a:prstGeom>
          <a:noFill/>
        </p:spPr>
        <p:txBody>
          <a:bodyPr wrap="square" anchor="t" lIns="45720" rIns="45720" tIns="27432" bIns="27432">
            <a:spAutoFit/>
          </a:bodyPr>
          <a:lstStyle/>
          <a:p>
            <a:pPr algn="l">
              <a:lnSpc>
                <a:spcPct val="105000"/>
              </a:lnSpc>
              <a:spcAft>
                <a:spcPts val="300"/>
              </a:spcAft>
            </a:pPr>
            <a:r>
              <a:rPr sz="1200" b="0" i="0">
                <a:solidFill>
                  <a:srgbClr val="1F1F1F"/>
                </a:solidFill>
                <a:latin typeface="Arial"/>
              </a:rPr>
              <a:t>•  Designs within 0.03 of the knee distance include some with wind share &lt; 0.5, so the share rule describes the knees, not the whole front.</a:t>
            </a:r>
          </a:p>
          <a:p>
            <a:pPr algn="l">
              <a:lnSpc>
                <a:spcPct val="105000"/>
              </a:lnSpc>
              <a:spcAft>
                <a:spcPts val="300"/>
              </a:spcAft>
            </a:pPr>
            <a:r>
              <a:rPr sz="1200" b="0" i="0">
                <a:solidFill>
                  <a:srgbClr val="1F1F1F"/>
                </a:solidFill>
                <a:latin typeface="Arial"/>
              </a:rPr>
              <a:t>•  ω = 0.05 is the lattice floor, so "nuclear at the floor" means "no nuclear retrofit" in practice.</a:t>
            </a:r>
          </a:p>
          <a:p>
            <a:pPr algn="l">
              <a:lnSpc>
                <a:spcPct val="105000"/>
              </a:lnSpc>
              <a:spcAft>
                <a:spcPts val="300"/>
              </a:spcAft>
            </a:pPr>
            <a:r>
              <a:rPr sz="1200" b="0" i="0">
                <a:solidFill>
                  <a:srgbClr val="1F1F1F"/>
                </a:solidFill>
                <a:latin typeface="Arial"/>
              </a:rPr>
              <a:t>•  r2#1 was already outside the old R at write time (a gap in the prompt-34 pre-submission check).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Claim scope: what the paper can and cannot say</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457200" y="1234440"/>
            <a:ext cx="6309360" cy="5074920"/>
          </a:xfrm>
          <a:prstGeom prst="roundRect">
            <a:avLst>
              <a:gd name="adj" fmla="val 4000"/>
            </a:avLst>
          </a:prstGeom>
          <a:solidFill>
            <a:srgbClr val="F2F4F7"/>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325880"/>
            <a:ext cx="5943600" cy="41148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1E8449"/>
                </a:solidFill>
                <a:latin typeface="Arial"/>
              </a:rPr>
              <a:t>Can say</a:t>
            </a:r>
          </a:p>
        </p:txBody>
      </p:sp>
      <p:sp>
        <p:nvSpPr>
          <p:cNvPr id="7" name="TextBox 6"/>
          <p:cNvSpPr txBox="1"/>
          <p:nvPr/>
        </p:nvSpPr>
        <p:spPr>
          <a:xfrm>
            <a:off x="640080" y="1783080"/>
            <a:ext cx="5943600" cy="4434840"/>
          </a:xfrm>
          <a:prstGeom prst="rect">
            <a:avLst/>
          </a:prstGeom>
          <a:noFill/>
        </p:spPr>
        <p:txBody>
          <a:bodyPr wrap="square" anchor="t" lIns="45720" rIns="45720" tIns="27432" bIns="27432">
            <a:spAutoFit/>
          </a:bodyPr>
          <a:lstStyle/>
          <a:p>
            <a:pPr algn="l">
              <a:lnSpc>
                <a:spcPct val="105000"/>
              </a:lnSpc>
              <a:spcAft>
                <a:spcPts val="1200"/>
              </a:spcAft>
            </a:pPr>
            <a:r>
              <a:rPr sz="1600" b="0" i="0">
                <a:solidFill>
                  <a:srgbClr val="1F1F1F"/>
                </a:solidFill>
                <a:latin typeface="Arial"/>
              </a:rPr>
              <a:t>•  "An automated, pre-registered MOBO campaign on a real PCM terminated under its rule within budget."</a:t>
            </a:r>
          </a:p>
          <a:p>
            <a:pPr algn="l">
              <a:lnSpc>
                <a:spcPct val="105000"/>
              </a:lnSpc>
              <a:spcAft>
                <a:spcPts val="1200"/>
              </a:spcAft>
            </a:pPr>
            <a:r>
              <a:rPr sz="1600" b="0" i="0">
                <a:solidFill>
                  <a:srgbClr val="1F1F1F"/>
                </a:solidFill>
                <a:latin typeface="Arial"/>
              </a:rPr>
              <a:t>•  "This BO run's HV exceeded 94 % of random 16-design batches (+0.027 HV₀, below our 8 % noise bar, sensitive to sub-floor load-shed differences). Its clearer distinction is reaching the cost and curtailment extremes, $26M and 13 GWh beyond any of 48 random designs."</a:t>
            </a:r>
          </a:p>
          <a:p>
            <a:pPr algn="l">
              <a:lnSpc>
                <a:spcPct val="105000"/>
              </a:lnSpc>
              <a:spcAft>
                <a:spcPts val="1200"/>
              </a:spcAft>
            </a:pPr>
            <a:r>
              <a:rPr sz="1600" b="0" i="0">
                <a:solidFill>
                  <a:srgbClr val="1F1F1F"/>
                </a:solidFill>
                <a:latin typeface="Arial"/>
              </a:rPr>
              <a:t>•  Found designs are consistent with the LOCATION sensitivity structure (claim iii: supported).</a:t>
            </a:r>
          </a:p>
          <a:p>
            <a:pPr algn="l">
              <a:lnSpc>
                <a:spcPct val="105000"/>
              </a:lnSpc>
              <a:spcAft>
                <a:spcPts val="1200"/>
              </a:spcAft>
            </a:pPr>
            <a:r>
              <a:rPr sz="1600" b="0" i="0">
                <a:solidFill>
                  <a:srgbClr val="1F1F1F"/>
                </a:solidFill>
                <a:latin typeface="Arial"/>
              </a:rPr>
              <a:t>•  The narrowed recipe (slide 19).</a:t>
            </a:r>
          </a:p>
        </p:txBody>
      </p:sp>
      <p:sp>
        <p:nvSpPr>
          <p:cNvPr id="8" name="Rounded Rectangle 7"/>
          <p:cNvSpPr/>
          <p:nvPr/>
        </p:nvSpPr>
        <p:spPr>
          <a:xfrm>
            <a:off x="6949440" y="1234440"/>
            <a:ext cx="4754880" cy="5074920"/>
          </a:xfrm>
          <a:prstGeom prst="roundRect">
            <a:avLst>
              <a:gd name="adj" fmla="val 4000"/>
            </a:avLst>
          </a:prstGeom>
          <a:solidFill>
            <a:srgbClr val="F2F4F7"/>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0" y="1325880"/>
            <a:ext cx="4389120" cy="411480"/>
          </a:xfrm>
          <a:prstGeom prst="rect">
            <a:avLst/>
          </a:prstGeom>
          <a:noFill/>
        </p:spPr>
        <p:txBody>
          <a:bodyPr wrap="square" anchor="t" lIns="45720" rIns="45720" tIns="27432" bIns="27432">
            <a:spAutoFit/>
          </a:bodyPr>
          <a:lstStyle/>
          <a:p>
            <a:pPr algn="l">
              <a:lnSpc>
                <a:spcPct val="105000"/>
              </a:lnSpc>
              <a:spcAft>
                <a:spcPts val="400"/>
              </a:spcAft>
            </a:pPr>
            <a:r>
              <a:rPr sz="1800" b="1" i="0">
                <a:solidFill>
                  <a:srgbClr val="C0392B"/>
                </a:solidFill>
                <a:latin typeface="Arial"/>
              </a:rPr>
              <a:t>Cannot say</a:t>
            </a:r>
          </a:p>
        </p:txBody>
      </p:sp>
      <p:sp>
        <p:nvSpPr>
          <p:cNvPr id="10" name="TextBox 9"/>
          <p:cNvSpPr txBox="1"/>
          <p:nvPr/>
        </p:nvSpPr>
        <p:spPr>
          <a:xfrm>
            <a:off x="7132320" y="1783080"/>
            <a:ext cx="4389120" cy="4434840"/>
          </a:xfrm>
          <a:prstGeom prst="rect">
            <a:avLst/>
          </a:prstGeom>
          <a:noFill/>
        </p:spPr>
        <p:txBody>
          <a:bodyPr wrap="square" anchor="t" lIns="45720" rIns="45720" tIns="27432" bIns="27432">
            <a:spAutoFit/>
          </a:bodyPr>
          <a:lstStyle/>
          <a:p>
            <a:pPr algn="l">
              <a:lnSpc>
                <a:spcPct val="105000"/>
              </a:lnSpc>
              <a:spcAft>
                <a:spcPts val="1200"/>
              </a:spcAft>
            </a:pPr>
            <a:r>
              <a:rPr sz="1600" b="0" i="0">
                <a:solidFill>
                  <a:srgbClr val="1F1F1F"/>
                </a:solidFill>
                <a:latin typeface="Arial"/>
              </a:rPr>
              <a:t>•  "beat random", "significant", "robust", any p-value</a:t>
            </a:r>
          </a:p>
          <a:p>
            <a:pPr algn="l">
              <a:lnSpc>
                <a:spcPct val="105000"/>
              </a:lnSpc>
              <a:spcAft>
                <a:spcPts val="1200"/>
              </a:spcAft>
            </a:pPr>
            <a:r>
              <a:rPr sz="1600" b="0" i="0">
                <a:solidFill>
                  <a:srgbClr val="1F1F1F"/>
                </a:solidFill>
                <a:latin typeface="Arial"/>
              </a:rPr>
              <a:t>•  anything about q-ParEGO in general (one seed) or seed stability (claim ii: not shown)</a:t>
            </a:r>
          </a:p>
          <a:p>
            <a:pPr algn="l">
              <a:lnSpc>
                <a:spcPct val="105000"/>
              </a:lnSpc>
              <a:spcAft>
                <a:spcPts val="1200"/>
              </a:spcAft>
            </a:pPr>
            <a:r>
              <a:rPr sz="1600" b="0" i="0">
                <a:solidFill>
                  <a:srgbClr val="1F1F1F"/>
                </a:solidFill>
                <a:latin typeface="Arial"/>
              </a:rPr>
              <a:t>•  "converged" (claim i: not shown)</a:t>
            </a:r>
          </a:p>
          <a:p>
            <a:pPr algn="l">
              <a:lnSpc>
                <a:spcPct val="105000"/>
              </a:lnSpc>
              <a:spcAft>
                <a:spcPts val="1200"/>
              </a:spcAft>
            </a:pPr>
            <a:r>
              <a:rPr sz="1600" b="0" i="0">
                <a:solidFill>
                  <a:srgbClr val="1F1F1F"/>
                </a:solidFill>
                <a:latin typeface="Arial"/>
              </a:rPr>
              <a:t>•  anything vs Sobol or a heuristic; the R_union [1, 1] as certainty; the ~70 % model-world figure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BLOCK 3</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Roadblockers and open questions</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Each open question needs an owner.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C0392B"/>
                </a:solidFill>
                <a:latin typeface="Arial"/>
              </a:rPr>
              <a:t>Open questions (each needs an owner)</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457200" y="1234440"/>
          <a:ext cx="11247118" cy="4663440"/>
        </p:xfrm>
        <a:graphic>
          <a:graphicData uri="http://schemas.openxmlformats.org/drawingml/2006/table">
            <a:tbl>
              <a:tblPr firstRow="1" bandRow="1">
                <a:tableStyleId>{5C22544A-7EE6-4342-B048-85BDC9FD1C3A}</a:tableStyleId>
              </a:tblPr>
              <a:tblGrid>
                <a:gridCol w="4206239"/>
                <a:gridCol w="4937760"/>
                <a:gridCol w="2103119"/>
              </a:tblGrid>
              <a:tr h="777240">
                <a:tc>
                  <a:txBody>
                    <a:bodyPr wrap="square"/>
                    <a:lstStyle/>
                    <a:p>
                      <a:r>
                        <a:rPr sz="1400" b="1" i="0">
                          <a:solidFill>
                            <a:srgbClr val="1F1F1F"/>
                          </a:solidFill>
                          <a:latin typeface="Arial"/>
                        </a:rPr>
                        <a:t>Item</a:t>
                      </a:r>
                    </a:p>
                  </a:txBody>
                  <a:tcPr marL="54864" marR="54864" marT="27432" marB="27432">
                    <a:solidFill>
                      <a:srgbClr val="DCE3EE"/>
                    </a:solidFill>
                  </a:tcPr>
                </a:tc>
                <a:tc>
                  <a:txBody>
                    <a:bodyPr wrap="square"/>
                    <a:lstStyle/>
                    <a:p>
                      <a:r>
                        <a:rPr sz="1400" b="1" i="0">
                          <a:solidFill>
                            <a:srgbClr val="1F1F1F"/>
                          </a:solidFill>
                          <a:latin typeface="Arial"/>
                        </a:rPr>
                        <a:t>Why it matters</a:t>
                      </a:r>
                    </a:p>
                  </a:txBody>
                  <a:tcPr marL="54864" marR="54864" marT="27432" marB="27432">
                    <a:solidFill>
                      <a:srgbClr val="DCE3EE"/>
                    </a:solidFill>
                  </a:tcPr>
                </a:tc>
                <a:tc>
                  <a:txBody>
                    <a:bodyPr wrap="square"/>
                    <a:lstStyle/>
                    <a:p>
                      <a:r>
                        <a:rPr sz="1400" b="1" i="0">
                          <a:solidFill>
                            <a:srgbClr val="1F1F1F"/>
                          </a:solidFill>
                          <a:latin typeface="Arial"/>
                        </a:rPr>
                        <a:t>Owner</a:t>
                      </a:r>
                    </a:p>
                  </a:txBody>
                  <a:tcPr marL="54864" marR="54864" marT="27432" marB="27432">
                    <a:solidFill>
                      <a:srgbClr val="DCE3EE"/>
                    </a:solidFill>
                  </a:tcPr>
                </a:tc>
              </a:tr>
              <a:tr h="777240">
                <a:tc>
                  <a:txBody>
                    <a:bodyPr wrap="square"/>
                    <a:lstStyle/>
                    <a:p>
                      <a:r>
                        <a:rPr sz="1400" b="0" i="0">
                          <a:solidFill>
                            <a:srgbClr val="1F1F1F"/>
                          </a:solidFill>
                          <a:latin typeface="Arial"/>
                        </a:rPr>
                        <a:t>Shed falls as PEM MW rises (Spearman −0.94)</a:t>
                      </a:r>
                    </a:p>
                  </a:txBody>
                  <a:tcPr marL="54864" marR="54864" marT="27432" marB="27432">
                    <a:solidFill>
                      <a:srgbClr val="FFFFFF"/>
                    </a:solidFill>
                  </a:tcPr>
                </a:tc>
                <a:tc>
                  <a:txBody>
                    <a:bodyPr wrap="square"/>
                    <a:lstStyle/>
                    <a:p>
                      <a:r>
                        <a:rPr sz="1400" b="0" i="0">
                          <a:solidFill>
                            <a:srgbClr val="1F1F1F"/>
                          </a:solidFill>
                          <a:latin typeface="Arial"/>
                        </a:rPr>
                        <a:t>Adding load should not reduce shed; reviewers will ask for the mechanism</a:t>
                      </a:r>
                    </a:p>
                  </a:txBody>
                  <a:tcPr marL="54864" marR="54864" marT="27432" marB="27432">
                    <a:solidFill>
                      <a:srgbClr val="FFFFFF"/>
                    </a:solidFill>
                  </a:tcPr>
                </a:tc>
                <a:tc>
                  <a:txBody>
                    <a:bodyPr wrap="square"/>
                    <a:lstStyle/>
                    <a:p>
                      <a:r>
                        <a:rPr sz="1400" b="0" i="0">
                          <a:solidFill>
                            <a:srgbClr val="1F1F1F"/>
                          </a:solidFill>
                          <a:latin typeface="Arial"/>
                        </a:rPr>
                        <a:t>Kay</a:t>
                      </a:r>
                    </a:p>
                  </a:txBody>
                  <a:tcPr marL="54864" marR="54864" marT="27432" marB="27432">
                    <a:solidFill>
                      <a:srgbClr val="FFFFFF"/>
                    </a:solidFill>
                  </a:tcPr>
                </a:tc>
              </a:tr>
              <a:tr h="777240">
                <a:tc>
                  <a:txBody>
                    <a:bodyPr wrap="square"/>
                    <a:lstStyle/>
                    <a:p>
                      <a:r>
                        <a:rPr sz="1400" b="0" i="0">
                          <a:solidFill>
                            <a:srgbClr val="1F1F1F"/>
                          </a:solidFill>
                          <a:latin typeface="Arial"/>
                        </a:rPr>
                        <a:t>Does true_curtailment net out PEM-absorbed energy at every site?</a:t>
                      </a:r>
                    </a:p>
                  </a:txBody>
                  <a:tcPr marL="54864" marR="54864" marT="27432" marB="27432">
                    <a:solidFill>
                      <a:srgbClr val="F6F6F6"/>
                    </a:solidFill>
                  </a:tcPr>
                </a:tc>
                <a:tc>
                  <a:txBody>
                    <a:bodyPr wrap="square"/>
                    <a:lstStyle/>
                    <a:p>
                      <a:r>
                        <a:rPr sz="1400" b="0" i="0">
                          <a:solidFill>
                            <a:srgbClr val="1F1F1F"/>
                          </a:solidFill>
                          <a:latin typeface="Arial"/>
                        </a:rPr>
                        <a:t>Otherwise wind-sited PEMs are credited twice</a:t>
                      </a:r>
                    </a:p>
                  </a:txBody>
                  <a:tcPr marL="54864" marR="54864" marT="27432" marB="27432">
                    <a:solidFill>
                      <a:srgbClr val="F6F6F6"/>
                    </a:solidFill>
                  </a:tcPr>
                </a:tc>
                <a:tc>
                  <a:txBody>
                    <a:bodyPr wrap="square"/>
                    <a:lstStyle/>
                    <a:p>
                      <a:r>
                        <a:rPr sz="1400" b="0" i="0">
                          <a:solidFill>
                            <a:srgbClr val="1F1F1F"/>
                          </a:solidFill>
                          <a:latin typeface="Arial"/>
                        </a:rPr>
                        <a:t>Kay (check the accounting)</a:t>
                      </a:r>
                    </a:p>
                  </a:txBody>
                  <a:tcPr marL="54864" marR="54864" marT="27432" marB="27432">
                    <a:solidFill>
                      <a:srgbClr val="F6F6F6"/>
                    </a:solidFill>
                  </a:tcPr>
                </a:tc>
              </a:tr>
              <a:tr h="777240">
                <a:tc>
                  <a:txBody>
                    <a:bodyPr wrap="square"/>
                    <a:lstStyle/>
                    <a:p>
                      <a:r>
                        <a:rPr sz="1400" b="0" i="0">
                          <a:solidFill>
                            <a:srgbClr val="1F1F1F"/>
                          </a:solidFill>
                          <a:latin typeface="Arial"/>
                        </a:rPr>
                        <a:t>7 front designs share shed = 22.426 MWh</a:t>
                      </a:r>
                    </a:p>
                  </a:txBody>
                  <a:tcPr marL="54864" marR="54864" marT="27432" marB="27432">
                    <a:solidFill>
                      <a:srgbClr val="FFFFFF"/>
                    </a:solidFill>
                  </a:tcPr>
                </a:tc>
                <a:tc>
                  <a:txBody>
                    <a:bodyPr wrap="square"/>
                    <a:lstStyle/>
                    <a:p>
                      <a:r>
                        <a:rPr sz="1400" b="0" i="0">
                          <a:solidFill>
                            <a:srgbClr val="1F1F1F"/>
                          </a:solidFill>
                          <a:latin typeface="Arial"/>
                        </a:rPr>
                        <a:t>Likely one unavoidable event; "0 vs 22 MWh" is not a material difference</a:t>
                      </a:r>
                    </a:p>
                  </a:txBody>
                  <a:tcPr marL="54864" marR="54864" marT="27432" marB="27432">
                    <a:solidFill>
                      <a:srgbClr val="FFFFFF"/>
                    </a:solidFill>
                  </a:tcPr>
                </a:tc>
                <a:tc>
                  <a:txBody>
                    <a:bodyPr wrap="square"/>
                    <a:lstStyle/>
                    <a:p>
                      <a:r>
                        <a:rPr sz="1400" b="0" i="0">
                          <a:solidFill>
                            <a:srgbClr val="1F1F1F"/>
                          </a:solidFill>
                          <a:latin typeface="Arial"/>
                        </a:rPr>
                        <a:t>Kay</a:t>
                      </a:r>
                    </a:p>
                  </a:txBody>
                  <a:tcPr marL="54864" marR="54864" marT="27432" marB="27432">
                    <a:solidFill>
                      <a:srgbClr val="FFFFFF"/>
                    </a:solidFill>
                  </a:tcPr>
                </a:tc>
              </a:tr>
              <a:tr h="777240">
                <a:tc>
                  <a:txBody>
                    <a:bodyPr wrap="square"/>
                    <a:lstStyle/>
                    <a:p>
                      <a:r>
                        <a:rPr sz="1400" b="0" i="0">
                          <a:solidFill>
                            <a:srgbClr val="1F1F1F"/>
                          </a:solidFill>
                          <a:latin typeface="Arial"/>
                        </a:rPr>
                        <a:t>g1 ruling (NXT-D7)</a:t>
                      </a:r>
                    </a:p>
                  </a:txBody>
                  <a:tcPr marL="54864" marR="54864" marT="27432" marB="27432">
                    <a:solidFill>
                      <a:srgbClr val="F6F6F6"/>
                    </a:solidFill>
                  </a:tcPr>
                </a:tc>
                <a:tc>
                  <a:txBody>
                    <a:bodyPr wrap="square"/>
                    <a:lstStyle/>
                    <a:p>
                      <a:r>
                        <a:rPr sz="1400" b="0" i="0">
                          <a:solidFill>
                            <a:srgbClr val="1F1F1F"/>
                          </a:solidFill>
                          <a:latin typeface="Arial"/>
                        </a:rPr>
                        <a:t>Absolute costs shift by +$28.188M; rankings unchanged</a:t>
                      </a:r>
                    </a:p>
                  </a:txBody>
                  <a:tcPr marL="54864" marR="54864" marT="27432" marB="27432">
                    <a:solidFill>
                      <a:srgbClr val="F6F6F6"/>
                    </a:solidFill>
                  </a:tcPr>
                </a:tc>
                <a:tc>
                  <a:txBody>
                    <a:bodyPr wrap="square"/>
                    <a:lstStyle/>
                    <a:p>
                      <a:r>
                        <a:rPr sz="1400" b="0" i="0">
                          <a:solidFill>
                            <a:srgbClr val="1F1F1F"/>
                          </a:solidFill>
                          <a:latin typeface="Arial"/>
                        </a:rPr>
                        <a:t>PI</a:t>
                      </a:r>
                    </a:p>
                  </a:txBody>
                  <a:tcPr marL="54864" marR="54864" marT="27432" marB="27432">
                    <a:solidFill>
                      <a:srgbClr val="F6F6F6"/>
                    </a:solidFill>
                  </a:tcPr>
                </a:tc>
              </a:tr>
              <a:tr h="777240">
                <a:tc>
                  <a:txBody>
                    <a:bodyPr wrap="square"/>
                    <a:lstStyle/>
                    <a:p>
                      <a:r>
                        <a:rPr sz="1400" b="0" i="0">
                          <a:solidFill>
                            <a:srgbClr val="1F1F1F"/>
                          </a:solidFill>
                          <a:latin typeface="Arial"/>
                        </a:rPr>
                        <a:t>CRC chain submit defect</a:t>
                      </a:r>
                    </a:p>
                  </a:txBody>
                  <a:tcPr marL="54864" marR="54864" marT="27432" marB="27432">
                    <a:solidFill>
                      <a:srgbClr val="FFFFFF"/>
                    </a:solidFill>
                  </a:tcPr>
                </a:tc>
                <a:tc>
                  <a:txBody>
                    <a:bodyPr wrap="square"/>
                    <a:lstStyle/>
                    <a:p>
                      <a:r>
                        <a:rPr sz="1400" b="0" i="0">
                          <a:solidFill>
                            <a:srgbClr val="1F1F1F"/>
                          </a:solidFill>
                          <a:latin typeface="Arial"/>
                        </a:rPr>
                        <a:t>A future multi-round campaign needs the login-node fix</a:t>
                      </a:r>
                    </a:p>
                  </a:txBody>
                  <a:tcPr marL="54864" marR="54864" marT="27432" marB="27432">
                    <a:solidFill>
                      <a:srgbClr val="FFFFFF"/>
                    </a:solidFill>
                  </a:tcPr>
                </a:tc>
                <a:tc>
                  <a:txBody>
                    <a:bodyPr wrap="square"/>
                    <a:lstStyle/>
                    <a:p>
                      <a:r>
                        <a:rPr sz="1400" b="0" i="0">
                          <a:solidFill>
                            <a:srgbClr val="1F1F1F"/>
                          </a:solidFill>
                          <a:latin typeface="Arial"/>
                        </a:rPr>
                        <a:t>Kay approves</a:t>
                      </a:r>
                    </a:p>
                  </a:txBody>
                  <a:tcPr marL="54864" marR="54864" marT="27432" marB="27432">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BLOCK 4</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Decision points and TODO</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Why a second BO seed is next, the the reviewed methods plan, the ERCOT data finding, and what I need today.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Why a second BO seed is the next experiment</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TextBox 4"/>
          <p:cNvSpPr txBox="1"/>
          <p:nvPr/>
        </p:nvSpPr>
        <p:spPr>
          <a:xfrm>
            <a:off x="548640" y="1234440"/>
            <a:ext cx="11064240" cy="5120640"/>
          </a:xfrm>
          <a:prstGeom prst="rect">
            <a:avLst/>
          </a:prstGeom>
          <a:noFill/>
        </p:spPr>
        <p:txBody>
          <a:bodyPr wrap="square" anchor="t" lIns="45720" rIns="45720" tIns="27432" bIns="27432">
            <a:spAutoFit/>
          </a:bodyPr>
          <a:lstStyle/>
          <a:p>
            <a:pPr algn="l">
              <a:lnSpc>
                <a:spcPct val="105000"/>
              </a:lnSpc>
              <a:spcAft>
                <a:spcPts val="1400"/>
              </a:spcAft>
            </a:pPr>
            <a:r>
              <a:rPr sz="1800" b="1" i="0">
                <a:solidFill>
                  <a:srgbClr val="1F1F1F"/>
                </a:solidFill>
                <a:latin typeface="Arial"/>
              </a:rPr>
              <a:t>•  The random baseline places THIS one BO run. It cannot tell if 0.94 was a good or a lucky run.</a:t>
            </a:r>
          </a:p>
          <a:p>
            <a:pPr algn="l">
              <a:lnSpc>
                <a:spcPct val="105000"/>
              </a:lnSpc>
              <a:spcAft>
                <a:spcPts val="1400"/>
              </a:spcAft>
            </a:pPr>
            <a:r>
              <a:rPr sz="1800" b="0" i="0">
                <a:solidFill>
                  <a:srgbClr val="1F1F1F"/>
                </a:solidFill>
                <a:latin typeface="Arial"/>
              </a:rPr>
              <a:t>•  One acquisition seed controls the 8 Dirichlet weights per round, so a new seed sends BO to different designs from the same 32 starts.</a:t>
            </a:r>
          </a:p>
          <a:p>
            <a:pPr algn="l">
              <a:lnSpc>
                <a:spcPct val="105000"/>
              </a:lnSpc>
              <a:spcAft>
                <a:spcPts val="1400"/>
              </a:spcAft>
            </a:pPr>
            <a:r>
              <a:rPr sz="1800" b="0" i="0">
                <a:solidFill>
                  <a:srgbClr val="1F1F1F"/>
                </a:solidFill>
                <a:latin typeface="Arial"/>
              </a:rPr>
              <a:t>•  A second seed tests: does p̂ stay high? Do the knees keep the same shape? Does BO reach the same extremes?</a:t>
            </a:r>
          </a:p>
          <a:p>
            <a:pPr algn="l">
              <a:lnSpc>
                <a:spcPct val="105000"/>
              </a:lnSpc>
              <a:spcAft>
                <a:spcPts val="1400"/>
              </a:spcAft>
            </a:pPr>
            <a:r>
              <a:rPr sz="1800" b="0" i="0">
                <a:solidFill>
                  <a:srgbClr val="1F1F1F"/>
                </a:solidFill>
                <a:latin typeface="Arial"/>
              </a:rPr>
              <a:t>•  Cost: 16 runs ≈ 240 core-h, ≈ 2–3 days. The 48 random designs are reused as the reference; no new random runs.</a:t>
            </a:r>
          </a:p>
          <a:p>
            <a:pPr algn="l">
              <a:lnSpc>
                <a:spcPct val="105000"/>
              </a:lnSpc>
              <a:spcAft>
                <a:spcPts val="1400"/>
              </a:spcAft>
            </a:pPr>
            <a:r>
              <a:rPr sz="1800" b="0" i="0">
                <a:solidFill>
                  <a:srgbClr val="1F1F1F"/>
                </a:solidFill>
                <a:latin typeface="Arial"/>
              </a:rPr>
              <a:t>•  Scope note: a new ACQUISITION seed keeps the 32 starts. Pre-registered claim (ii) says "≥ 3 init seeds"; a full init-seed replicate also needs new starts (+32 runs ≈ 480 core-h). Recommend: acquisition seeds first.</a:t>
            </a:r>
          </a:p>
          <a:p>
            <a:pPr algn="l">
              <a:lnSpc>
                <a:spcPct val="105000"/>
              </a:lnSpc>
              <a:spcAft>
                <a:spcPts val="1400"/>
              </a:spcAft>
            </a:pPr>
            <a:r>
              <a:rPr sz="1800" b="0" i="0">
                <a:solidFill>
                  <a:srgbClr val="1F1F1F"/>
                </a:solidFill>
                <a:latin typeface="Arial"/>
              </a:rPr>
              <a:t>•  Optional add-on: one minimum-build heuristic design (1 run) to answer "the cost extreme is guessable".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1E8449"/>
                </a:solidFill>
                <a:latin typeface="Arial"/>
              </a:rPr>
              <a:t>The methods claim: what reviewers will require (3-agent review, 10-12)</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365760" y="1188720"/>
          <a:ext cx="11429999" cy="4480560"/>
        </p:xfrm>
        <a:graphic>
          <a:graphicData uri="http://schemas.openxmlformats.org/drawingml/2006/table">
            <a:tbl>
              <a:tblPr firstRow="1" bandRow="1">
                <a:tableStyleId>{5C22544A-7EE6-4342-B048-85BDC9FD1C3A}</a:tableStyleId>
              </a:tblPr>
              <a:tblGrid>
                <a:gridCol w="320039"/>
                <a:gridCol w="5669280"/>
                <a:gridCol w="3931920"/>
                <a:gridCol w="1508760"/>
              </a:tblGrid>
              <a:tr h="640080">
                <a:tc>
                  <a:txBody>
                    <a:bodyPr wrap="square"/>
                    <a:lstStyle/>
                    <a:p>
                      <a:r>
                        <a:rPr sz="1050" b="1" i="0">
                          <a:solidFill>
                            <a:srgbClr val="1F1F1F"/>
                          </a:solidFill>
                          <a:latin typeface="Arial"/>
                        </a:rPr>
                        <a:t>#</a:t>
                      </a:r>
                    </a:p>
                  </a:txBody>
                  <a:tcPr marL="54864" marR="54864" marT="27432" marB="27432">
                    <a:solidFill>
                      <a:srgbClr val="DCE3EE"/>
                    </a:solidFill>
                  </a:tcPr>
                </a:tc>
                <a:tc>
                  <a:txBody>
                    <a:bodyPr wrap="square"/>
                    <a:lstStyle/>
                    <a:p>
                      <a:r>
                        <a:rPr sz="1050" b="1" i="0">
                          <a:solidFill>
                            <a:srgbClr val="1F1F1F"/>
                          </a:solidFill>
                          <a:latin typeface="Arial"/>
                        </a:rPr>
                        <a:t>Requirement</a:t>
                      </a:r>
                    </a:p>
                  </a:txBody>
                  <a:tcPr marL="54864" marR="54864" marT="27432" marB="27432">
                    <a:solidFill>
                      <a:srgbClr val="DCE3EE"/>
                    </a:solidFill>
                  </a:tcPr>
                </a:tc>
                <a:tc>
                  <a:txBody>
                    <a:bodyPr wrap="square"/>
                    <a:lstStyle/>
                    <a:p>
                      <a:r>
                        <a:rPr sz="1050" b="1" i="0">
                          <a:solidFill>
                            <a:srgbClr val="1F1F1F"/>
                          </a:solidFill>
                          <a:latin typeface="Arial"/>
                        </a:rPr>
                        <a:t>Why</a:t>
                      </a:r>
                    </a:p>
                  </a:txBody>
                  <a:tcPr marL="54864" marR="54864" marT="27432" marB="27432">
                    <a:solidFill>
                      <a:srgbClr val="DCE3EE"/>
                    </a:solidFill>
                  </a:tcPr>
                </a:tc>
                <a:tc>
                  <a:txBody>
                    <a:bodyPr wrap="square"/>
                    <a:lstStyle/>
                    <a:p>
                      <a:r>
                        <a:rPr sz="1050" b="1" i="0">
                          <a:solidFill>
                            <a:srgbClr val="1F1F1F"/>
                          </a:solidFill>
                          <a:latin typeface="Arial"/>
                        </a:rPr>
                        <a:t>Cost</a:t>
                      </a:r>
                    </a:p>
                  </a:txBody>
                  <a:tcPr marL="54864" marR="54864" marT="27432" marB="27432">
                    <a:solidFill>
                      <a:srgbClr val="DCE3EE"/>
                    </a:solidFill>
                  </a:tcPr>
                </a:tc>
              </a:tr>
              <a:tr h="640080">
                <a:tc>
                  <a:txBody>
                    <a:bodyPr wrap="square"/>
                    <a:lstStyle/>
                    <a:p>
                      <a:r>
                        <a:rPr sz="1050" b="0" i="0">
                          <a:solidFill>
                            <a:srgbClr val="1F1F1F"/>
                          </a:solidFill>
                          <a:latin typeface="Arial"/>
                        </a:rPr>
                        <a:t>1</a:t>
                      </a:r>
                    </a:p>
                  </a:txBody>
                  <a:tcPr marL="54864" marR="54864" marT="27432" marB="27432">
                    <a:solidFill>
                      <a:srgbClr val="FFFFFF"/>
                    </a:solidFill>
                  </a:tcPr>
                </a:tc>
                <a:tc>
                  <a:txBody>
                    <a:bodyPr wrap="square"/>
                    <a:lstStyle/>
                    <a:p>
                      <a:r>
                        <a:rPr sz="1050" b="0" i="0">
                          <a:solidFill>
                            <a:srgbClr val="1F1F1F"/>
                          </a:solidFill>
                          <a:latin typeface="Arial"/>
                        </a:rPr>
                        <a:t>Stop-rule validation: early/late-stop rates and regret at stop on truth-known problems (replay A/B/C, synthetic functions with floor-matched noise, GP emulator of Stage 2); compare with existing BO stop rules</a:t>
                      </a:r>
                    </a:p>
                  </a:txBody>
                  <a:tcPr marL="54864" marR="54864" marT="27432" marB="27432">
                    <a:solidFill>
                      <a:srgbClr val="FFFFFF"/>
                    </a:solidFill>
                  </a:tcPr>
                </a:tc>
                <a:tc>
                  <a:txBody>
                    <a:bodyPr wrap="square"/>
                    <a:lstStyle/>
                    <a:p>
                      <a:r>
                        <a:rPr sz="1050" b="0" i="0">
                          <a:solidFill>
                            <a:srgbClr val="1F1F1F"/>
                          </a:solidFill>
                          <a:latin typeface="Arial"/>
                        </a:rPr>
                        <a:t>The stop rule is the most novel part of the workflow; today it has no operating characteristic</a:t>
                      </a:r>
                    </a:p>
                  </a:txBody>
                  <a:tcPr marL="54864" marR="54864" marT="27432" marB="27432">
                    <a:solidFill>
                      <a:srgbClr val="FFFFFF"/>
                    </a:solidFill>
                  </a:tcPr>
                </a:tc>
                <a:tc>
                  <a:txBody>
                    <a:bodyPr wrap="square"/>
                    <a:lstStyle/>
                    <a:p>
                      <a:r>
                        <a:rPr sz="1050" b="0" i="0">
                          <a:solidFill>
                            <a:srgbClr val="1F1F1F"/>
                          </a:solidFill>
                          <a:latin typeface="Arial"/>
                        </a:rPr>
                        <a:t>0 PCM runs</a:t>
                      </a:r>
                    </a:p>
                  </a:txBody>
                  <a:tcPr marL="54864" marR="54864" marT="27432" marB="27432">
                    <a:solidFill>
                      <a:srgbClr val="FFFFFF"/>
                    </a:solidFill>
                  </a:tcPr>
                </a:tc>
              </a:tr>
              <a:tr h="640080">
                <a:tc>
                  <a:txBody>
                    <a:bodyPr wrap="square"/>
                    <a:lstStyle/>
                    <a:p>
                      <a:r>
                        <a:rPr sz="1050" b="0" i="0">
                          <a:solidFill>
                            <a:srgbClr val="1F1F1F"/>
                          </a:solidFill>
                          <a:latin typeface="Arial"/>
                        </a:rPr>
                        <a:t>2</a:t>
                      </a:r>
                    </a:p>
                  </a:txBody>
                  <a:tcPr marL="54864" marR="54864" marT="27432" marB="27432">
                    <a:solidFill>
                      <a:srgbClr val="F6F6F6"/>
                    </a:solidFill>
                  </a:tcPr>
                </a:tc>
                <a:tc>
                  <a:txBody>
                    <a:bodyPr wrap="square"/>
                    <a:lstStyle/>
                    <a:p>
                      <a:r>
                        <a:rPr sz="1050" b="0" i="0">
                          <a:solidFill>
                            <a:srgbClr val="1F1F1F"/>
                          </a:solidFill>
                          <a:latin typeface="Arial"/>
                        </a:rPr>
                        <a:t>Fixed-budget comparison: every arm to 32 + 4×8; apply the stop rule post hoc to the same trajectories</a:t>
                      </a:r>
                    </a:p>
                  </a:txBody>
                  <a:tcPr marL="54864" marR="54864" marT="27432" marB="27432">
                    <a:solidFill>
                      <a:srgbClr val="F6F6F6"/>
                    </a:solidFill>
                  </a:tcPr>
                </a:tc>
                <a:tc>
                  <a:txBody>
                    <a:bodyPr wrap="square"/>
                    <a:lstStyle/>
                    <a:p>
                      <a:r>
                        <a:rPr sz="1050" b="0" i="0">
                          <a:solidFill>
                            <a:srgbClr val="1F1F1F"/>
                          </a:solidFill>
                          <a:latin typeface="Arial"/>
                        </a:rPr>
                        <a:t>BO stops on its own rule, baselines have none — budgets differ</a:t>
                      </a:r>
                    </a:p>
                  </a:txBody>
                  <a:tcPr marL="54864" marR="54864" marT="27432" marB="27432">
                    <a:solidFill>
                      <a:srgbClr val="F6F6F6"/>
                    </a:solidFill>
                  </a:tcPr>
                </a:tc>
                <a:tc>
                  <a:txBody>
                    <a:bodyPr wrap="square"/>
                    <a:lstStyle/>
                    <a:p>
                      <a:r>
                        <a:rPr sz="1050" b="0" i="0">
                          <a:solidFill>
                            <a:srgbClr val="1F1F1F"/>
                          </a:solidFill>
                          <a:latin typeface="Arial"/>
                        </a:rPr>
                        <a:t>seed 1: +16 runs</a:t>
                      </a:r>
                    </a:p>
                  </a:txBody>
                  <a:tcPr marL="54864" marR="54864" marT="27432" marB="27432">
                    <a:solidFill>
                      <a:srgbClr val="F6F6F6"/>
                    </a:solidFill>
                  </a:tcPr>
                </a:tc>
              </a:tr>
              <a:tr h="640080">
                <a:tc>
                  <a:txBody>
                    <a:bodyPr wrap="square"/>
                    <a:lstStyle/>
                    <a:p>
                      <a:r>
                        <a:rPr sz="1050" b="0" i="0">
                          <a:solidFill>
                            <a:srgbClr val="1F1F1F"/>
                          </a:solidFill>
                          <a:latin typeface="Arial"/>
                        </a:rPr>
                        <a:t>3</a:t>
                      </a:r>
                    </a:p>
                  </a:txBody>
                  <a:tcPr marL="54864" marR="54864" marT="27432" marB="27432">
                    <a:solidFill>
                      <a:srgbClr val="FFFFFF"/>
                    </a:solidFill>
                  </a:tcPr>
                </a:tc>
                <a:tc>
                  <a:txBody>
                    <a:bodyPr wrap="square"/>
                    <a:lstStyle/>
                    <a:p>
                      <a:r>
                        <a:rPr sz="1050" b="0" i="0">
                          <a:solidFill>
                            <a:srgbClr val="1F1F1F"/>
                          </a:solidFill>
                          <a:latin typeface="Arial"/>
                        </a:rPr>
                        <a:t>q-ParEGO ≥ 3 replicates, ≥ 2 with NEW starts; qNEHVI ≥ 3 seeds paired by start set</a:t>
                      </a:r>
                    </a:p>
                  </a:txBody>
                  <a:tcPr marL="54864" marR="54864" marT="27432" marB="27432">
                    <a:solidFill>
                      <a:srgbClr val="FFFFFF"/>
                    </a:solidFill>
                  </a:tcPr>
                </a:tc>
                <a:tc>
                  <a:txBody>
                    <a:bodyPr wrap="square"/>
                    <a:lstStyle/>
                    <a:p>
                      <a:r>
                        <a:rPr sz="1050" b="0" i="0">
                          <a:solidFill>
                            <a:srgbClr val="1F1F1F"/>
                          </a:solidFill>
                          <a:latin typeface="Arial"/>
                        </a:rPr>
                        <a:t>Acquisition-only seeds share 2/3 of the data and understate variance; qNEHVI is the comparator reviewers expect</a:t>
                      </a:r>
                    </a:p>
                  </a:txBody>
                  <a:tcPr marL="54864" marR="54864" marT="27432" marB="27432">
                    <a:solidFill>
                      <a:srgbClr val="FFFFFF"/>
                    </a:solidFill>
                  </a:tcPr>
                </a:tc>
                <a:tc>
                  <a:txBody>
                    <a:bodyPr wrap="square"/>
                    <a:lstStyle/>
                    <a:p>
                      <a:r>
                        <a:rPr sz="1050" b="0" i="0">
                          <a:solidFill>
                            <a:srgbClr val="1F1F1F"/>
                          </a:solidFill>
                          <a:latin typeface="Arial"/>
                        </a:rPr>
                        <a:t>≈ 3–4k core-h at C</a:t>
                      </a:r>
                    </a:p>
                  </a:txBody>
                  <a:tcPr marL="54864" marR="54864" marT="27432" marB="27432">
                    <a:solidFill>
                      <a:srgbClr val="FFFFFF"/>
                    </a:solidFill>
                  </a:tcPr>
                </a:tc>
              </a:tr>
              <a:tr h="640080">
                <a:tc>
                  <a:txBody>
                    <a:bodyPr wrap="square"/>
                    <a:lstStyle/>
                    <a:p>
                      <a:r>
                        <a:rPr sz="1050" b="0" i="0">
                          <a:solidFill>
                            <a:srgbClr val="1F1F1F"/>
                          </a:solidFill>
                          <a:latin typeface="Arial"/>
                        </a:rPr>
                        <a:t>4</a:t>
                      </a:r>
                    </a:p>
                  </a:txBody>
                  <a:tcPr marL="54864" marR="54864" marT="27432" marB="27432">
                    <a:solidFill>
                      <a:srgbClr val="F6F6F6"/>
                    </a:solidFill>
                  </a:tcPr>
                </a:tc>
                <a:tc>
                  <a:txBody>
                    <a:bodyPr wrap="square"/>
                    <a:lstStyle/>
                    <a:p>
                      <a:r>
                        <a:rPr sz="1050" b="0" i="0">
                          <a:solidFill>
                            <a:srgbClr val="1F1F1F"/>
                          </a:solidFill>
                          <a:latin typeface="Arial"/>
                        </a:rPr>
                        <a:t>Scenarios A and B as extra problem instances (cheapest: q-ParEGO + random)</a:t>
                      </a:r>
                    </a:p>
                  </a:txBody>
                  <a:tcPr marL="54864" marR="54864" marT="27432" marB="27432">
                    <a:solidFill>
                      <a:srgbClr val="F6F6F6"/>
                    </a:solidFill>
                  </a:tcPr>
                </a:tc>
                <a:tc>
                  <a:txBody>
                    <a:bodyPr wrap="square"/>
                    <a:lstStyle/>
                    <a:p>
                      <a:r>
                        <a:rPr sz="1050" b="0" i="0">
                          <a:solidFill>
                            <a:srgbClr val="1F1F1F"/>
                          </a:solidFill>
                          <a:latin typeface="Arial"/>
                        </a:rPr>
                        <a:t>One instance = a case study, not a methods result</a:t>
                      </a:r>
                    </a:p>
                  </a:txBody>
                  <a:tcPr marL="54864" marR="54864" marT="27432" marB="27432">
                    <a:solidFill>
                      <a:srgbClr val="F6F6F6"/>
                    </a:solidFill>
                  </a:tcPr>
                </a:tc>
                <a:tc>
                  <a:txBody>
                    <a:bodyPr wrap="square"/>
                    <a:lstStyle/>
                    <a:p>
                      <a:r>
                        <a:rPr sz="1050" b="0" i="0">
                          <a:solidFill>
                            <a:srgbClr val="1F1F1F"/>
                          </a:solidFill>
                          <a:latin typeface="Arial"/>
                        </a:rPr>
                        <a:t>≈ 1–5k core-h each</a:t>
                      </a:r>
                    </a:p>
                  </a:txBody>
                  <a:tcPr marL="54864" marR="54864" marT="27432" marB="27432">
                    <a:solidFill>
                      <a:srgbClr val="F6F6F6"/>
                    </a:solidFill>
                  </a:tcPr>
                </a:tc>
              </a:tr>
              <a:tr h="640080">
                <a:tc>
                  <a:txBody>
                    <a:bodyPr wrap="square"/>
                    <a:lstStyle/>
                    <a:p>
                      <a:r>
                        <a:rPr sz="1050" b="0" i="0">
                          <a:solidFill>
                            <a:srgbClr val="1F1F1F"/>
                          </a:solidFill>
                          <a:latin typeface="Arial"/>
                        </a:rPr>
                        <a:t>5</a:t>
                      </a:r>
                    </a:p>
                  </a:txBody>
                  <a:tcPr marL="54864" marR="54864" marT="27432" marB="27432">
                    <a:solidFill>
                      <a:srgbClr val="FFFFFF"/>
                    </a:solidFill>
                  </a:tcPr>
                </a:tc>
                <a:tc>
                  <a:txBody>
                    <a:bodyPr wrap="square"/>
                    <a:lstStyle/>
                    <a:p>
                      <a:r>
                        <a:rPr sz="1050" b="0" i="0">
                          <a:solidFill>
                            <a:srgbClr val="1F1F1F"/>
                          </a:solidFill>
                          <a:latin typeface="Arial"/>
                        </a:rPr>
                        <a:t>D3 noise floors + a floor-robust metric, pre-registered before new runs</a:t>
                      </a:r>
                    </a:p>
                  </a:txBody>
                  <a:tcPr marL="54864" marR="54864" marT="27432" marB="27432">
                    <a:solidFill>
                      <a:srgbClr val="FFFFFF"/>
                    </a:solidFill>
                  </a:tcPr>
                </a:tc>
                <a:tc>
                  <a:txBody>
                    <a:bodyPr wrap="square"/>
                    <a:lstStyle/>
                    <a:p>
                      <a:r>
                        <a:rPr sz="1050" b="0" i="0">
                          <a:solidFill>
                            <a:srgbClr val="1F1F1F"/>
                          </a:solidFill>
                          <a:latin typeface="Arial"/>
                        </a:rPr>
                        <a:t>Today's differences sit below the floor</a:t>
                      </a:r>
                    </a:p>
                  </a:txBody>
                  <a:tcPr marL="54864" marR="54864" marT="27432" marB="27432">
                    <a:solidFill>
                      <a:srgbClr val="FFFFFF"/>
                    </a:solidFill>
                  </a:tcPr>
                </a:tc>
                <a:tc>
                  <a:txBody>
                    <a:bodyPr wrap="square"/>
                    <a:lstStyle/>
                    <a:p>
                      <a:r>
                        <a:rPr sz="1050" b="0" i="0">
                          <a:solidFill>
                            <a:srgbClr val="1F1F1F"/>
                          </a:solidFill>
                          <a:latin typeface="Arial"/>
                        </a:rPr>
                        <a:t>spec first</a:t>
                      </a:r>
                    </a:p>
                  </a:txBody>
                  <a:tcPr marL="54864" marR="54864" marT="27432" marB="27432">
                    <a:solidFill>
                      <a:srgbClr val="FFFFFF"/>
                    </a:solidFill>
                  </a:tcPr>
                </a:tc>
              </a:tr>
              <a:tr h="640080">
                <a:tc>
                  <a:txBody>
                    <a:bodyPr wrap="square"/>
                    <a:lstStyle/>
                    <a:p>
                      <a:r>
                        <a:rPr sz="1050" b="0" i="0">
                          <a:solidFill>
                            <a:srgbClr val="1F1F1F"/>
                          </a:solidFill>
                          <a:latin typeface="Arial"/>
                        </a:rPr>
                        <a:t>6</a:t>
                      </a:r>
                    </a:p>
                  </a:txBody>
                  <a:tcPr marL="54864" marR="54864" marT="27432" marB="27432">
                    <a:solidFill>
                      <a:srgbClr val="F6F6F6"/>
                    </a:solidFill>
                  </a:tcPr>
                </a:tc>
                <a:tc>
                  <a:txBody>
                    <a:bodyPr wrap="square"/>
                    <a:lstStyle/>
                    <a:p>
                      <a:r>
                        <a:rPr sz="1050" b="0" i="0">
                          <a:solidFill>
                            <a:srgbClr val="1F1F1F"/>
                          </a:solidFill>
                          <a:latin typeface="Arial"/>
                        </a:rPr>
                        <a:t>Emulator benchmark (≥ 20 seeds per method); calibration audit with a decision role</a:t>
                      </a:r>
                    </a:p>
                  </a:txBody>
                  <a:tcPr marL="54864" marR="54864" marT="27432" marB="27432">
                    <a:solidFill>
                      <a:srgbClr val="F6F6F6"/>
                    </a:solidFill>
                  </a:tcPr>
                </a:tc>
                <a:tc>
                  <a:txBody>
                    <a:bodyPr wrap="square"/>
                    <a:lstStyle/>
                    <a:p>
                      <a:r>
                        <a:rPr sz="1050" b="0" i="0">
                          <a:solidFill>
                            <a:srgbClr val="1F1F1F"/>
                          </a:solidFill>
                          <a:latin typeface="Arial"/>
                        </a:rPr>
                        <a:t>Cheap method-level statistics; the audit failed 2 of 3 objectives with no consequence</a:t>
                      </a:r>
                    </a:p>
                  </a:txBody>
                  <a:tcPr marL="54864" marR="54864" marT="27432" marB="27432">
                    <a:solidFill>
                      <a:srgbClr val="F6F6F6"/>
                    </a:solidFill>
                  </a:tcPr>
                </a:tc>
                <a:tc>
                  <a:txBody>
                    <a:bodyPr wrap="square"/>
                    <a:lstStyle/>
                    <a:p>
                      <a:r>
                        <a:rPr sz="1050" b="0" i="0">
                          <a:solidFill>
                            <a:srgbClr val="1F1F1F"/>
                          </a:solidFill>
                          <a:latin typeface="Arial"/>
                        </a:rPr>
                        <a:t>0 PCM runs</a:t>
                      </a:r>
                    </a:p>
                  </a:txBody>
                  <a:tcPr marL="54864" marR="54864" marT="27432" marB="27432">
                    <a:solidFill>
                      <a:srgbClr val="F6F6F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Execution order and calendar to AIChE (Nov 8)</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365760" y="1188720"/>
          <a:ext cx="11429999" cy="4389120"/>
        </p:xfrm>
        <a:graphic>
          <a:graphicData uri="http://schemas.openxmlformats.org/drawingml/2006/table">
            <a:tbl>
              <a:tblPr firstRow="1" bandRow="1">
                <a:tableStyleId>{5C22544A-7EE6-4342-B048-85BDC9FD1C3A}</a:tableStyleId>
              </a:tblPr>
              <a:tblGrid>
                <a:gridCol w="1645920"/>
                <a:gridCol w="9784079"/>
              </a:tblGrid>
              <a:tr h="731520">
                <a:tc>
                  <a:txBody>
                    <a:bodyPr wrap="square"/>
                    <a:lstStyle/>
                    <a:p>
                      <a:r>
                        <a:rPr sz="1300" b="1" i="0">
                          <a:solidFill>
                            <a:srgbClr val="1F1F1F"/>
                          </a:solidFill>
                          <a:latin typeface="Arial"/>
                        </a:rPr>
                        <a:t>Week</a:t>
                      </a:r>
                    </a:p>
                  </a:txBody>
                  <a:tcPr marL="54864" marR="54864" marT="27432" marB="27432">
                    <a:solidFill>
                      <a:srgbClr val="DCE3EE"/>
                    </a:solidFill>
                  </a:tcPr>
                </a:tc>
                <a:tc>
                  <a:txBody>
                    <a:bodyPr wrap="square"/>
                    <a:lstStyle/>
                    <a:p>
                      <a:r>
                        <a:rPr sz="1300" b="1" i="0">
                          <a:solidFill>
                            <a:srgbClr val="1F1F1F"/>
                          </a:solidFill>
                          <a:latin typeface="Arial"/>
                        </a:rPr>
                        <a:t>Work</a:t>
                      </a:r>
                    </a:p>
                  </a:txBody>
                  <a:tcPr marL="54864" marR="54864" marT="27432" marB="27432">
                    <a:solidFill>
                      <a:srgbClr val="DCE3EE"/>
                    </a:solidFill>
                  </a:tcPr>
                </a:tc>
              </a:tr>
              <a:tr h="731520">
                <a:tc>
                  <a:txBody>
                    <a:bodyPr wrap="square"/>
                    <a:lstStyle/>
                    <a:p>
                      <a:r>
                        <a:rPr sz="1300" b="0" i="0">
                          <a:solidFill>
                            <a:srgbClr val="1F1F1F"/>
                          </a:solidFill>
                          <a:latin typeface="Arial"/>
                        </a:rPr>
                        <a:t>W1 10-12 → 10-18</a:t>
                      </a:r>
                    </a:p>
                  </a:txBody>
                  <a:tcPr marL="54864" marR="54864" marT="27432" marB="27432">
                    <a:solidFill>
                      <a:srgbClr val="FFFFFF"/>
                    </a:solidFill>
                  </a:tcPr>
                </a:tc>
                <a:tc>
                  <a:txBody>
                    <a:bodyPr wrap="square"/>
                    <a:lstStyle/>
                    <a:p>
                      <a:r>
                        <a:rPr sz="1300" b="0" i="0">
                          <a:solidFill>
                            <a:srgbClr val="1F1F1F"/>
                          </a:solidFill>
                          <a:latin typeface="Arial"/>
                        </a:rPr>
                        <a:t>ERCOT data fix (prompt 36 T0–T1) + base/replicate re-run; curtailment-netting check; qacct for the real per-run rate; qquota; ONE combined pre-registration (prompt 35); PI decisions incl. BoTorch install. Launch C replicates.</a:t>
                      </a:r>
                    </a:p>
                  </a:txBody>
                  <a:tcPr marL="54864" marR="54864" marT="27432" marB="27432">
                    <a:solidFill>
                      <a:srgbClr val="FFFFFF"/>
                    </a:solidFill>
                  </a:tcPr>
                </a:tc>
              </a:tr>
              <a:tr h="731520">
                <a:tc>
                  <a:txBody>
                    <a:bodyPr wrap="square"/>
                    <a:lstStyle/>
                    <a:p>
                      <a:r>
                        <a:rPr sz="1300" b="0" i="0">
                          <a:solidFill>
                            <a:srgbClr val="1F1F1F"/>
                          </a:solidFill>
                          <a:latin typeface="Arial"/>
                        </a:rPr>
                        <a:t>W2 10-19 → 10-25</a:t>
                      </a:r>
                    </a:p>
                  </a:txBody>
                  <a:tcPr marL="54864" marR="54864" marT="27432" marB="27432">
                    <a:solidFill>
                      <a:srgbClr val="F6F6F6"/>
                    </a:solidFill>
                  </a:tcPr>
                </a:tc>
                <a:tc>
                  <a:txBody>
                    <a:bodyPr wrap="square"/>
                    <a:lstStyle/>
                    <a:p>
                      <a:r>
                        <a:rPr sz="1300" b="0" i="0">
                          <a:solidFill>
                            <a:srgbClr val="1F1F1F"/>
                          </a:solidFill>
                          <a:latin typeface="Arial"/>
                        </a:rPr>
                        <a:t>ERCOT screening_v2 on CRC; qNEHVI code + replay validation; stop-rule validation (0 PCM runs); D3 spec; AIChE workbook (prompt 31).</a:t>
                      </a:r>
                    </a:p>
                  </a:txBody>
                  <a:tcPr marL="54864" marR="54864" marT="27432" marB="27432">
                    <a:solidFill>
                      <a:srgbClr val="F6F6F6"/>
                    </a:solidFill>
                  </a:tcPr>
                </a:tc>
              </a:tr>
              <a:tr h="731520">
                <a:tc>
                  <a:txBody>
                    <a:bodyPr wrap="square"/>
                    <a:lstStyle/>
                    <a:p>
                      <a:r>
                        <a:rPr sz="1300" b="0" i="0">
                          <a:solidFill>
                            <a:srgbClr val="1F1F1F"/>
                          </a:solidFill>
                          <a:latin typeface="Arial"/>
                        </a:rPr>
                        <a:t>W3 10-26 → 11-01</a:t>
                      </a:r>
                    </a:p>
                  </a:txBody>
                  <a:tcPr marL="54864" marR="54864" marT="27432" marB="27432">
                    <a:solidFill>
                      <a:srgbClr val="FFFFFF"/>
                    </a:solidFill>
                  </a:tcPr>
                </a:tc>
                <a:tc>
                  <a:txBody>
                    <a:bodyPr wrap="square"/>
                    <a:lstStyle/>
                    <a:p>
                      <a:r>
                        <a:rPr sz="1300" b="0" i="0">
                          <a:solidFill>
                            <a:srgbClr val="1F1F1F"/>
                          </a:solidFill>
                          <a:latin typeface="Arial"/>
                        </a:rPr>
                        <a:t>Analyse C replicates; ERCOT v2 figures. Freeze AIChE figures 11-01.</a:t>
                      </a:r>
                    </a:p>
                  </a:txBody>
                  <a:tcPr marL="54864" marR="54864" marT="27432" marB="27432">
                    <a:solidFill>
                      <a:srgbClr val="FFFFFF"/>
                    </a:solidFill>
                  </a:tcPr>
                </a:tc>
              </a:tr>
              <a:tr h="731520">
                <a:tc>
                  <a:txBody>
                    <a:bodyPr wrap="square"/>
                    <a:lstStyle/>
                    <a:p>
                      <a:r>
                        <a:rPr sz="1300" b="0" i="0">
                          <a:solidFill>
                            <a:srgbClr val="1F1F1F"/>
                          </a:solidFill>
                          <a:latin typeface="Arial"/>
                        </a:rPr>
                        <a:t>W4 11-02 → 11-08</a:t>
                      </a:r>
                    </a:p>
                  </a:txBody>
                  <a:tcPr marL="54864" marR="54864" marT="27432" marB="27432">
                    <a:solidFill>
                      <a:srgbClr val="F6F6F6"/>
                    </a:solidFill>
                  </a:tcPr>
                </a:tc>
                <a:tc>
                  <a:txBody>
                    <a:bodyPr wrap="square"/>
                    <a:lstStyle/>
                    <a:p>
                      <a:r>
                        <a:rPr sz="1300" b="0" i="0">
                          <a:solidFill>
                            <a:srgbClr val="1F1F1F"/>
                          </a:solidFill>
                          <a:latin typeface="Arial"/>
                        </a:rPr>
                        <a:t>Talk only.</a:t>
                      </a:r>
                    </a:p>
                  </a:txBody>
                  <a:tcPr marL="54864" marR="54864" marT="27432" marB="27432">
                    <a:solidFill>
                      <a:srgbClr val="F6F6F6"/>
                    </a:solidFill>
                  </a:tcPr>
                </a:tc>
              </a:tr>
              <a:tr h="731520">
                <a:tc>
                  <a:txBody>
                    <a:bodyPr wrap="square"/>
                    <a:lstStyle/>
                    <a:p>
                      <a:r>
                        <a:rPr sz="1300" b="0" i="0">
                          <a:solidFill>
                            <a:srgbClr val="1F1F1F"/>
                          </a:solidFill>
                          <a:latin typeface="Arial"/>
                        </a:rPr>
                        <a:t>After AIChE</a:t>
                      </a:r>
                    </a:p>
                  </a:txBody>
                  <a:tcPr marL="54864" marR="54864" marT="27432" marB="27432">
                    <a:solidFill>
                      <a:srgbClr val="FFFFFF"/>
                    </a:solidFill>
                  </a:tcPr>
                </a:tc>
                <a:tc>
                  <a:txBody>
                    <a:bodyPr wrap="square"/>
                    <a:lstStyle/>
                    <a:p>
                      <a:r>
                        <a:rPr sz="1300" b="0" i="0">
                          <a:solidFill>
                            <a:srgbClr val="1F1F1F"/>
                          </a:solidFill>
                          <a:latin typeface="Arial"/>
                        </a:rPr>
                        <a:t>qNEHVI arms; scenarios A/B; emulator benchmark; D3 study; ERCOT BO on v2 data (paper placement decided after v2).</a:t>
                      </a:r>
                    </a:p>
                  </a:txBody>
                  <a:tcPr marL="54864" marR="54864" marT="27432" marB="27432">
                    <a:solidFill>
                      <a:srgbClr val="FFFFFF"/>
                    </a:solidFill>
                  </a:tcPr>
                </a:tc>
              </a:tr>
            </a:tbl>
          </a:graphicData>
        </a:graphic>
      </p:graphicFrame>
      <p:sp>
        <p:nvSpPr>
          <p:cNvPr id="6" name="TextBox 5"/>
          <p:cNvSpPr txBox="1"/>
          <p:nvPr/>
        </p:nvSpPr>
        <p:spPr>
          <a:xfrm>
            <a:off x="457200" y="5486400"/>
            <a:ext cx="11247120" cy="640080"/>
          </a:xfrm>
          <a:prstGeom prst="rect">
            <a:avLst/>
          </a:prstGeom>
          <a:noFill/>
        </p:spPr>
        <p:txBody>
          <a:bodyPr wrap="square" anchor="t" lIns="45720" rIns="45720" tIns="27432" bIns="27432">
            <a:spAutoFit/>
          </a:bodyPr>
          <a:lstStyle/>
          <a:p>
            <a:pPr algn="l">
              <a:lnSpc>
                <a:spcPct val="105000"/>
              </a:lnSpc>
              <a:spcAft>
                <a:spcPts val="600"/>
              </a:spcAft>
            </a:pPr>
            <a:r>
              <a:rPr sz="1300" b="0" i="0">
                <a:solidFill>
                  <a:srgbClr val="1F1F1F"/>
                </a:solidFill>
                <a:latin typeface="Arial"/>
              </a:rPr>
              <a:t>•  CRC submission stays manual. One submit_ready.sh submits every ready round across all campaigns; Kay runs it once or twice a day.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Open questions: likely answers and cheap checks (domain review)</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graphicFrame>
        <p:nvGraphicFramePr>
          <p:cNvPr id="5" name="Table 4"/>
          <p:cNvGraphicFramePr>
            <a:graphicFrameLocks noGrp="1"/>
          </p:cNvGraphicFramePr>
          <p:nvPr/>
        </p:nvGraphicFramePr>
        <p:xfrm>
          <a:off x="365760" y="1188720"/>
          <a:ext cx="11430000" cy="4023360"/>
        </p:xfrm>
        <a:graphic>
          <a:graphicData uri="http://schemas.openxmlformats.org/drawingml/2006/table">
            <a:tbl>
              <a:tblPr firstRow="1" bandRow="1">
                <a:tableStyleId>{5C22544A-7EE6-4342-B048-85BDC9FD1C3A}</a:tableStyleId>
              </a:tblPr>
              <a:tblGrid>
                <a:gridCol w="2926080"/>
                <a:gridCol w="4572000"/>
                <a:gridCol w="3931920"/>
              </a:tblGrid>
              <a:tr h="1005840">
                <a:tc>
                  <a:txBody>
                    <a:bodyPr wrap="square"/>
                    <a:lstStyle/>
                    <a:p>
                      <a:r>
                        <a:rPr sz="1200" b="1" i="0">
                          <a:solidFill>
                            <a:srgbClr val="1F1F1F"/>
                          </a:solidFill>
                          <a:latin typeface="Arial"/>
                        </a:rPr>
                        <a:t>Question</a:t>
                      </a:r>
                    </a:p>
                  </a:txBody>
                  <a:tcPr marL="54864" marR="54864" marT="27432" marB="27432">
                    <a:solidFill>
                      <a:srgbClr val="DCE3EE"/>
                    </a:solidFill>
                  </a:tcPr>
                </a:tc>
                <a:tc>
                  <a:txBody>
                    <a:bodyPr wrap="square"/>
                    <a:lstStyle/>
                    <a:p>
                      <a:r>
                        <a:rPr sz="1200" b="1" i="0">
                          <a:solidFill>
                            <a:srgbClr val="1F1F1F"/>
                          </a:solidFill>
                          <a:latin typeface="Arial"/>
                        </a:rPr>
                        <a:t>Most likely answer</a:t>
                      </a:r>
                    </a:p>
                  </a:txBody>
                  <a:tcPr marL="54864" marR="54864" marT="27432" marB="27432">
                    <a:solidFill>
                      <a:srgbClr val="DCE3EE"/>
                    </a:solidFill>
                  </a:tcPr>
                </a:tc>
                <a:tc>
                  <a:txBody>
                    <a:bodyPr wrap="square"/>
                    <a:lstStyle/>
                    <a:p>
                      <a:r>
                        <a:rPr sz="1200" b="1" i="0">
                          <a:solidFill>
                            <a:srgbClr val="1F1F1F"/>
                          </a:solidFill>
                          <a:latin typeface="Arial"/>
                        </a:rPr>
                        <a:t>Cheap check</a:t>
                      </a:r>
                    </a:p>
                  </a:txBody>
                  <a:tcPr marL="54864" marR="54864" marT="27432" marB="27432">
                    <a:solidFill>
                      <a:srgbClr val="DCE3EE"/>
                    </a:solidFill>
                  </a:tcPr>
                </a:tc>
              </a:tr>
              <a:tr h="1005840">
                <a:tc>
                  <a:txBody>
                    <a:bodyPr wrap="square"/>
                    <a:lstStyle/>
                    <a:p>
                      <a:r>
                        <a:rPr sz="1200" b="0" i="0">
                          <a:solidFill>
                            <a:srgbClr val="1F1F1F"/>
                          </a:solidFill>
                          <a:latin typeface="Arial"/>
                        </a:rPr>
                        <a:t>Does true_curtailment double-count PEM energy?</a:t>
                      </a:r>
                    </a:p>
                  </a:txBody>
                  <a:tcPr marL="54864" marR="54864" marT="27432" marB="27432">
                    <a:solidFill>
                      <a:srgbClr val="FFFFFF"/>
                    </a:solidFill>
                  </a:tcPr>
                </a:tc>
                <a:tc>
                  <a:txBody>
                    <a:bodyPr wrap="square"/>
                    <a:lstStyle/>
                    <a:p>
                      <a:r>
                        <a:rPr sz="1200" b="0" i="0">
                          <a:solidFill>
                            <a:srgbClr val="1F1F1F"/>
                          </a:solidFill>
                          <a:latin typeface="Arial"/>
                        </a:rPr>
                        <a:t>No — summarize_wave excludes *_PEM rows. But the withheld slice counts as H2 with no electrolyzer minimum load or efficiency</a:t>
                      </a:r>
                    </a:p>
                  </a:txBody>
                  <a:tcPr marL="54864" marR="54864" marT="27432" marB="27432">
                    <a:solidFill>
                      <a:srgbClr val="FFFFFF"/>
                    </a:solidFill>
                  </a:tcPr>
                </a:tc>
                <a:tc>
                  <a:txBody>
                    <a:bodyPr wrap="square"/>
                    <a:lstStyle/>
                    <a:p>
                      <a:r>
                        <a:rPr sz="1200" b="0" i="0">
                          <a:solidFill>
                            <a:srgbClr val="1F1F1F"/>
                          </a:solidFill>
                          <a:latin typeface="Arial"/>
                        </a:rPr>
                        <a:t>Per site-hour closure: available = dispatched + parent curtailment + withheld</a:t>
                      </a:r>
                    </a:p>
                  </a:txBody>
                  <a:tcPr marL="54864" marR="54864" marT="27432" marB="27432">
                    <a:solidFill>
                      <a:srgbClr val="FFFFFF"/>
                    </a:solidFill>
                  </a:tcPr>
                </a:tc>
              </a:tr>
              <a:tr h="1005840">
                <a:tc>
                  <a:txBody>
                    <a:bodyPr wrap="square"/>
                    <a:lstStyle/>
                    <a:p>
                      <a:r>
                        <a:rPr sz="1200" b="0" i="0">
                          <a:solidFill>
                            <a:srgbClr val="1F1F1F"/>
                          </a:solidFill>
                          <a:latin typeface="Arial"/>
                        </a:rPr>
                        <a:t>Why does shed fall as PEM MW rises?</a:t>
                      </a:r>
                    </a:p>
                  </a:txBody>
                  <a:tcPr marL="54864" marR="54864" marT="27432" marB="27432">
                    <a:solidFill>
                      <a:srgbClr val="F6F6F6"/>
                    </a:solidFill>
                  </a:tcPr>
                </a:tc>
                <a:tc>
                  <a:txBody>
                    <a:bodyPr wrap="square"/>
                    <a:lstStyle/>
                    <a:p>
                      <a:r>
                        <a:rPr sz="1200" b="0" i="0">
                          <a:solidFill>
                            <a:srgbClr val="1F1F1F"/>
                          </a:solidFill>
                          <a:latin typeface="Arial"/>
                        </a:rPr>
                        <a:t>PEM adds no load. Wind priced at the bid makes thermal look cheaper in the RUC → more thermal committed → more headroom</a:t>
                      </a:r>
                    </a:p>
                  </a:txBody>
                  <a:tcPr marL="54864" marR="54864" marT="27432" marB="27432">
                    <a:solidFill>
                      <a:srgbClr val="F6F6F6"/>
                    </a:solidFill>
                  </a:tcPr>
                </a:tc>
                <a:tc>
                  <a:txBody>
                    <a:bodyPr wrap="square"/>
                    <a:lstStyle/>
                    <a:p>
                      <a:r>
                        <a:rPr sz="1200" b="0" i="0">
                          <a:solidFill>
                            <a:srgbClr val="1F1F1F"/>
                          </a:solidFill>
                          <a:latin typeface="Arial"/>
                        </a:rPr>
                        <a:t>Committed MW / headroom on shed hours, low- vs high-MW design; reserve shortfall must not rise (monitor it next to shed)</a:t>
                      </a:r>
                    </a:p>
                  </a:txBody>
                  <a:tcPr marL="54864" marR="54864" marT="27432" marB="27432">
                    <a:solidFill>
                      <a:srgbClr val="F6F6F6"/>
                    </a:solidFill>
                  </a:tcPr>
                </a:tc>
              </a:tr>
              <a:tr h="1005840">
                <a:tc>
                  <a:txBody>
                    <a:bodyPr wrap="square"/>
                    <a:lstStyle/>
                    <a:p>
                      <a:r>
                        <a:rPr sz="1200" b="0" i="0">
                          <a:solidFill>
                            <a:srgbClr val="1F1F1F"/>
                          </a:solidFill>
                          <a:latin typeface="Arial"/>
                        </a:rPr>
                        <a:t>Why do 7 designs share shed = 22.426 MWh?</a:t>
                      </a:r>
                    </a:p>
                  </a:txBody>
                  <a:tcPr marL="54864" marR="54864" marT="27432" marB="27432">
                    <a:solidFill>
                      <a:srgbClr val="FFFFFF"/>
                    </a:solidFill>
                  </a:tcPr>
                </a:tc>
                <a:tc>
                  <a:txBody>
                    <a:bodyPr wrap="square"/>
                    <a:lstStyle/>
                    <a:p>
                      <a:r>
                        <a:rPr sz="1200" b="0" i="0">
                          <a:solidFill>
                            <a:srgbClr val="1F1F1F"/>
                          </a:solidFill>
                          <a:latin typeface="Arial"/>
                        </a:rPr>
                        <a:t>One PEM-independent shed event</a:t>
                      </a:r>
                    </a:p>
                  </a:txBody>
                  <a:tcPr marL="54864" marR="54864" marT="27432" marB="27432">
                    <a:solidFill>
                      <a:srgbClr val="FFFFFF"/>
                    </a:solidFill>
                  </a:tcPr>
                </a:tc>
                <a:tc>
                  <a:txBody>
                    <a:bodyPr wrap="square"/>
                    <a:lstStyle/>
                    <a:p>
                      <a:r>
                        <a:rPr sz="1200" b="0" i="0">
                          <a:solidFill>
                            <a:srgbClr val="1F1F1F"/>
                          </a:solidFill>
                          <a:latin typeface="Arial"/>
                        </a:rPr>
                        <a:t>Bus and hour of that shed</a:t>
                      </a:r>
                    </a:p>
                  </a:txBody>
                  <a:tcPr marL="54864" marR="54864" marT="27432" marB="27432">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000" b="1" i="0">
                <a:solidFill>
                  <a:srgbClr val="C0392B"/>
                </a:solidFill>
                <a:latin typeface="Arial"/>
              </a:rPr>
              <a:t>ERCOT: the cost data are mis-converted. Every ERCOT output so far is invalid</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TextBox 4"/>
          <p:cNvSpPr txBox="1"/>
          <p:nvPr/>
        </p:nvSpPr>
        <p:spPr>
          <a:xfrm>
            <a:off x="457200" y="1234440"/>
            <a:ext cx="11247120" cy="4937760"/>
          </a:xfrm>
          <a:prstGeom prst="rect">
            <a:avLst/>
          </a:prstGeom>
          <a:noFill/>
        </p:spPr>
        <p:txBody>
          <a:bodyPr wrap="square" anchor="t" lIns="45720" rIns="45720" tIns="27432" bIns="27432">
            <a:spAutoFit/>
          </a:bodyPr>
          <a:lstStyle/>
          <a:p>
            <a:pPr algn="l">
              <a:lnSpc>
                <a:spcPct val="105000"/>
              </a:lnSpc>
              <a:spcAft>
                <a:spcPts val="800"/>
              </a:spcAft>
            </a:pPr>
            <a:r>
              <a:rPr sz="1500" b="1" i="0">
                <a:solidFill>
                  <a:srgbClr val="1F1F1F"/>
                </a:solidFill>
                <a:latin typeface="Arial"/>
              </a:rPr>
              <a:t>•  gen.csv HR_avg_0 = Csu · Pmax / fuel price on all 128 thermal units (checked to machine precision). It is a start-up energy in MMBTU, read by Egret as a heat rate in BTU/kWh.</a:t>
            </a:r>
          </a:p>
          <a:p>
            <a:pPr algn="l">
              <a:lnSpc>
                <a:spcPct val="105000"/>
              </a:lnSpc>
              <a:spcAft>
                <a:spcPts val="800"/>
              </a:spcAft>
            </a:pPr>
            <a:r>
              <a:rPr sz="1500" b="0" i="0">
                <a:solidFill>
                  <a:srgbClr val="1F1F1F"/>
                </a:solidFill>
                <a:latin typeface="Arial"/>
              </a:rPr>
              <a:t>•  HR_incr is a segment heat, read as a rate. Start-up heat = 1 MBTU and start cost = $1 on every unit.</a:t>
            </a:r>
          </a:p>
          <a:p>
            <a:pPr algn="l">
              <a:lnSpc>
                <a:spcPct val="105000"/>
              </a:lnSpc>
              <a:spcAft>
                <a:spcPts val="800"/>
              </a:spcAft>
            </a:pPr>
            <a:r>
              <a:rPr sz="1500" b="0" i="0">
                <a:solidFill>
                  <a:srgbClr val="1F1F1F"/>
                </a:solidFill>
                <a:latin typeface="Arial"/>
              </a:rPr>
              <a:t>•  Effect: no-load $2.1–2.6M per hour on nuclear (intended ≈ $14k); start-ups nearly free; marginal costs scaled by ΔP/1000, so the merit order is inverted (CT $2.9/MWh vs $43 intended).</a:t>
            </a:r>
          </a:p>
          <a:p>
            <a:pPr algn="l">
              <a:lnSpc>
                <a:spcPct val="105000"/>
              </a:lnSpc>
              <a:spcAft>
                <a:spcPts val="800"/>
              </a:spcAft>
            </a:pPr>
            <a:r>
              <a:rPr sz="1500" b="0" i="0">
                <a:solidFill>
                  <a:srgbClr val="1F1F1F"/>
                </a:solidFill>
                <a:latin typeface="Arial"/>
              </a:rPr>
              <a:t>•  gen-1 cycling, gen-93 never on, the ±$80M bimodality, TL=360, the rulers, screening, selection_t1: all artifacts or invalid.</a:t>
            </a:r>
          </a:p>
          <a:p>
            <a:pPr algn="l">
              <a:lnSpc>
                <a:spcPct val="105000"/>
              </a:lnSpc>
              <a:spcAft>
                <a:spcPts val="800"/>
              </a:spcAft>
            </a:pPr>
            <a:r>
              <a:rPr sz="1500" b="0" i="0">
                <a:solidFill>
                  <a:srgbClr val="1F1F1F"/>
                </a:solidFill>
                <a:latin typeface="Arial"/>
              </a:rPr>
              <a:t>•  Fix (prompt 36): find or rebuild the conversion from the TX-123BT paper; corrected data in a NEW versioned directory; regression test against Egret's parsed costs.</a:t>
            </a:r>
          </a:p>
          <a:p>
            <a:pPr algn="l">
              <a:lnSpc>
                <a:spcPct val="105000"/>
              </a:lnSpc>
              <a:spcAft>
                <a:spcPts val="800"/>
              </a:spcAft>
            </a:pPr>
            <a:r>
              <a:rPr sz="1500" b="1" i="0">
                <a:solidFill>
                  <a:srgbClr val="1F1F1F"/>
                </a:solidFill>
                <a:latin typeface="Arial"/>
              </a:rPr>
              <a:t>•  AIChE promises ERCOT results: re-run base + 2 replicates + screening on the corrected data before the 11-01 figure freeze. Old ERCOT figures are not shown.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1E8449"/>
                </a:solidFill>
                <a:latin typeface="Arial"/>
              </a:rPr>
              <a:t>Decision points: what I need today</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2026-10-12</a:t>
            </a:r>
          </a:p>
        </p:txBody>
      </p:sp>
      <p:sp>
        <p:nvSpPr>
          <p:cNvPr id="5" name="Rounded Rectangle 4"/>
          <p:cNvSpPr/>
          <p:nvPr/>
        </p:nvSpPr>
        <p:spPr>
          <a:xfrm>
            <a:off x="457200" y="1325880"/>
            <a:ext cx="11247120" cy="822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94360" y="1481328"/>
            <a:ext cx="822960" cy="51206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Arial"/>
              </a:rPr>
              <a:t>D1</a:t>
            </a:r>
          </a:p>
        </p:txBody>
      </p:sp>
      <p:sp>
        <p:nvSpPr>
          <p:cNvPr id="7" name="TextBox 6"/>
          <p:cNvSpPr txBox="1"/>
          <p:nvPr/>
        </p:nvSpPr>
        <p:spPr>
          <a:xfrm>
            <a:off x="1600200" y="1325880"/>
            <a:ext cx="9966960" cy="749808"/>
          </a:xfrm>
          <a:prstGeom prst="rect">
            <a:avLst/>
          </a:prstGeom>
          <a:noFill/>
        </p:spPr>
        <p:txBody>
          <a:bodyPr wrap="square" anchor="ctr" lIns="45720" rIns="45720" tIns="27432" bIns="27432">
            <a:spAutoFit/>
          </a:bodyPr>
          <a:lstStyle/>
          <a:p>
            <a:pPr algn="l">
              <a:lnSpc>
                <a:spcPct val="105000"/>
              </a:lnSpc>
              <a:spcAft>
                <a:spcPts val="400"/>
              </a:spcAft>
            </a:pPr>
            <a:r>
              <a:rPr sz="1600" b="0" i="0">
                <a:solidFill>
                  <a:srgbClr val="1F1F1F"/>
                </a:solidFill>
                <a:latin typeface="Arial"/>
              </a:rPr>
              <a:t>Approve the methods design (slide 25): fixed budget, ≥ 2 init-seed replicates, qNEHVI, scenarios A/B, stop-rule validation.</a:t>
            </a:r>
          </a:p>
        </p:txBody>
      </p:sp>
      <p:sp>
        <p:nvSpPr>
          <p:cNvPr id="8" name="Rounded Rectangle 7"/>
          <p:cNvSpPr/>
          <p:nvPr/>
        </p:nvSpPr>
        <p:spPr>
          <a:xfrm>
            <a:off x="457200" y="2286000"/>
            <a:ext cx="11247120" cy="822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94360" y="2441448"/>
            <a:ext cx="822960" cy="51206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Arial"/>
              </a:rPr>
              <a:t>D2</a:t>
            </a:r>
          </a:p>
        </p:txBody>
      </p:sp>
      <p:sp>
        <p:nvSpPr>
          <p:cNvPr id="10" name="TextBox 9"/>
          <p:cNvSpPr txBox="1"/>
          <p:nvPr/>
        </p:nvSpPr>
        <p:spPr>
          <a:xfrm>
            <a:off x="1600200" y="2286000"/>
            <a:ext cx="9966960" cy="749808"/>
          </a:xfrm>
          <a:prstGeom prst="rect">
            <a:avLst/>
          </a:prstGeom>
          <a:noFill/>
        </p:spPr>
        <p:txBody>
          <a:bodyPr wrap="square" anchor="ctr" lIns="45720" rIns="45720" tIns="27432" bIns="27432">
            <a:spAutoFit/>
          </a:bodyPr>
          <a:lstStyle/>
          <a:p>
            <a:pPr algn="l">
              <a:lnSpc>
                <a:spcPct val="105000"/>
              </a:lnSpc>
              <a:spcAft>
                <a:spcPts val="400"/>
              </a:spcAft>
            </a:pPr>
            <a:r>
              <a:rPr sz="1600" b="0" i="0">
                <a:solidFill>
                  <a:srgbClr val="1F1F1F"/>
                </a:solidFill>
                <a:latin typeface="Arial"/>
              </a:rPr>
              <a:t>Approve the BoTorch install for qNEHVI. CRC submission stays manual (batched submit_ready.sh).</a:t>
            </a:r>
          </a:p>
        </p:txBody>
      </p:sp>
      <p:sp>
        <p:nvSpPr>
          <p:cNvPr id="11" name="Rounded Rectangle 10"/>
          <p:cNvSpPr/>
          <p:nvPr/>
        </p:nvSpPr>
        <p:spPr>
          <a:xfrm>
            <a:off x="457200" y="3246120"/>
            <a:ext cx="11247120" cy="822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94360" y="3401568"/>
            <a:ext cx="822960" cy="51206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Arial"/>
              </a:rPr>
              <a:t>D3</a:t>
            </a:r>
          </a:p>
        </p:txBody>
      </p:sp>
      <p:sp>
        <p:nvSpPr>
          <p:cNvPr id="13" name="TextBox 12"/>
          <p:cNvSpPr txBox="1"/>
          <p:nvPr/>
        </p:nvSpPr>
        <p:spPr>
          <a:xfrm>
            <a:off x="1600200" y="3246120"/>
            <a:ext cx="9966960" cy="749808"/>
          </a:xfrm>
          <a:prstGeom prst="rect">
            <a:avLst/>
          </a:prstGeom>
          <a:noFill/>
        </p:spPr>
        <p:txBody>
          <a:bodyPr wrap="square" anchor="ctr" lIns="45720" rIns="45720" tIns="27432" bIns="27432">
            <a:spAutoFit/>
          </a:bodyPr>
          <a:lstStyle/>
          <a:p>
            <a:pPr algn="l">
              <a:lnSpc>
                <a:spcPct val="105000"/>
              </a:lnSpc>
              <a:spcAft>
                <a:spcPts val="400"/>
              </a:spcAft>
            </a:pPr>
            <a:r>
              <a:rPr sz="1600" b="0" i="0">
                <a:solidFill>
                  <a:srgbClr val="1F1F1F"/>
                </a:solidFill>
                <a:latin typeface="Arial"/>
              </a:rPr>
              <a:t>Approve the narrowed recipe (slide 19) and the claim-scope sentences (slide 20).</a:t>
            </a:r>
          </a:p>
        </p:txBody>
      </p:sp>
      <p:sp>
        <p:nvSpPr>
          <p:cNvPr id="14" name="Rounded Rectangle 13"/>
          <p:cNvSpPr/>
          <p:nvPr/>
        </p:nvSpPr>
        <p:spPr>
          <a:xfrm>
            <a:off x="457200" y="4206240"/>
            <a:ext cx="11247120" cy="822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94360" y="4361688"/>
            <a:ext cx="822960" cy="51206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Arial"/>
              </a:rPr>
              <a:t>D4</a:t>
            </a:r>
          </a:p>
        </p:txBody>
      </p:sp>
      <p:sp>
        <p:nvSpPr>
          <p:cNvPr id="16" name="TextBox 15"/>
          <p:cNvSpPr txBox="1"/>
          <p:nvPr/>
        </p:nvSpPr>
        <p:spPr>
          <a:xfrm>
            <a:off x="1600200" y="4206240"/>
            <a:ext cx="9966960" cy="749808"/>
          </a:xfrm>
          <a:prstGeom prst="rect">
            <a:avLst/>
          </a:prstGeom>
          <a:noFill/>
        </p:spPr>
        <p:txBody>
          <a:bodyPr wrap="square" anchor="ctr" lIns="45720" rIns="45720" tIns="27432" bIns="27432">
            <a:spAutoFit/>
          </a:bodyPr>
          <a:lstStyle/>
          <a:p>
            <a:pPr algn="l">
              <a:lnSpc>
                <a:spcPct val="105000"/>
              </a:lnSpc>
              <a:spcAft>
                <a:spcPts val="400"/>
              </a:spcAft>
            </a:pPr>
            <a:r>
              <a:rPr sz="1600" b="0" i="0">
                <a:solidFill>
                  <a:srgbClr val="1F1F1F"/>
                </a:solidFill>
                <a:latin typeface="Arial"/>
              </a:rPr>
              <a:t>ERCOT: fix the cost data (prompt 36) and re-run for AIChE; decide paper placement after the v2 results.</a:t>
            </a:r>
          </a:p>
        </p:txBody>
      </p:sp>
      <p:sp>
        <p:nvSpPr>
          <p:cNvPr id="17" name="Rounded Rectangle 16"/>
          <p:cNvSpPr/>
          <p:nvPr/>
        </p:nvSpPr>
        <p:spPr>
          <a:xfrm>
            <a:off x="457200" y="5166360"/>
            <a:ext cx="11247120" cy="82296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94360" y="5321808"/>
            <a:ext cx="822960" cy="51206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Arial"/>
              </a:rPr>
              <a:t>D5</a:t>
            </a:r>
          </a:p>
        </p:txBody>
      </p:sp>
      <p:sp>
        <p:nvSpPr>
          <p:cNvPr id="19" name="TextBox 18"/>
          <p:cNvSpPr txBox="1"/>
          <p:nvPr/>
        </p:nvSpPr>
        <p:spPr>
          <a:xfrm>
            <a:off x="1600200" y="5166360"/>
            <a:ext cx="9966960" cy="749808"/>
          </a:xfrm>
          <a:prstGeom prst="rect">
            <a:avLst/>
          </a:prstGeom>
          <a:noFill/>
        </p:spPr>
        <p:txBody>
          <a:bodyPr wrap="square" anchor="ctr" lIns="45720" rIns="45720" tIns="27432" bIns="27432">
            <a:spAutoFit/>
          </a:bodyPr>
          <a:lstStyle/>
          <a:p>
            <a:pPr algn="l">
              <a:lnSpc>
                <a:spcPct val="105000"/>
              </a:lnSpc>
              <a:spcAft>
                <a:spcPts val="400"/>
              </a:spcAft>
            </a:pPr>
            <a:r>
              <a:rPr sz="1600" b="0" i="0">
                <a:solidFill>
                  <a:srgbClr val="1F1F1F"/>
                </a:solidFill>
                <a:latin typeface="Arial"/>
              </a:rPr>
              <a:t>g1 ruling (NXT-D7) — still open; it does not gate compute.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p:nvPr>
        </p:nvSpPr>
        <p:spPr/>
        <p:txBody>
          <a:bodyPr/>
          <a:p>
            <a:pPr algn="r"/>
            <a:fld id="{B6F15528-21DE-4FAA-801E-634DDDAF4B2B}" type="slidenum">
              <a:rPr lang="en-US" sz="1000">
                <a:latin typeface="Arial"/>
              </a:rPr>
              <a:t>#</a:t>
            </a:fld>
          </a:p>
        </p:txBody>
      </p:sp>
      <p:sp>
        <p:nvSpPr>
          <p:cNvPr id="3" name="Rectangle 2"/>
          <p:cNvSpPr/>
          <p:nvPr/>
        </p:nvSpPr>
        <p:spPr>
          <a:xfrm>
            <a:off x="0" y="1097280"/>
            <a:ext cx="12192000" cy="466344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15600" cy="457200"/>
          </a:xfrm>
          <a:prstGeom prst="rect">
            <a:avLst/>
          </a:prstGeom>
          <a:noFill/>
        </p:spPr>
        <p:txBody>
          <a:bodyPr wrap="square" anchor="t" lIns="45720" rIns="45720" tIns="27432" bIns="27432">
            <a:spAutoFit/>
          </a:bodyPr>
          <a:lstStyle/>
          <a:p>
            <a:pPr algn="l">
              <a:lnSpc>
                <a:spcPct val="105000"/>
              </a:lnSpc>
              <a:spcAft>
                <a:spcPts val="400"/>
              </a:spcAft>
            </a:pPr>
            <a:r>
              <a:rPr sz="1400" b="1" i="0">
                <a:solidFill>
                  <a:srgbClr val="AE9342"/>
                </a:solidFill>
                <a:latin typeface="Arial"/>
              </a:rPr>
              <a:t>BLOCK 5 · UPDATE 2026-10-13</a:t>
            </a:r>
          </a:p>
        </p:txBody>
      </p:sp>
      <p:sp>
        <p:nvSpPr>
          <p:cNvPr id="5" name="TextBox 4"/>
          <p:cNvSpPr txBox="1"/>
          <p:nvPr/>
        </p:nvSpPr>
        <p:spPr>
          <a:xfrm>
            <a:off x="822960" y="2011680"/>
            <a:ext cx="10515600" cy="1463040"/>
          </a:xfrm>
          <a:prstGeom prst="rect">
            <a:avLst/>
          </a:prstGeom>
          <a:noFill/>
        </p:spPr>
        <p:txBody>
          <a:bodyPr wrap="square" anchor="t" lIns="45720" rIns="45720" tIns="27432" bIns="27432">
            <a:spAutoFit/>
          </a:bodyPr>
          <a:lstStyle/>
          <a:p>
            <a:pPr algn="l">
              <a:lnSpc>
                <a:spcPct val="105000"/>
              </a:lnSpc>
              <a:spcAft>
                <a:spcPts val="400"/>
              </a:spcAft>
            </a:pPr>
            <a:r>
              <a:rPr sz="3800" b="1" i="0">
                <a:solidFill>
                  <a:srgbClr val="FFFFFF"/>
                </a:solidFill>
                <a:latin typeface="Arial"/>
              </a:rPr>
              <a:t>Since 10-12: prompts 35, 36, 37</a:t>
            </a:r>
          </a:p>
        </p:txBody>
      </p:sp>
      <p:sp>
        <p:nvSpPr>
          <p:cNvPr id="6" name="TextBox 5"/>
          <p:cNvSpPr txBox="1"/>
          <p:nvPr/>
        </p:nvSpPr>
        <p:spPr>
          <a:xfrm>
            <a:off x="822960" y="3566160"/>
            <a:ext cx="10515600" cy="2011680"/>
          </a:xfrm>
          <a:prstGeom prst="rect">
            <a:avLst/>
          </a:prstGeom>
          <a:noFill/>
        </p:spPr>
        <p:txBody>
          <a:bodyPr wrap="square" anchor="t" lIns="45720" rIns="45720" tIns="27432" bIns="27432">
            <a:spAutoFit/>
          </a:bodyPr>
          <a:lstStyle/>
          <a:p>
            <a:pPr algn="l">
              <a:lnSpc>
                <a:spcPct val="105000"/>
              </a:lnSpc>
              <a:spcAft>
                <a:spcPts val="400"/>
              </a:spcAft>
            </a:pPr>
            <a:r>
              <a:rPr sz="1500" b="0" i="0">
                <a:solidFill>
                  <a:srgbClr val="E4E9F0"/>
                </a:solidFill>
                <a:latin typeface="Arial"/>
              </a:rPr>
              <a:t>All three are on CRC. First ERCOT v2 results.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Three prompts on CRC (status 10-13)</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update 2026-10-13</a:t>
            </a:r>
          </a:p>
        </p:txBody>
      </p:sp>
      <p:graphicFrame>
        <p:nvGraphicFramePr>
          <p:cNvPr id="5" name="Table 4"/>
          <p:cNvGraphicFramePr>
            <a:graphicFrameLocks noGrp="1"/>
          </p:cNvGraphicFramePr>
          <p:nvPr/>
        </p:nvGraphicFramePr>
        <p:xfrm>
          <a:off x="457200" y="1280160"/>
          <a:ext cx="11247120" cy="4206240"/>
        </p:xfrm>
        <a:graphic>
          <a:graphicData uri="http://schemas.openxmlformats.org/drawingml/2006/table">
            <a:tbl>
              <a:tblPr firstRow="1" bandRow="1">
                <a:tableStyleId>{5C22544A-7EE6-4342-B048-85BDC9FD1C3A}</a:tableStyleId>
              </a:tblPr>
              <a:tblGrid>
                <a:gridCol w="1554480"/>
                <a:gridCol w="3291840"/>
                <a:gridCol w="2651760"/>
                <a:gridCol w="2194560"/>
                <a:gridCol w="1554480"/>
              </a:tblGrid>
              <a:tr h="1051560">
                <a:tc>
                  <a:txBody>
                    <a:bodyPr wrap="square"/>
                    <a:lstStyle/>
                    <a:p>
                      <a:r>
                        <a:rPr sz="1300" b="1" i="0">
                          <a:solidFill>
                            <a:srgbClr val="1F1F1F"/>
                          </a:solidFill>
                          <a:latin typeface="Arial"/>
                        </a:rPr>
                        <a:t>Prompt</a:t>
                      </a:r>
                    </a:p>
                  </a:txBody>
                  <a:tcPr marL="54864" marR="54864" marT="27432" marB="27432">
                    <a:solidFill>
                      <a:srgbClr val="DCE3EE"/>
                    </a:solidFill>
                  </a:tcPr>
                </a:tc>
                <a:tc>
                  <a:txBody>
                    <a:bodyPr wrap="square"/>
                    <a:lstStyle/>
                    <a:p>
                      <a:r>
                        <a:rPr sz="1300" b="1" i="0">
                          <a:solidFill>
                            <a:srgbClr val="1F1F1F"/>
                          </a:solidFill>
                          <a:latin typeface="Arial"/>
                        </a:rPr>
                        <a:t>Question</a:t>
                      </a:r>
                    </a:p>
                  </a:txBody>
                  <a:tcPr marL="54864" marR="54864" marT="27432" marB="27432">
                    <a:solidFill>
                      <a:srgbClr val="DCE3EE"/>
                    </a:solidFill>
                  </a:tcPr>
                </a:tc>
                <a:tc>
                  <a:txBody>
                    <a:bodyPr wrap="square"/>
                    <a:lstStyle/>
                    <a:p>
                      <a:r>
                        <a:rPr sz="1300" b="1" i="0">
                          <a:solidFill>
                            <a:srgbClr val="1F1F1F"/>
                          </a:solidFill>
                          <a:latin typeface="Arial"/>
                        </a:rPr>
                        <a:t>CRC work</a:t>
                      </a:r>
                    </a:p>
                  </a:txBody>
                  <a:tcPr marL="54864" marR="54864" marT="27432" marB="27432">
                    <a:solidFill>
                      <a:srgbClr val="DCE3EE"/>
                    </a:solidFill>
                  </a:tcPr>
                </a:tc>
                <a:tc>
                  <a:txBody>
                    <a:bodyPr wrap="square"/>
                    <a:lstStyle/>
                    <a:p>
                      <a:r>
                        <a:rPr sz="1300" b="1" i="0">
                          <a:solidFill>
                            <a:srgbClr val="1F1F1F"/>
                          </a:solidFill>
                          <a:latin typeface="Arial"/>
                        </a:rPr>
                        <a:t>State 10-13</a:t>
                      </a:r>
                    </a:p>
                  </a:txBody>
                  <a:tcPr marL="54864" marR="54864" marT="27432" marB="27432">
                    <a:solidFill>
                      <a:srgbClr val="DCE3EE"/>
                    </a:solidFill>
                  </a:tcPr>
                </a:tc>
                <a:tc>
                  <a:txBody>
                    <a:bodyPr wrap="square"/>
                    <a:lstStyle/>
                    <a:p>
                      <a:r>
                        <a:rPr sz="1300" b="1" i="0">
                          <a:solidFill>
                            <a:srgbClr val="1F1F1F"/>
                          </a:solidFill>
                          <a:latin typeface="Arial"/>
                        </a:rPr>
                        <a:t>Results</a:t>
                      </a:r>
                    </a:p>
                  </a:txBody>
                  <a:tcPr marL="54864" marR="54864" marT="27432" marB="27432">
                    <a:solidFill>
                      <a:srgbClr val="DCE3EE"/>
                    </a:solidFill>
                  </a:tcPr>
                </a:tc>
              </a:tr>
              <a:tr h="1051560">
                <a:tc>
                  <a:txBody>
                    <a:bodyPr wrap="square"/>
                    <a:lstStyle/>
                    <a:p>
                      <a:r>
                        <a:rPr sz="1300" b="0" i="0">
                          <a:solidFill>
                            <a:srgbClr val="1F1F1F"/>
                          </a:solidFill>
                          <a:latin typeface="Arial"/>
                        </a:rPr>
                        <a:t>35  Methods arms</a:t>
                      </a:r>
                    </a:p>
                  </a:txBody>
                  <a:tcPr marL="54864" marR="54864" marT="27432" marB="27432">
                    <a:solidFill>
                      <a:srgbClr val="FFFFFF"/>
                    </a:solidFill>
                  </a:tcPr>
                </a:tc>
                <a:tc>
                  <a:txBody>
                    <a:bodyPr wrap="square"/>
                    <a:lstStyle/>
                    <a:p>
                      <a:r>
                        <a:rPr sz="1300" b="0" i="0">
                          <a:solidFill>
                            <a:srgbClr val="1F1F1F"/>
                          </a:solidFill>
                          <a:latin typeface="Arial"/>
                        </a:rPr>
                        <a:t>Is q-ParEGO stable across replicates at a fixed budget of 64? Is one qNEHVI run consistent with it?</a:t>
                      </a:r>
                    </a:p>
                  </a:txBody>
                  <a:tcPr marL="54864" marR="54864" marT="27432" marB="27432">
                    <a:solidFill>
                      <a:srgbClr val="FFFFFF"/>
                    </a:solidFill>
                  </a:tcPr>
                </a:tc>
                <a:tc>
                  <a:txBody>
                    <a:bodyPr wrap="square"/>
                    <a:lstStyle/>
                    <a:p>
                      <a:r>
                        <a:rPr sz="1300" b="0" i="0">
                          <a:solidFill>
                            <a:srgbClr val="1F1F1F"/>
                          </a:solidFill>
                          <a:latin typeface="Arial"/>
                        </a:rPr>
                        <a:t>7 arms: start sets S2, S3; Sobol continuations Q1–Q3; P1 rounds 3–4; qNEHVI N1</a:t>
                      </a:r>
                    </a:p>
                  </a:txBody>
                  <a:tcPr marL="54864" marR="54864" marT="27432" marB="27432">
                    <a:solidFill>
                      <a:srgbClr val="FFFFFF"/>
                    </a:solidFill>
                  </a:tcPr>
                </a:tc>
                <a:tc>
                  <a:txBody>
                    <a:bodyPr wrap="square"/>
                    <a:lstStyle/>
                    <a:p>
                      <a:r>
                        <a:rPr sz="1300" b="0" i="0">
                          <a:solidFill>
                            <a:srgbClr val="1F1F1F"/>
                          </a:solidFill>
                          <a:latin typeface="Arial"/>
                        </a:rPr>
                        <a:t>Running since 10-12 21:00 (relaunch after an import failure)</a:t>
                      </a:r>
                    </a:p>
                  </a:txBody>
                  <a:tcPr marL="54864" marR="54864" marT="27432" marB="27432">
                    <a:solidFill>
                      <a:srgbClr val="FFFFFF"/>
                    </a:solidFill>
                  </a:tcPr>
                </a:tc>
                <a:tc>
                  <a:txBody>
                    <a:bodyPr wrap="square"/>
                    <a:lstStyle/>
                    <a:p>
                      <a:r>
                        <a:rPr sz="1300" b="0" i="0">
                          <a:solidFill>
                            <a:srgbClr val="1F1F1F"/>
                          </a:solidFill>
                          <a:latin typeface="Arial"/>
                        </a:rPr>
                        <a:t>First round ≈ 10-13; all ≈ 5 days</a:t>
                      </a:r>
                    </a:p>
                  </a:txBody>
                  <a:tcPr marL="54864" marR="54864" marT="27432" marB="27432">
                    <a:solidFill>
                      <a:srgbClr val="FFFFFF"/>
                    </a:solidFill>
                  </a:tcPr>
                </a:tc>
              </a:tr>
              <a:tr h="1051560">
                <a:tc>
                  <a:txBody>
                    <a:bodyPr wrap="square"/>
                    <a:lstStyle/>
                    <a:p>
                      <a:r>
                        <a:rPr sz="1300" b="0" i="0">
                          <a:solidFill>
                            <a:srgbClr val="1F1F1F"/>
                          </a:solidFill>
                          <a:latin typeface="Arial"/>
                        </a:rPr>
                        <a:t>36  ERCOT v2</a:t>
                      </a:r>
                    </a:p>
                  </a:txBody>
                  <a:tcPr marL="54864" marR="54864" marT="27432" marB="27432">
                    <a:solidFill>
                      <a:srgbClr val="F6F6F6"/>
                    </a:solidFill>
                  </a:tcPr>
                </a:tc>
                <a:tc>
                  <a:txBody>
                    <a:bodyPr wrap="square"/>
                    <a:lstStyle/>
                    <a:p>
                      <a:r>
                        <a:rPr sz="1300" b="0" i="0">
                          <a:solidFill>
                            <a:srgbClr val="1F1F1F"/>
                          </a:solidFill>
                          <a:latin typeface="Arial"/>
                        </a:rPr>
                        <a:t>Re-run ERCOT on the corrected cost data for AIChE</a:t>
                      </a:r>
                    </a:p>
                  </a:txBody>
                  <a:tcPr marL="54864" marR="54864" marT="27432" marB="27432">
                    <a:solidFill>
                      <a:srgbClr val="F6F6F6"/>
                    </a:solidFill>
                  </a:tcPr>
                </a:tc>
                <a:tc>
                  <a:txBody>
                    <a:bodyPr wrap="square"/>
                    <a:lstStyle/>
                    <a:p>
                      <a:r>
                        <a:rPr sz="1300" b="0" i="0">
                          <a:solidFill>
                            <a:srgbClr val="1F1F1F"/>
                          </a:solidFill>
                          <a:latin typeface="Arial"/>
                        </a:rPr>
                        <a:t>A base ×3, B screening 19, C selection 9</a:t>
                      </a:r>
                    </a:p>
                  </a:txBody>
                  <a:tcPr marL="54864" marR="54864" marT="27432" marB="27432">
                    <a:solidFill>
                      <a:srgbClr val="F6F6F6"/>
                    </a:solidFill>
                  </a:tcPr>
                </a:tc>
                <a:tc>
                  <a:txBody>
                    <a:bodyPr wrap="square"/>
                    <a:lstStyle/>
                    <a:p>
                      <a:r>
                        <a:rPr sz="1300" b="0" i="0">
                          <a:solidFill>
                            <a:srgbClr val="1F1F1F"/>
                          </a:solidFill>
                          <a:latin typeface="Arial"/>
                        </a:rPr>
                        <a:t>A + B landed 10-13 02:30; base read done. C: 2 of 9 failed; fixed (7c5fb8d); nuclear rows 6–11 rerun</a:t>
                      </a:r>
                    </a:p>
                  </a:txBody>
                  <a:tcPr marL="54864" marR="54864" marT="27432" marB="27432">
                    <a:solidFill>
                      <a:srgbClr val="F6F6F6"/>
                    </a:solidFill>
                  </a:tcPr>
                </a:tc>
                <a:tc>
                  <a:txBody>
                    <a:bodyPr wrap="square"/>
                    <a:lstStyle/>
                    <a:p>
                      <a:r>
                        <a:rPr sz="1300" b="0" i="0">
                          <a:solidFill>
                            <a:srgbClr val="1F1F1F"/>
                          </a:solidFill>
                          <a:latin typeface="Arial"/>
                        </a:rPr>
                        <a:t>C rerun ≈ 10-14; wave D ≈ 10-18/19</a:t>
                      </a:r>
                    </a:p>
                  </a:txBody>
                  <a:tcPr marL="54864" marR="54864" marT="27432" marB="27432">
                    <a:solidFill>
                      <a:srgbClr val="F6F6F6"/>
                    </a:solidFill>
                  </a:tcPr>
                </a:tc>
              </a:tr>
              <a:tr h="1051560">
                <a:tc>
                  <a:txBody>
                    <a:bodyPr wrap="square"/>
                    <a:lstStyle/>
                    <a:p>
                      <a:r>
                        <a:rPr sz="1300" b="0" i="0">
                          <a:solidFill>
                            <a:srgbClr val="1F1F1F"/>
                          </a:solidFill>
                          <a:latin typeface="Arial"/>
                        </a:rPr>
                        <a:t>37  Stop rule</a:t>
                      </a:r>
                    </a:p>
                  </a:txBody>
                  <a:tcPr marL="54864" marR="54864" marT="27432" marB="27432">
                    <a:solidFill>
                      <a:srgbClr val="FFFFFF"/>
                    </a:solidFill>
                  </a:tcPr>
                </a:tc>
                <a:tc>
                  <a:txBody>
                    <a:bodyPr wrap="square"/>
                    <a:lstStyle/>
                    <a:p>
                      <a:r>
                        <a:rPr sz="1300" b="0" i="0">
                          <a:solidFill>
                            <a:srgbClr val="1F1F1F"/>
                          </a:solidFill>
                          <a:latin typeface="Arial"/>
                        </a:rPr>
                        <a:t>Does the stop rule work on problems with a known truth?</a:t>
                      </a:r>
                    </a:p>
                  </a:txBody>
                  <a:tcPr marL="54864" marR="54864" marT="27432" marB="27432">
                    <a:solidFill>
                      <a:srgbClr val="FFFFFF"/>
                    </a:solidFill>
                  </a:tcPr>
                </a:tc>
                <a:tc>
                  <a:txBody>
                    <a:bodyPr wrap="square"/>
                    <a:lstStyle/>
                    <a:p>
                      <a:r>
                        <a:rPr sz="1300" b="0" i="0">
                          <a:solidFill>
                            <a:srgbClr val="1F1F1F"/>
                          </a:solidFill>
                          <a:latin typeface="Arial"/>
                        </a:rPr>
                        <a:t>1,540 tasks; 0 PCM runs</a:t>
                      </a:r>
                    </a:p>
                  </a:txBody>
                  <a:tcPr marL="54864" marR="54864" marT="27432" marB="27432">
                    <a:solidFill>
                      <a:srgbClr val="FFFFFF"/>
                    </a:solidFill>
                  </a:tcPr>
                </a:tc>
                <a:tc>
                  <a:txBody>
                    <a:bodyPr wrap="square"/>
                    <a:lstStyle/>
                    <a:p>
                      <a:r>
                        <a:rPr sz="1300" b="0" i="0">
                          <a:solidFill>
                            <a:srgbClr val="1F1F1F"/>
                          </a:solidFill>
                          <a:latin typeface="Arial"/>
                        </a:rPr>
                        <a:t>Running since 10-12 evening</a:t>
                      </a:r>
                    </a:p>
                  </a:txBody>
                  <a:tcPr marL="54864" marR="54864" marT="27432" marB="27432">
                    <a:solidFill>
                      <a:srgbClr val="FFFFFF"/>
                    </a:solidFill>
                  </a:tcPr>
                </a:tc>
                <a:tc>
                  <a:txBody>
                    <a:bodyPr wrap="square"/>
                    <a:lstStyle/>
                    <a:p>
                      <a:r>
                        <a:rPr sz="1300" b="0" i="0">
                          <a:solidFill>
                            <a:srgbClr val="1F1F1F"/>
                          </a:solidFill>
                          <a:latin typeface="Arial"/>
                        </a:rPr>
                        <a:t>≈ 10-13 → 10-15</a:t>
                      </a:r>
                    </a:p>
                  </a:txBody>
                  <a:tcPr marL="54864" marR="54864" marT="27432" marB="27432">
                    <a:solidFill>
                      <a:srgbClr val="FFFFFF"/>
                    </a:solidFill>
                  </a:tcPr>
                </a:tc>
              </a:tr>
            </a:tbl>
          </a:graphicData>
        </a:graphic>
      </p:graphicFrame>
      <p:sp>
        <p:nvSpPr>
          <p:cNvPr id="6" name="TextBox 5"/>
          <p:cNvSpPr txBox="1"/>
          <p:nvPr/>
        </p:nvSpPr>
        <p:spPr>
          <a:xfrm>
            <a:off x="457200" y="5806440"/>
            <a:ext cx="11247120" cy="36576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6B6B6B"/>
                </a:solidFill>
                <a:latin typeface="Arial"/>
              </a:rPr>
              <a:t>CRC order: 36 first (AIChE), then 35 and 37. Submission stays manual from the login node.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ERCOT v2: first results (waves A and B)</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update 2026-10-13</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ROADBLOCKER · wave C nuclear rows failed</a:t>
            </a:r>
          </a:p>
        </p:txBody>
      </p:sp>
      <p:sp>
        <p:nvSpPr>
          <p:cNvPr id="6" name="Rounded Rectangle 5"/>
          <p:cNvSpPr/>
          <p:nvPr/>
        </p:nvSpPr>
        <p:spPr>
          <a:xfrm>
            <a:off x="9189720" y="51206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Kay: rerun nuclear rows 6–11</a:t>
            </a:r>
          </a:p>
        </p:txBody>
      </p:sp>
      <p:sp>
        <p:nvSpPr>
          <p:cNvPr id="7" name="Rounded Rectangle 6"/>
          <p:cNvSpPr/>
          <p:nvPr/>
        </p:nvSpPr>
        <p:spPr>
          <a:xfrm>
            <a:off x="457200" y="1234440"/>
            <a:ext cx="2697480" cy="1234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$8.09 B</a:t>
            </a:r>
          </a:p>
        </p:txBody>
      </p:sp>
      <p:sp>
        <p:nvSpPr>
          <p:cNvPr id="9" name="TextBox 8"/>
          <p:cNvSpPr txBox="1"/>
          <p:nvPr/>
        </p:nvSpPr>
        <p:spPr>
          <a:xfrm>
            <a:off x="594360" y="1874519"/>
            <a:ext cx="2423160" cy="5486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base total cost, 2019 (raw Prescient)</a:t>
            </a:r>
          </a:p>
        </p:txBody>
      </p:sp>
      <p:sp>
        <p:nvSpPr>
          <p:cNvPr id="10" name="Rounded Rectangle 9"/>
          <p:cNvSpPr/>
          <p:nvPr/>
        </p:nvSpPr>
        <p:spPr>
          <a:xfrm>
            <a:off x="3310128" y="1234440"/>
            <a:ext cx="2697480" cy="1234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47288"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0 MWh</a:t>
            </a:r>
          </a:p>
        </p:txBody>
      </p:sp>
      <p:sp>
        <p:nvSpPr>
          <p:cNvPr id="12" name="TextBox 11"/>
          <p:cNvSpPr txBox="1"/>
          <p:nvPr/>
        </p:nvSpPr>
        <p:spPr>
          <a:xfrm>
            <a:off x="3447288" y="1874519"/>
            <a:ext cx="2423160" cy="5486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load shed: base + all 19 screening rows</a:t>
            </a:r>
          </a:p>
        </p:txBody>
      </p:sp>
      <p:sp>
        <p:nvSpPr>
          <p:cNvPr id="13" name="Rounded Rectangle 12"/>
          <p:cNvSpPr/>
          <p:nvPr/>
        </p:nvSpPr>
        <p:spPr>
          <a:xfrm>
            <a:off x="6163056" y="1234440"/>
            <a:ext cx="2697480" cy="1234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0216"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$21.08</a:t>
            </a:r>
          </a:p>
        </p:txBody>
      </p:sp>
      <p:sp>
        <p:nvSpPr>
          <p:cNvPr id="15" name="TextBox 14"/>
          <p:cNvSpPr txBox="1"/>
          <p:nvPr/>
        </p:nvSpPr>
        <p:spPr>
          <a:xfrm>
            <a:off x="6300216" y="1874519"/>
            <a:ext cx="2423160" cy="5486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mean price per MWh (base)</a:t>
            </a:r>
          </a:p>
        </p:txBody>
      </p:sp>
      <p:sp>
        <p:nvSpPr>
          <p:cNvPr id="16" name="Rounded Rectangle 15"/>
          <p:cNvSpPr/>
          <p:nvPr/>
        </p:nvSpPr>
        <p:spPr>
          <a:xfrm>
            <a:off x="9015984" y="1234440"/>
            <a:ext cx="2697480" cy="12344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53144" y="1280160"/>
            <a:ext cx="2423160" cy="594360"/>
          </a:xfrm>
          <a:prstGeom prst="rect">
            <a:avLst/>
          </a:prstGeom>
          <a:noFill/>
        </p:spPr>
        <p:txBody>
          <a:bodyPr wrap="square" anchor="ctr" lIns="45720" rIns="45720" tIns="27432" bIns="27432">
            <a:spAutoFit/>
          </a:bodyPr>
          <a:lstStyle/>
          <a:p>
            <a:pPr algn="l">
              <a:lnSpc>
                <a:spcPct val="105000"/>
              </a:lnSpc>
              <a:spcAft>
                <a:spcPts val="400"/>
              </a:spcAft>
            </a:pPr>
            <a:r>
              <a:rPr sz="2800" b="1" i="0">
                <a:solidFill>
                  <a:srgbClr val="0C2340"/>
                </a:solidFill>
                <a:latin typeface="Arial"/>
              </a:rPr>
              <a:t>0</a:t>
            </a:r>
          </a:p>
        </p:txBody>
      </p:sp>
      <p:sp>
        <p:nvSpPr>
          <p:cNvPr id="18" name="TextBox 17"/>
          <p:cNvSpPr txBox="1"/>
          <p:nvPr/>
        </p:nvSpPr>
        <p:spPr>
          <a:xfrm>
            <a:off x="9153144" y="1874519"/>
            <a:ext cx="2423160" cy="548640"/>
          </a:xfrm>
          <a:prstGeom prst="rect">
            <a:avLst/>
          </a:prstGeom>
          <a:noFill/>
        </p:spPr>
        <p:txBody>
          <a:bodyPr wrap="square" anchor="t" lIns="45720" rIns="45720" tIns="27432" bIns="27432">
            <a:spAutoFit/>
          </a:bodyPr>
          <a:lstStyle/>
          <a:p>
            <a:pPr algn="l">
              <a:lnSpc>
                <a:spcPct val="105000"/>
              </a:lnSpc>
              <a:spcAft>
                <a:spcPts val="400"/>
              </a:spcAft>
            </a:pPr>
            <a:r>
              <a:rPr sz="1200" b="0" i="0">
                <a:solidFill>
                  <a:srgbClr val="1F1F1F"/>
                </a:solidFill>
                <a:latin typeface="Arial"/>
              </a:rPr>
              <a:t>spread between the 3 base replicates</a:t>
            </a:r>
          </a:p>
        </p:txBody>
      </p:sp>
      <p:sp>
        <p:nvSpPr>
          <p:cNvPr id="19" name="TextBox 18"/>
          <p:cNvSpPr txBox="1"/>
          <p:nvPr/>
        </p:nvSpPr>
        <p:spPr>
          <a:xfrm>
            <a:off x="457200" y="2651760"/>
            <a:ext cx="11247120" cy="3566160"/>
          </a:xfrm>
          <a:prstGeom prst="rect">
            <a:avLst/>
          </a:prstGeom>
          <a:noFill/>
        </p:spPr>
        <p:txBody>
          <a:bodyPr wrap="square" anchor="t" lIns="45720" rIns="45720" tIns="27432" bIns="27432">
            <a:spAutoFit/>
          </a:bodyPr>
          <a:lstStyle/>
          <a:p>
            <a:pPr algn="l">
              <a:lnSpc>
                <a:spcPct val="105000"/>
              </a:lnSpc>
              <a:spcAft>
                <a:spcPts val="600"/>
              </a:spcAft>
            </a:pPr>
            <a:r>
              <a:rPr sz="1400" b="0" i="0">
                <a:solidFill>
                  <a:srgbClr val="1F1F1F"/>
                </a:solidFill>
                <a:latin typeface="Arial"/>
              </a:rPr>
              <a:t>•  smoke_v2 matched the authors' SCUC within +6 % on 3 days (SMOKE_PASS 0a2acf2).</a:t>
            </a:r>
          </a:p>
          <a:p>
            <a:pPr algn="l">
              <a:lnSpc>
                <a:spcPct val="105000"/>
              </a:lnSpc>
              <a:spcAft>
                <a:spcPts val="600"/>
              </a:spcAft>
            </a:pPr>
            <a:r>
              <a:rPr sz="1400" b="0" i="0">
                <a:solidFill>
                  <a:srgbClr val="1F1F1F"/>
                </a:solidFill>
                <a:latin typeface="Arial"/>
              </a:rPr>
              <a:t>•  The 3 base replicates are byte-identical: the v1 replicate divergence (TL=360 Finding 1) does not occur on v2.</a:t>
            </a:r>
          </a:p>
          <a:p>
            <a:pPr algn="l">
              <a:lnSpc>
                <a:spcPct val="105000"/>
              </a:lnSpc>
              <a:spcAft>
                <a:spcPts val="600"/>
              </a:spcAft>
            </a:pPr>
            <a:r>
              <a:rPr sz="1400" b="0" i="0">
                <a:solidFill>
                  <a:srgbClr val="1F1F1F"/>
                </a:solidFill>
                <a:latin typeface="Arial"/>
              </a:rPr>
              <a:t>•  Load shed is 0 everywhere so far. On ERCOT the shed objective carries no signal.</a:t>
            </a:r>
          </a:p>
          <a:p>
            <a:pPr algn="l">
              <a:lnSpc>
                <a:spcPct val="105000"/>
              </a:lnSpc>
              <a:spcAft>
                <a:spcPts val="600"/>
              </a:spcAft>
            </a:pPr>
            <a:r>
              <a:rPr sz="1400" b="0" i="0">
                <a:solidFill>
                  <a:srgbClr val="1F1F1F"/>
                </a:solidFill>
                <a:latin typeface="Arial"/>
              </a:rPr>
              <a:t>•  Screening row 10 is an outlier (+$354M). Prescient's curtailment total counts PEM-withheld MWh; the analysis uses true curtailment.</a:t>
            </a:r>
          </a:p>
          <a:p>
            <a:pPr algn="l">
              <a:lnSpc>
                <a:spcPct val="105000"/>
              </a:lnSpc>
              <a:spcAft>
                <a:spcPts val="600"/>
              </a:spcAft>
            </a:pPr>
            <a:r>
              <a:rPr sz="1400" b="1" i="0">
                <a:solidFill>
                  <a:srgbClr val="1F1F1F"/>
                </a:solidFill>
                <a:latin typeface="Arial"/>
              </a:rPr>
              <a:t>•  Wave C: nuclear rows ω = 0.05 and 0.2875 failed at the first RUC build. The PEM patch raises p_min, but the T0 output stays at the original 729 MW. Fix (7c5fb8d): T0 output ≥ new p_min. A build-only test reproduces the error without the fix and passes 6/6 with it. All nuclear rows 6–11 are rerun, so that the ω sweep shares one T0.</a:t>
            </a:r>
          </a:p>
          <a:p>
            <a:pPr algn="l">
              <a:lnSpc>
                <a:spcPct val="105000"/>
              </a:lnSpc>
              <a:spcAft>
                <a:spcPts val="600"/>
              </a:spcAft>
            </a:pPr>
            <a:r>
              <a:rPr sz="1400" b="0" i="0">
                <a:solidFill>
                  <a:srgbClr val="1F1F1F"/>
                </a:solidFill>
                <a:latin typeface="Arial"/>
              </a:rPr>
              <a:t>•  Process: the wave-D site rule was committed after B landed, before any per-site value was read. Disclosed.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ERCOT v2 base read: what changed from v1</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update 2026-10-13</a:t>
            </a: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 bIns="9144"/>
          <a:lstStyle/>
          <a:p>
            <a:pPr algn="ctr"/>
            <a:r>
              <a:rPr sz="850" b="1">
                <a:solidFill>
                  <a:srgbClr val="FFFFFF"/>
                </a:solidFill>
                <a:latin typeface="Arial"/>
              </a:rPr>
              <a:t>DECISION · confirm wave-D sizes 60/120/180 MW</a:t>
            </a:r>
          </a:p>
        </p:txBody>
      </p:sp>
      <p:graphicFrame>
        <p:nvGraphicFramePr>
          <p:cNvPr id="6" name="Table 5"/>
          <p:cNvGraphicFramePr>
            <a:graphicFrameLocks noGrp="1"/>
          </p:cNvGraphicFramePr>
          <p:nvPr/>
        </p:nvGraphicFramePr>
        <p:xfrm>
          <a:off x="457200" y="1234440"/>
          <a:ext cx="6766560" cy="3803904"/>
        </p:xfrm>
        <a:graphic>
          <a:graphicData uri="http://schemas.openxmlformats.org/drawingml/2006/table">
            <a:tbl>
              <a:tblPr firstRow="1" bandRow="1">
                <a:tableStyleId>{5C22544A-7EE6-4342-B048-85BDC9FD1C3A}</a:tableStyleId>
              </a:tblPr>
              <a:tblGrid>
                <a:gridCol w="2286000"/>
                <a:gridCol w="2194560"/>
                <a:gridCol w="2286000"/>
              </a:tblGrid>
              <a:tr h="475488">
                <a:tc>
                  <a:txBody>
                    <a:bodyPr wrap="square"/>
                    <a:lstStyle/>
                    <a:p>
                      <a:r>
                        <a:rPr sz="1300" b="1" i="0">
                          <a:solidFill>
                            <a:srgbClr val="1F1F1F"/>
                          </a:solidFill>
                          <a:latin typeface="Arial"/>
                        </a:rPr>
                        <a:t>Quantity (2019, base)</a:t>
                      </a:r>
                    </a:p>
                  </a:txBody>
                  <a:tcPr marL="54864" marR="54864" marT="27432" marB="27432">
                    <a:solidFill>
                      <a:srgbClr val="DCE3EE"/>
                    </a:solidFill>
                  </a:tcPr>
                </a:tc>
                <a:tc>
                  <a:txBody>
                    <a:bodyPr wrap="square"/>
                    <a:lstStyle/>
                    <a:p>
                      <a:r>
                        <a:rPr sz="1300" b="1" i="0">
                          <a:solidFill>
                            <a:srgbClr val="1F1F1F"/>
                          </a:solidFill>
                          <a:latin typeface="Arial"/>
                        </a:rPr>
                        <a:t>v1 (mis-converted costs)</a:t>
                      </a:r>
                    </a:p>
                  </a:txBody>
                  <a:tcPr marL="54864" marR="54864" marT="27432" marB="27432">
                    <a:solidFill>
                      <a:srgbClr val="DCE3EE"/>
                    </a:solidFill>
                  </a:tcPr>
                </a:tc>
                <a:tc>
                  <a:txBody>
                    <a:bodyPr wrap="square"/>
                    <a:lstStyle/>
                    <a:p>
                      <a:r>
                        <a:rPr sz="1300" b="1" i="0">
                          <a:solidFill>
                            <a:srgbClr val="1F1F1F"/>
                          </a:solidFill>
                          <a:latin typeface="Arial"/>
                        </a:rPr>
                        <a:t>v2 (corrected)</a:t>
                      </a:r>
                    </a:p>
                  </a:txBody>
                  <a:tcPr marL="54864" marR="54864" marT="27432" marB="27432">
                    <a:solidFill>
                      <a:srgbClr val="DCE3EE"/>
                    </a:solidFill>
                  </a:tcPr>
                </a:tc>
              </a:tr>
              <a:tr h="475488">
                <a:tc>
                  <a:txBody>
                    <a:bodyPr wrap="square"/>
                    <a:lstStyle/>
                    <a:p>
                      <a:r>
                        <a:rPr sz="1300" b="0" i="0">
                          <a:solidFill>
                            <a:srgbClr val="1F1F1F"/>
                          </a:solidFill>
                          <a:latin typeface="Arial"/>
                        </a:rPr>
                        <a:t>Real-time LMP, mean</a:t>
                      </a:r>
                    </a:p>
                  </a:txBody>
                  <a:tcPr marL="54864" marR="54864" marT="27432" marB="27432">
                    <a:solidFill>
                      <a:srgbClr val="FFFFFF"/>
                    </a:solidFill>
                  </a:tcPr>
                </a:tc>
                <a:tc>
                  <a:txBody>
                    <a:bodyPr wrap="square"/>
                    <a:lstStyle/>
                    <a:p>
                      <a:r>
                        <a:rPr sz="1300" b="0" i="0">
                          <a:solidFill>
                            <a:srgbClr val="1F1F1F"/>
                          </a:solidFill>
                          <a:latin typeface="Arial"/>
                        </a:rPr>
                        <a:t>$14.5/MWh</a:t>
                      </a:r>
                    </a:p>
                  </a:txBody>
                  <a:tcPr marL="54864" marR="54864" marT="27432" marB="27432">
                    <a:solidFill>
                      <a:srgbClr val="FFFFFF"/>
                    </a:solidFill>
                  </a:tcPr>
                </a:tc>
                <a:tc>
                  <a:txBody>
                    <a:bodyPr wrap="square"/>
                    <a:lstStyle/>
                    <a:p>
                      <a:r>
                        <a:rPr sz="1300" b="0" i="0">
                          <a:solidFill>
                            <a:srgbClr val="1F1F1F"/>
                          </a:solidFill>
                          <a:latin typeface="Arial"/>
                        </a:rPr>
                        <a:t>$33.8/MWh</a:t>
                      </a:r>
                    </a:p>
                  </a:txBody>
                  <a:tcPr marL="54864" marR="54864" marT="27432" marB="27432">
                    <a:solidFill>
                      <a:srgbClr val="FFFFFF"/>
                    </a:solidFill>
                  </a:tcPr>
                </a:tc>
              </a:tr>
              <a:tr h="475488">
                <a:tc>
                  <a:txBody>
                    <a:bodyPr wrap="square"/>
                    <a:lstStyle/>
                    <a:p>
                      <a:r>
                        <a:rPr sz="1300" b="0" i="0">
                          <a:solidFill>
                            <a:srgbClr val="1F1F1F"/>
                          </a:solidFill>
                          <a:latin typeface="Arial"/>
                        </a:rPr>
                        <a:t>Fixed cost</a:t>
                      </a:r>
                    </a:p>
                  </a:txBody>
                  <a:tcPr marL="54864" marR="54864" marT="27432" marB="27432">
                    <a:solidFill>
                      <a:srgbClr val="F6F6F6"/>
                    </a:solidFill>
                  </a:tcPr>
                </a:tc>
                <a:tc>
                  <a:txBody>
                    <a:bodyPr wrap="square"/>
                    <a:lstStyle/>
                    <a:p>
                      <a:r>
                        <a:rPr sz="1300" b="0" i="0">
                          <a:solidFill>
                            <a:srgbClr val="1F1F1F"/>
                          </a:solidFill>
                          <a:latin typeface="Arial"/>
                        </a:rPr>
                        <a:t>$6.75 B</a:t>
                      </a:r>
                    </a:p>
                  </a:txBody>
                  <a:tcPr marL="54864" marR="54864" marT="27432" marB="27432">
                    <a:solidFill>
                      <a:srgbClr val="F6F6F6"/>
                    </a:solidFill>
                  </a:tcPr>
                </a:tc>
                <a:tc>
                  <a:txBody>
                    <a:bodyPr wrap="square"/>
                    <a:lstStyle/>
                    <a:p>
                      <a:r>
                        <a:rPr sz="1300" b="0" i="0">
                          <a:solidFill>
                            <a:srgbClr val="1F1F1F"/>
                          </a:solidFill>
                          <a:latin typeface="Arial"/>
                        </a:rPr>
                        <a:t>$3.63 B</a:t>
                      </a:r>
                    </a:p>
                  </a:txBody>
                  <a:tcPr marL="54864" marR="54864" marT="27432" marB="27432">
                    <a:solidFill>
                      <a:srgbClr val="F6F6F6"/>
                    </a:solidFill>
                  </a:tcPr>
                </a:tc>
              </a:tr>
              <a:tr h="475488">
                <a:tc>
                  <a:txBody>
                    <a:bodyPr wrap="square"/>
                    <a:lstStyle/>
                    <a:p>
                      <a:r>
                        <a:rPr sz="1300" b="0" i="0">
                          <a:solidFill>
                            <a:srgbClr val="1F1F1F"/>
                          </a:solidFill>
                          <a:latin typeface="Arial"/>
                        </a:rPr>
                        <a:t>Variable cost</a:t>
                      </a:r>
                    </a:p>
                  </a:txBody>
                  <a:tcPr marL="54864" marR="54864" marT="27432" marB="27432">
                    <a:solidFill>
                      <a:srgbClr val="FFFFFF"/>
                    </a:solidFill>
                  </a:tcPr>
                </a:tc>
                <a:tc>
                  <a:txBody>
                    <a:bodyPr wrap="square"/>
                    <a:lstStyle/>
                    <a:p>
                      <a:r>
                        <a:rPr sz="1300" b="0" i="0">
                          <a:solidFill>
                            <a:srgbClr val="1F1F1F"/>
                          </a:solidFill>
                          <a:latin typeface="Arial"/>
                        </a:rPr>
                        <a:t>$1.19 B</a:t>
                      </a:r>
                    </a:p>
                  </a:txBody>
                  <a:tcPr marL="54864" marR="54864" marT="27432" marB="27432">
                    <a:solidFill>
                      <a:srgbClr val="FFFFFF"/>
                    </a:solidFill>
                  </a:tcPr>
                </a:tc>
                <a:tc>
                  <a:txBody>
                    <a:bodyPr wrap="square"/>
                    <a:lstStyle/>
                    <a:p>
                      <a:r>
                        <a:rPr sz="1300" b="0" i="0">
                          <a:solidFill>
                            <a:srgbClr val="1F1F1F"/>
                          </a:solidFill>
                          <a:latin typeface="Arial"/>
                        </a:rPr>
                        <a:t>$4.46 B</a:t>
                      </a:r>
                    </a:p>
                  </a:txBody>
                  <a:tcPr marL="54864" marR="54864" marT="27432" marB="27432">
                    <a:solidFill>
                      <a:srgbClr val="FFFFFF"/>
                    </a:solidFill>
                  </a:tcPr>
                </a:tc>
              </a:tr>
              <a:tr h="475488">
                <a:tc>
                  <a:txBody>
                    <a:bodyPr wrap="square"/>
                    <a:lstStyle/>
                    <a:p>
                      <a:r>
                        <a:rPr sz="1300" b="0" i="0">
                          <a:solidFill>
                            <a:srgbClr val="1F1F1F"/>
                          </a:solidFill>
                          <a:latin typeface="Arial"/>
                        </a:rPr>
                        <a:t>True curtailment</a:t>
                      </a:r>
                    </a:p>
                  </a:txBody>
                  <a:tcPr marL="54864" marR="54864" marT="27432" marB="27432">
                    <a:solidFill>
                      <a:srgbClr val="F6F6F6"/>
                    </a:solidFill>
                  </a:tcPr>
                </a:tc>
                <a:tc>
                  <a:txBody>
                    <a:bodyPr wrap="square"/>
                    <a:lstStyle/>
                    <a:p>
                      <a:r>
                        <a:rPr sz="1300" b="0" i="0">
                          <a:solidFill>
                            <a:srgbClr val="1F1F1F"/>
                          </a:solidFill>
                          <a:latin typeface="Arial"/>
                        </a:rPr>
                        <a:t>9.44 M MWh</a:t>
                      </a:r>
                    </a:p>
                  </a:txBody>
                  <a:tcPr marL="54864" marR="54864" marT="27432" marB="27432">
                    <a:solidFill>
                      <a:srgbClr val="F6F6F6"/>
                    </a:solidFill>
                  </a:tcPr>
                </a:tc>
                <a:tc>
                  <a:txBody>
                    <a:bodyPr wrap="square"/>
                    <a:lstStyle/>
                    <a:p>
                      <a:r>
                        <a:rPr sz="1300" b="0" i="0">
                          <a:solidFill>
                            <a:srgbClr val="1F1F1F"/>
                          </a:solidFill>
                          <a:latin typeface="Arial"/>
                        </a:rPr>
                        <a:t>5.92 M MWh</a:t>
                      </a:r>
                    </a:p>
                  </a:txBody>
                  <a:tcPr marL="54864" marR="54864" marT="27432" marB="27432">
                    <a:solidFill>
                      <a:srgbClr val="F6F6F6"/>
                    </a:solidFill>
                  </a:tcPr>
                </a:tc>
              </a:tr>
              <a:tr h="475488">
                <a:tc>
                  <a:txBody>
                    <a:bodyPr wrap="square"/>
                    <a:lstStyle/>
                    <a:p>
                      <a:r>
                        <a:rPr sz="1300" b="0" i="0">
                          <a:solidFill>
                            <a:srgbClr val="1F1F1F"/>
                          </a:solidFill>
                          <a:latin typeface="Arial"/>
                        </a:rPr>
                        <a:t>Nuclear</a:t>
                      </a:r>
                    </a:p>
                  </a:txBody>
                  <a:tcPr marL="54864" marR="54864" marT="27432" marB="27432">
                    <a:solidFill>
                      <a:srgbClr val="FFFFFF"/>
                    </a:solidFill>
                  </a:tcPr>
                </a:tc>
                <a:tc>
                  <a:txBody>
                    <a:bodyPr wrap="square"/>
                    <a:lstStyle/>
                    <a:p>
                      <a:r>
                        <a:rPr sz="1300" b="0" i="0">
                          <a:solidFill>
                            <a:srgbClr val="1F1F1F"/>
                          </a:solidFill>
                          <a:latin typeface="Arial"/>
                        </a:rPr>
                        <a:t>gen-1 cycles (≈ 25 starts)</a:t>
                      </a:r>
                    </a:p>
                  </a:txBody>
                  <a:tcPr marL="54864" marR="54864" marT="27432" marB="27432">
                    <a:solidFill>
                      <a:srgbClr val="FFFFFF"/>
                    </a:solidFill>
                  </a:tcPr>
                </a:tc>
                <a:tc>
                  <a:txBody>
                    <a:bodyPr wrap="square"/>
                    <a:lstStyle/>
                    <a:p>
                      <a:r>
                        <a:rPr sz="1300" b="0" i="0">
                          <a:solidFill>
                            <a:srgbClr val="1F1F1F"/>
                          </a:solidFill>
                          <a:latin typeface="Arial"/>
                        </a:rPr>
                        <a:t>both units on all 8,760 h, 0 starts</a:t>
                      </a:r>
                    </a:p>
                  </a:txBody>
                  <a:tcPr marL="54864" marR="54864" marT="27432" marB="27432">
                    <a:solidFill>
                      <a:srgbClr val="FFFFFF"/>
                    </a:solidFill>
                  </a:tcPr>
                </a:tc>
              </a:tr>
              <a:tr h="475488">
                <a:tc>
                  <a:txBody>
                    <a:bodyPr wrap="square"/>
                    <a:lstStyle/>
                    <a:p>
                      <a:r>
                        <a:rPr sz="1300" b="0" i="0">
                          <a:solidFill>
                            <a:srgbClr val="1F1F1F"/>
                          </a:solidFill>
                          <a:latin typeface="Arial"/>
                        </a:rPr>
                        <a:t>RUC quality</a:t>
                      </a:r>
                    </a:p>
                  </a:txBody>
                  <a:tcPr marL="54864" marR="54864" marT="27432" marB="27432">
                    <a:solidFill>
                      <a:srgbClr val="F6F6F6"/>
                    </a:solidFill>
                  </a:tcPr>
                </a:tc>
                <a:tc>
                  <a:txBody>
                    <a:bodyPr wrap="square"/>
                    <a:lstStyle/>
                    <a:p>
                      <a:r>
                        <a:rPr sz="1300" b="0" i="0">
                          <a:solidFill>
                            <a:srgbClr val="1F1F1F"/>
                          </a:solidFill>
                          <a:latin typeface="Arial"/>
                        </a:rPr>
                        <a:t>TimeLimit races on capped days</a:t>
                      </a:r>
                    </a:p>
                  </a:txBody>
                  <a:tcPr marL="54864" marR="54864" marT="27432" marB="27432">
                    <a:solidFill>
                      <a:srgbClr val="F6F6F6"/>
                    </a:solidFill>
                  </a:tcPr>
                </a:tc>
                <a:tc>
                  <a:txBody>
                    <a:bodyPr wrap="square"/>
                    <a:lstStyle/>
                    <a:p>
                      <a:r>
                        <a:rPr sz="1300" b="0" i="0">
                          <a:solidFill>
                            <a:srgbClr val="1F1F1F"/>
                          </a:solidFill>
                          <a:latin typeface="Arial"/>
                        </a:rPr>
                        <a:t>0 % capped; 1,460 / 1,460 OPTIMAL</a:t>
                      </a:r>
                    </a:p>
                  </a:txBody>
                  <a:tcPr marL="54864" marR="54864" marT="27432" marB="27432">
                    <a:solidFill>
                      <a:srgbClr val="F6F6F6"/>
                    </a:solidFill>
                  </a:tcPr>
                </a:tc>
              </a:tr>
              <a:tr h="475488">
                <a:tc>
                  <a:txBody>
                    <a:bodyPr wrap="square"/>
                    <a:lstStyle/>
                    <a:p>
                      <a:r>
                        <a:rPr sz="1300" b="0" i="0">
                          <a:solidFill>
                            <a:srgbClr val="1F1F1F"/>
                          </a:solidFill>
                          <a:latin typeface="Arial"/>
                        </a:rPr>
                        <a:t>Replicate spread (total cost)</a:t>
                      </a:r>
                    </a:p>
                  </a:txBody>
                  <a:tcPr marL="54864" marR="54864" marT="27432" marB="27432">
                    <a:solidFill>
                      <a:srgbClr val="FFFFFF"/>
                    </a:solidFill>
                  </a:tcPr>
                </a:tc>
                <a:tc>
                  <a:txBody>
                    <a:bodyPr wrap="square"/>
                    <a:lstStyle/>
                    <a:p>
                      <a:r>
                        <a:rPr sz="1300" b="0" i="0">
                          <a:solidFill>
                            <a:srgbClr val="1F1F1F"/>
                          </a:solidFill>
                          <a:latin typeface="Arial"/>
                        </a:rPr>
                        <a:t>±$80M bimodal</a:t>
                      </a:r>
                    </a:p>
                  </a:txBody>
                  <a:tcPr marL="54864" marR="54864" marT="27432" marB="27432">
                    <a:solidFill>
                      <a:srgbClr val="FFFFFF"/>
                    </a:solidFill>
                  </a:tcPr>
                </a:tc>
                <a:tc>
                  <a:txBody>
                    <a:bodyPr wrap="square"/>
                    <a:lstStyle/>
                    <a:p>
                      <a:r>
                        <a:rPr sz="1300" b="0" i="0">
                          <a:solidFill>
                            <a:srgbClr val="1F1F1F"/>
                          </a:solidFill>
                          <a:latin typeface="Arial"/>
                        </a:rPr>
                        <a:t>0 (4 runs byte-identical)</a:t>
                      </a:r>
                    </a:p>
                  </a:txBody>
                  <a:tcPr marL="54864" marR="54864" marT="27432" marB="27432">
                    <a:solidFill>
                      <a:srgbClr val="FFFFFF"/>
                    </a:solidFill>
                  </a:tcPr>
                </a:tc>
              </a:tr>
            </a:tbl>
          </a:graphicData>
        </a:graphic>
      </p:graphicFrame>
      <p:sp>
        <p:nvSpPr>
          <p:cNvPr id="7" name="TextBox 6"/>
          <p:cNvSpPr txBox="1"/>
          <p:nvPr/>
        </p:nvSpPr>
        <p:spPr>
          <a:xfrm>
            <a:off x="7498079" y="1234440"/>
            <a:ext cx="4206240" cy="3931920"/>
          </a:xfrm>
          <a:prstGeom prst="rect">
            <a:avLst/>
          </a:prstGeom>
          <a:noFill/>
        </p:spPr>
        <p:txBody>
          <a:bodyPr wrap="square" anchor="t" lIns="45720" rIns="45720" tIns="27432" bIns="27432">
            <a:spAutoFit/>
          </a:bodyPr>
          <a:lstStyle/>
          <a:p>
            <a:pPr algn="l">
              <a:lnSpc>
                <a:spcPct val="105000"/>
              </a:lnSpc>
              <a:spcAft>
                <a:spcPts val="600"/>
              </a:spcAft>
            </a:pPr>
            <a:r>
              <a:rPr sz="1300" b="1" i="0">
                <a:solidFill>
                  <a:srgbClr val="1F1F1F"/>
                </a:solidFill>
                <a:latin typeface="Arial"/>
              </a:rPr>
              <a:t>•  Nuclear is baseload on v2. This informs NXT-D6.</a:t>
            </a:r>
          </a:p>
          <a:p>
            <a:pPr algn="l">
              <a:lnSpc>
                <a:spcPct val="105000"/>
              </a:lnSpc>
              <a:spcAft>
                <a:spcPts val="600"/>
              </a:spcAft>
            </a:pPr>
            <a:r>
              <a:rPr sz="1300" b="0" i="0">
                <a:solidFill>
                  <a:srgbClr val="1F1F1F"/>
                </a:solidFill>
                <a:latin typeface="Arial"/>
              </a:rPr>
              <a:t>•  Wave-D site rule (4fb3b1f, text unchanged): ruler = 0, so the top 6 by rank: sites 163, 140, 146, 270, 110, 274.</a:t>
            </a:r>
          </a:p>
          <a:p>
            <a:pPr algn="l">
              <a:lnSpc>
                <a:spcPct val="105000"/>
              </a:lnSpc>
              <a:spcAft>
                <a:spcPts val="600"/>
              </a:spcAft>
            </a:pPr>
            <a:r>
              <a:rPr sz="1300" b="0" i="0">
                <a:solidFill>
                  <a:srgbClr val="1F1F1F"/>
                </a:solidFill>
                <a:latin typeface="Arial"/>
              </a:rPr>
              <a:t>•  Smallest gen_pmax of the six: 185.4 MW.</a:t>
            </a:r>
          </a:p>
          <a:p>
            <a:pPr algn="l">
              <a:lnSpc>
                <a:spcPct val="105000"/>
              </a:lnSpc>
              <a:spcAft>
                <a:spcPts val="600"/>
              </a:spcAft>
            </a:pPr>
            <a:r>
              <a:rPr sz="1300" b="0" i="0">
                <a:solidFill>
                  <a:srgbClr val="1F1F1F"/>
                </a:solidFill>
                <a:latin typeface="Arial"/>
              </a:rPr>
              <a:t>•  Proposed sizes 60 / 120 / 180 MW (absolute, PI 10-08): 6 sites × 3 + nuclear × 3 = 21 rows.</a:t>
            </a:r>
          </a:p>
          <a:p>
            <a:pPr algn="l">
              <a:lnSpc>
                <a:spcPct val="105000"/>
              </a:lnSpc>
              <a:spcAft>
                <a:spcPts val="600"/>
              </a:spcAft>
            </a:pPr>
            <a:r>
              <a:rPr sz="1300" b="0" i="0">
                <a:solidFill>
                  <a:srgbClr val="1F1F1F"/>
                </a:solidFill>
                <a:latin typeface="Arial"/>
              </a:rPr>
              <a:t>•  On nuclear, 60 MW is ω ≈ 0.025. The nuclear rows compare against the sites; they do not sweep nuclear.</a:t>
            </a:r>
          </a:p>
        </p:txBody>
      </p:sp>
      <p:sp>
        <p:nvSpPr>
          <p:cNvPr id="8" name="Rounded Rectangle 7"/>
          <p:cNvSpPr/>
          <p:nvPr/>
        </p:nvSpPr>
        <p:spPr>
          <a:xfrm>
            <a:off x="457200" y="5257800"/>
            <a:ext cx="11247120" cy="77724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5303520"/>
            <a:ext cx="10972800" cy="685800"/>
          </a:xfrm>
          <a:prstGeom prst="rect">
            <a:avLst/>
          </a:prstGeom>
          <a:noFill/>
        </p:spPr>
        <p:txBody>
          <a:bodyPr wrap="square" anchor="ctr" lIns="45720" rIns="45720" tIns="27432" bIns="27432">
            <a:spAutoFit/>
          </a:bodyPr>
          <a:lstStyle/>
          <a:p>
            <a:pPr algn="l">
              <a:lnSpc>
                <a:spcPct val="105000"/>
              </a:lnSpc>
              <a:spcAft>
                <a:spcPts val="300"/>
              </a:spcAft>
            </a:pPr>
            <a:r>
              <a:rPr sz="1400" b="0" i="0">
                <a:solidFill>
                  <a:srgbClr val="1F1F1F"/>
                </a:solidFill>
                <a:latin typeface="Arial"/>
              </a:rPr>
              <a:t>Next: Kay confirms the sizes → 36 builds wave D (21 full-year runs, ≈ 1–2 days on CRC) → AIChE figures 10-22 → 10-31.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ctr"/>
          <a:lstStyle/>
          <a:p>
            <a:pPr algn="l"/>
            <a:r>
              <a:rPr sz="2400" b="1" i="0">
                <a:solidFill>
                  <a:srgbClr val="0C2340"/>
                </a:solidFill>
                <a:latin typeface="Arial"/>
              </a:rPr>
              <a:t>Methods track: prompts 35 and 37</a:t>
            </a:r>
          </a:p>
        </p:txBody>
      </p:sp>
      <p:sp>
        <p:nvSpPr>
          <p:cNvPr id="3" name="Slide Number Placeholder 2"/>
          <p:cNvSpPr>
            <a:spLocks noGrp="1"/>
          </p:cNvSpPr>
          <p:nvPr>
            <p:ph type="sldNum" idx="12"/>
          </p:nvPr>
        </p:nvSpPr>
        <p:spPr/>
        <p:txBody>
          <a:bodyPr/>
          <a:p>
            <a:pPr algn="r"/>
            <a:fld id="{B6F15528-21DE-4FAA-801E-634DDDAF4B2B}" type="slidenum">
              <a:rPr lang="en-US" sz="1000">
                <a:latin typeface="Arial"/>
              </a:rPr>
              <a:t>#</a:t>
            </a:fld>
          </a:p>
        </p:txBody>
      </p:sp>
      <p:sp>
        <p:nvSpPr>
          <p:cNvPr id="4" name="TextBox 3"/>
          <p:cNvSpPr txBox="1"/>
          <p:nvPr/>
        </p:nvSpPr>
        <p:spPr>
          <a:xfrm>
            <a:off x="1508760" y="6473952"/>
            <a:ext cx="7589520" cy="274320"/>
          </a:xfrm>
          <a:prstGeom prst="rect">
            <a:avLst/>
          </a:prstGeom>
          <a:noFill/>
        </p:spPr>
        <p:txBody>
          <a:bodyPr wrap="square" anchor="t" lIns="45720" rIns="45720" tIns="27432" bIns="27432">
            <a:spAutoFit/>
          </a:bodyPr>
          <a:lstStyle/>
          <a:p>
            <a:pPr algn="l">
              <a:lnSpc>
                <a:spcPct val="105000"/>
              </a:lnSpc>
              <a:spcAft>
                <a:spcPts val="400"/>
              </a:spcAft>
            </a:pPr>
            <a:r>
              <a:rPr sz="900" b="0" i="0">
                <a:solidFill>
                  <a:srgbClr val="6B6B6B"/>
                </a:solidFill>
                <a:latin typeface="Arial"/>
              </a:rPr>
              <a:t>BO campaign quality report · update 2026-10-13</a:t>
            </a:r>
          </a:p>
        </p:txBody>
      </p:sp>
      <p:sp>
        <p:nvSpPr>
          <p:cNvPr id="5" name="TextBox 4"/>
          <p:cNvSpPr txBox="1"/>
          <p:nvPr/>
        </p:nvSpPr>
        <p:spPr>
          <a:xfrm>
            <a:off x="457200" y="1188720"/>
            <a:ext cx="5486400" cy="411480"/>
          </a:xfrm>
          <a:prstGeom prst="rect">
            <a:avLst/>
          </a:prstGeom>
          <a:noFill/>
        </p:spPr>
        <p:txBody>
          <a:bodyPr wrap="square" anchor="t" lIns="45720" rIns="45720" tIns="27432" bIns="27432">
            <a:spAutoFit/>
          </a:bodyPr>
          <a:lstStyle/>
          <a:p>
            <a:pPr algn="l">
              <a:lnSpc>
                <a:spcPct val="105000"/>
              </a:lnSpc>
              <a:spcAft>
                <a:spcPts val="400"/>
              </a:spcAft>
            </a:pPr>
            <a:r>
              <a:rPr sz="1700" b="1" i="0">
                <a:solidFill>
                  <a:srgbClr val="0C2340"/>
                </a:solidFill>
                <a:latin typeface="Arial"/>
              </a:rPr>
              <a:t>35  Methods arms (scenario C)</a:t>
            </a:r>
          </a:p>
        </p:txBody>
      </p:sp>
      <p:sp>
        <p:nvSpPr>
          <p:cNvPr id="6" name="TextBox 5"/>
          <p:cNvSpPr txBox="1"/>
          <p:nvPr/>
        </p:nvSpPr>
        <p:spPr>
          <a:xfrm>
            <a:off x="457200" y="1645920"/>
            <a:ext cx="5486400" cy="3108960"/>
          </a:xfrm>
          <a:prstGeom prst="rect">
            <a:avLst/>
          </a:prstGeom>
          <a:noFill/>
        </p:spPr>
        <p:txBody>
          <a:bodyPr wrap="square" anchor="t" lIns="45720" rIns="45720" tIns="27432" bIns="27432">
            <a:spAutoFit/>
          </a:bodyPr>
          <a:lstStyle/>
          <a:p>
            <a:pPr algn="l">
              <a:lnSpc>
                <a:spcPct val="105000"/>
              </a:lnSpc>
              <a:spcAft>
                <a:spcPts val="600"/>
              </a:spcAft>
            </a:pPr>
            <a:r>
              <a:rPr sz="1300" b="0" i="0">
                <a:solidFill>
                  <a:srgbClr val="1F1F1F"/>
                </a:solidFill>
                <a:latin typeface="Arial"/>
              </a:rPr>
              <a:t>•  G1 curtailment closure: PASS. G3: runs ≤ 9.4 h (random_C), BO rounds 16–22 h, acquisition 29 min.</a:t>
            </a:r>
          </a:p>
          <a:p>
            <a:pPr algn="l">
              <a:lnSpc>
                <a:spcPct val="105000"/>
              </a:lnSpc>
              <a:spcAft>
                <a:spcPts val="600"/>
              </a:spcAft>
            </a:pPr>
            <a:r>
              <a:rPr sz="1300" b="0" i="0">
                <a:solidFill>
                  <a:srgbClr val="1F1F1F"/>
                </a:solidFill>
                <a:latin typeface="Arial"/>
              </a:rPr>
              <a:t>•  BoTorch env built on CRC under /groups (home quota is full).</a:t>
            </a:r>
          </a:p>
          <a:p>
            <a:pPr algn="l">
              <a:lnSpc>
                <a:spcPct val="105000"/>
              </a:lnSpc>
              <a:spcAft>
                <a:spcPts val="600"/>
              </a:spcAft>
            </a:pPr>
            <a:r>
              <a:rPr sz="1300" b="0" i="0">
                <a:solidFill>
                  <a:srgbClr val="1F1F1F"/>
                </a:solidFill>
                <a:latin typeface="Arial"/>
              </a:rPr>
              <a:t>•  N1 replay gate: the two-sided test failed HIGH (qNEHVI median 0.9534 &gt; q-ParEGO max 0.9518 at n = 24). Amended to one-sided (≥ q-ParEGO min) → PASS. Disclosed in the paper.</a:t>
            </a:r>
          </a:p>
          <a:p>
            <a:pPr algn="l">
              <a:lnSpc>
                <a:spcPct val="105000"/>
              </a:lnSpc>
              <a:spcAft>
                <a:spcPts val="600"/>
              </a:spcAft>
            </a:pPr>
            <a:r>
              <a:rPr sz="1300" b="0" i="0">
                <a:solidFill>
                  <a:srgbClr val="1F1F1F"/>
                </a:solidFill>
                <a:latin typeface="Arial"/>
              </a:rPr>
              <a:t>•  Launch 1 failed at import (PYTHONNOUSERSITE hid packages in ~/.local). Fixed; relaunched 21:00, the last allowed relaunch.</a:t>
            </a:r>
          </a:p>
        </p:txBody>
      </p:sp>
      <p:sp>
        <p:nvSpPr>
          <p:cNvPr id="7" name="TextBox 6"/>
          <p:cNvSpPr txBox="1"/>
          <p:nvPr/>
        </p:nvSpPr>
        <p:spPr>
          <a:xfrm>
            <a:off x="6217920" y="1188720"/>
            <a:ext cx="5486400" cy="411480"/>
          </a:xfrm>
          <a:prstGeom prst="rect">
            <a:avLst/>
          </a:prstGeom>
          <a:noFill/>
        </p:spPr>
        <p:txBody>
          <a:bodyPr wrap="square" anchor="t" lIns="45720" rIns="45720" tIns="27432" bIns="27432">
            <a:spAutoFit/>
          </a:bodyPr>
          <a:lstStyle/>
          <a:p>
            <a:pPr algn="l">
              <a:lnSpc>
                <a:spcPct val="105000"/>
              </a:lnSpc>
              <a:spcAft>
                <a:spcPts val="400"/>
              </a:spcAft>
            </a:pPr>
            <a:r>
              <a:rPr sz="1700" b="1" i="0">
                <a:solidFill>
                  <a:srgbClr val="0C2340"/>
                </a:solidFill>
                <a:latin typeface="Arial"/>
              </a:rPr>
              <a:t>37  Stop-rule validation (truth known)</a:t>
            </a:r>
          </a:p>
        </p:txBody>
      </p:sp>
      <p:sp>
        <p:nvSpPr>
          <p:cNvPr id="8" name="TextBox 7"/>
          <p:cNvSpPr txBox="1"/>
          <p:nvPr/>
        </p:nvSpPr>
        <p:spPr>
          <a:xfrm>
            <a:off x="6217920" y="1645920"/>
            <a:ext cx="5486400" cy="3108960"/>
          </a:xfrm>
          <a:prstGeom prst="rect">
            <a:avLst/>
          </a:prstGeom>
          <a:noFill/>
        </p:spPr>
        <p:txBody>
          <a:bodyPr wrap="square" anchor="t" lIns="45720" rIns="45720" tIns="27432" bIns="27432">
            <a:spAutoFit/>
          </a:bodyPr>
          <a:lstStyle/>
          <a:p>
            <a:pPr algn="l">
              <a:lnSpc>
                <a:spcPct val="105000"/>
              </a:lnSpc>
              <a:spcAft>
                <a:spcPts val="600"/>
              </a:spcAft>
            </a:pPr>
            <a:r>
              <a:rPr sz="1300" b="0" i="0">
                <a:solidFill>
                  <a:srgbClr val="1F1F1F"/>
                </a:solidFill>
                <a:latin typeface="Arial"/>
              </a:rPr>
              <a:t>•  PREREG + Amendment 1: 400 local 6-D random runs quarantined; all 6-D work on CRC.</a:t>
            </a:r>
          </a:p>
          <a:p>
            <a:pPr algn="l">
              <a:lnSpc>
                <a:spcPct val="105000"/>
              </a:lnSpc>
              <a:spcAft>
                <a:spcPts val="600"/>
              </a:spcAft>
            </a:pPr>
            <a:r>
              <a:rPr sz="1300" b="0" i="0">
                <a:solidFill>
                  <a:srgbClr val="1F1F1F"/>
                </a:solidFill>
                <a:latin typeface="Arial"/>
              </a:rPr>
              <a:t>•  Truth files: sha256 verified on CRC. Random-number fingerprint identical on Mac and CRC envs.</a:t>
            </a:r>
          </a:p>
          <a:p>
            <a:pPr algn="l">
              <a:lnSpc>
                <a:spcPct val="105000"/>
              </a:lnSpc>
              <a:spcAft>
                <a:spcPts val="600"/>
              </a:spcAft>
            </a:pPr>
            <a:r>
              <a:rPr sz="1300" b="0" i="0">
                <a:solidFill>
                  <a:srgbClr val="1F1F1F"/>
                </a:solidFill>
                <a:latin typeface="Arial"/>
              </a:rPr>
              <a:t>•  1,540 tasks: q-ParEGO, qNEHVI and random on 2-D replay grids (method comparison) and 6-D emulator truths (stop-rule test).</a:t>
            </a:r>
          </a:p>
        </p:txBody>
      </p:sp>
      <p:sp>
        <p:nvSpPr>
          <p:cNvPr id="9" name="Rounded Rectangle 8"/>
          <p:cNvSpPr/>
          <p:nvPr/>
        </p:nvSpPr>
        <p:spPr>
          <a:xfrm>
            <a:off x="457200" y="4983480"/>
            <a:ext cx="11247120" cy="1051560"/>
          </a:xfrm>
          <a:prstGeom prst="roundRect">
            <a:avLst>
              <a:gd name="adj" fmla="val 4000"/>
            </a:avLst>
          </a:prstGeom>
          <a:solidFill>
            <a:srgbClr val="FDF6E3"/>
          </a:solidFill>
          <a:ln w="9525">
            <a:solidFill>
              <a:srgbClr val="AE93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5029200"/>
            <a:ext cx="10972800" cy="960120"/>
          </a:xfrm>
          <a:prstGeom prst="rect">
            <a:avLst/>
          </a:prstGeom>
          <a:noFill/>
        </p:spPr>
        <p:txBody>
          <a:bodyPr wrap="square" anchor="ctr" lIns="45720" rIns="45720" tIns="27432" bIns="27432">
            <a:spAutoFit/>
          </a:bodyPr>
          <a:lstStyle/>
          <a:p>
            <a:pPr algn="l">
              <a:lnSpc>
                <a:spcPct val="105000"/>
              </a:lnSpc>
              <a:spcAft>
                <a:spcPts val="300"/>
              </a:spcAft>
            </a:pPr>
            <a:r>
              <a:rPr sz="1400" b="1" i="0">
                <a:solidFill>
                  <a:srgbClr val="0C2340"/>
                </a:solidFill>
                <a:latin typeface="Arial"/>
              </a:rPr>
              <a:t>CRC lessons (10-12/13)</a:t>
            </a:r>
          </a:p>
          <a:p>
            <a:pPr algn="l">
              <a:lnSpc>
                <a:spcPct val="105000"/>
              </a:lnSpc>
              <a:spcAft>
                <a:spcPts val="300"/>
              </a:spcAft>
            </a:pPr>
            <a:r>
              <a:rPr sz="1300" b="0" i="0">
                <a:solidFill>
                  <a:srgbClr val="1F1F1F"/>
                </a:solidFill>
                <a:latin typeface="Arial"/>
              </a:rPr>
              <a:t>Envs go under /groups. Test the real entry-path import, not a shallow import. A build-only check over the whole lattice catches patch bugs before a 7 h queue.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Words>
  <Application>Microsoft Macintosh PowerPoint</Application>
  <PresentationFormat>Widescreen</PresentationFormat>
  <Paragraphs>31</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Kay: Status of Week’s Goals</vt:lpstr>
      <vt:lpstr>Kay: One Cool Result</vt:lpstr>
      <vt:lpstr>Kay: Plans for the Next 2 Weeks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alex@dowlinglab.org</dc:creator>
  <cp:lastModifiedBy>Kay Lu</cp:lastModifiedBy>
  <cp:revision>1</cp:revision>
  <dcterms:created xsi:type="dcterms:W3CDTF">2018-06-25T12:14:03Z</dcterms:created>
  <dcterms:modified xsi:type="dcterms:W3CDTF">2026-04-28T08:06:29Z</dcterms:modified>
</cp:coreProperties>
</file>