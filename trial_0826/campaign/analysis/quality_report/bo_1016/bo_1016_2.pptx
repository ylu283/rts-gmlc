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6" r:id="rId2"/>
    <p:sldId id="260" r:id="rId3"/>
    <p:sldId id="261" r:id="rId4"/>
    <p:sldId id="275" r:id="rId5"/>
    <p:sldId id="276" r:id="rId6"/>
    <p:sldId id="263" r:id="rId7"/>
    <p:sldId id="265" r:id="rId8"/>
    <p:sldId id="267" r:id="rId9"/>
    <p:sldId id="268" r:id="rId10"/>
    <p:sldId id="270" r:id="rId11"/>
    <p:sldId id="271" r:id="rId12"/>
    <p:sldId id="272" r:id="rId13"/>
    <p:sldId id="282" r:id="rId14"/>
    <p:sldId id="290" r:id="rId15"/>
    <p:sldId id="291" r:id="rId16"/>
    <p:sldId id="274"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iLeGLuJJqaV9rv4rreQQA/E1vi0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9858A5-3A9D-437B-AAF5-A56A1AD87D24}">
  <a:tblStyle styleId="{6F9858A5-3A9D-437B-AAF5-A56A1AD87D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19ECB45-BCAC-4C38-B241-BF78F6F0C62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78"/>
    <p:restoredTop sz="85566"/>
  </p:normalViewPr>
  <p:slideViewPr>
    <p:cSldViewPr snapToGrid="0">
      <p:cViewPr varScale="1">
        <p:scale>
          <a:sx n="107" d="100"/>
          <a:sy n="107" d="100"/>
        </p:scale>
        <p:origin x="384"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57" Type="http://schemas.openxmlformats.org/officeDocument/2006/relationships/presProps" Target="presProps.xml"/><Relationship Id="rId10" Type="http://schemas.openxmlformats.org/officeDocument/2006/relationships/slide" Target="slides/slide9.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56" Type="http://customschemas.google.com/relationships/presentationmetadata" Target="NUL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Kay's wording 10-16. Rehearsal detail if asked: three decisions needed today = seed-study start size (NXT-D10a), tuned grading GP (NXT-D10b), seed count 5 vs 10 (1014-D1). GTEP: coal case solved on CRC 10-12 (5/6 optimal &lt;= 1%, B1 accepted at 2.93% gap); PCM on the 2035 fleets awaits two data choices (generator parameters, load basis). Sources: pi-agenda.md §4; living-report-gtep.md. Verbal reconciliations for the recap wording (review 10-16): 'ERCOT figures freeze next week' — figure WORK starts 10-22, the freeze itself is 11-01 (slide 17); '5-10 seed BO (still running)' — 3 trajectories are live + P1 complete; the 5-vs-10 count is today's decision, the full study has not launched.</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criteria.json: E1 I(32to48) curt 0.470, cost 0.331 vs 1/3-rule 0.153/0.163 and 0.25 cap; E2 winner cov95 44/44/47 in [43,48]; Spearman &gt;= 0.94 all objectives. Shed: 22/48 holdout rows below the 3,000 MWh floor. If asked why the 1/3 rule is the right bar: pre-registered geometric-convergence proxy (next 16 points should buy &lt; 1/3 of what the last 16 bought); the 0.25 cap is a second independent bar; and at 48 the error is still ~5x the noise floor on curt/cost — the verdict survives any reasonable bar. If asked how a noise-limited shed GP drove a 3-objective BO: at explored designs shed is near-binary (the 22.4 MWh floor event vs nonzero); the GP captures that ordering, and Q2 (slide 15) shows the residual shed is PEM-independent — acquisition pressure correctly shifted to curt/cost. If asked 'your agenda said 3.0x at 48, the slide says 5.0x': the agenda quoted the in-sample LOO curve (curt 17.1-6.6-3.0); this slide is the stricter untouched-48-design holdout (17.4-9.4-5.0). The holdout is the honest number; both fail E1 the same way.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make_fig_parity.py</a:t>
            </a:r>
            <a:r>
              <a:rPr dirty="0"/>
              <a:t>: re-plot of the prompt-39 holdout scores (role=default); asserts </a:t>
            </a:r>
            <a:r>
              <a:rPr dirty="0" err="1"/>
              <a:t>rmse_over_floor</a:t>
            </a:r>
            <a:r>
              <a:rPr dirty="0"/>
              <a:t> matches </a:t>
            </a:r>
            <a:r>
              <a:rPr dirty="0" err="1"/>
              <a:t>holdout_results.csv</a:t>
            </a:r>
            <a:r>
              <a:rPr dirty="0"/>
              <a:t> to 1e-9 and cov95 exactly, per panel, before drawing. If asked why the shed bars are so wide: the predictive </a:t>
            </a:r>
            <a:r>
              <a:rPr dirty="0" err="1"/>
              <a:t>sd</a:t>
            </a:r>
            <a:r>
              <a:rPr dirty="0"/>
              <a:t> includes the floor-constrained noise (3,000 MWh) — the signal itself sits below the floor.</a:t>
            </a:r>
          </a:p>
          <a:p>
            <a:endParaRPr dirty="0"/>
          </a:p>
          <a:p>
            <a:r>
              <a:rPr dirty="0"/>
              <a:t>WHY SOME BARS ARE LARGE (STE-100, read as needed). The bar width is 1.96 x the GP's predictive standard deviation. The predictive variance is the sum of two parts: model uncertainty (distance from the training data) plus observation noise (&gt;= floor). Three mechanisms: (1) A design far from the training data gets a long bar; a design near a training cluster gets a short bar. This is why bars differ inside one curtailment or cost panel, and why all bars shrink from 16 to 32 to 48 points. More points repair this. (2) The shed noise cannot go below the 3,000 MWh floor, so each shed bar is at least +/-6,000 MWh at every design. The full row is uniformly wide. This is our conservative assumption, not a GP failure; more points cannot repair it (the no-floor panels prove it: bars shrink 6x). (3) On the winner slide, the shed GP works on a log scale; the same log width becomes a percentage band in MWh, so bars explode for large predictions. This is a scale effect, not more noise; the coverage stays almost the same. Fast read: width varies with position = data-limited, buy points; full row wide = noise-limited, the floor speaks; bars explode with the prediction = log-scale effect, trust the coverage numbers.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make_fig_parity_winner.py; fits.json winners; all 9 panels assert rmse_over_floor (1e-9) + cov95 (exact) vs holdout_results.csv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a:p>
          <a:p>
            <a:r>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DA63-64E8-CDCD-0C0A-176333FC4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E078D-692E-2093-D1F5-9C50C10227EA}"/>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174AD002-4BCE-453B-CA31-B944FF2EBBB5}"/>
              </a:ext>
            </a:extLst>
          </p:cNvPr>
          <p:cNvSpPr>
            <a:spLocks noGrp="1"/>
          </p:cNvSpPr>
          <p:nvPr>
            <p:ph type="body" idx="1"/>
          </p:nvPr>
        </p:nvSpPr>
        <p:spPr/>
        <p:txBody>
          <a:bodyPr/>
          <a:lstStyle/>
          <a:p>
            <a:r>
              <a:rPr dirty="0" err="1"/>
              <a:t>make_fig_parity_winner.py</a:t>
            </a:r>
            <a:r>
              <a:rPr dirty="0"/>
              <a:t>; </a:t>
            </a:r>
            <a:r>
              <a:rPr dirty="0" err="1"/>
              <a:t>fits.json</a:t>
            </a:r>
            <a:r>
              <a:rPr dirty="0"/>
              <a:t> winners; all 9 panels assert </a:t>
            </a:r>
            <a:r>
              <a:rPr dirty="0" err="1"/>
              <a:t>rmse_over_floor</a:t>
            </a:r>
            <a:r>
              <a:rPr dirty="0"/>
              <a:t> (1e-9) + cov95 (exact) vs </a:t>
            </a:r>
            <a:r>
              <a:rPr dirty="0" err="1"/>
              <a:t>holdout_results.csv</a:t>
            </a:r>
            <a:r>
              <a:rPr dirty="0"/>
              <a:t> role=winner. Read vs the previous slide: tuning buys accuracy on curt/cost at 32/48 but NOT a replacement for more points (winner@32 curt 7.3 is still worse than default@48 5.0); shed unchanged (noise-limited); winner log1p shed upper quantiles explode (bars clipped at the data range).</a:t>
            </a:r>
          </a:p>
          <a:p>
            <a:endParaRPr dirty="0"/>
          </a:p>
          <a:p>
            <a:r>
              <a:rPr dirty="0"/>
              <a:t>PLAIN-ENGLISH REHEARSAL (STE-100). Why the shed row looks messy: The bars are not new noise. They show the same noise floor as before. The winner GP for shed works on a log scale. The default GP works on a linear scale. On a linear scale, the noise floor is a constant band (about +/-6,000 MWh per bar). On a log scale, the noise floor is a percentage. The bar grows with the predicted value. For a design with near-zero shed, the bar is small. For a design with large shed, the bar is very large; the plot cuts these bars at the frame. The model is not worse: coverage is almost the same (44/48 vs 47/48). Why we accept this configuration: We fixed the selection rule before any test. The rule used only the 32 training points; the holdout stayed untouched. The winner is more accurate on curtailment (9.4 -&gt; 7.3 x floor) and on cost (7.9 -&gt; 5.0 x floor). It repairs the round-3 audit (5/8 -&gt; 8/8). Shed does not change in practice: shed error is below the noise floor for both models, and the large shed bars change no decision. We use the winner only to grade and to predict; the BO search path does not change. A percentage noise band agrees with the simulator (quiet at zero shed, noisy at large shed), but it is too wide at the top; a better noise model is future work.</a:t>
            </a:r>
          </a:p>
        </p:txBody>
      </p:sp>
      <p:sp>
        <p:nvSpPr>
          <p:cNvPr id="4" name="Slide Number Placeholder 3">
            <a:extLst>
              <a:ext uri="{FF2B5EF4-FFF2-40B4-BE49-F238E27FC236}">
                <a16:creationId xmlns:a16="http://schemas.microsoft.com/office/drawing/2014/main" id="{29A74694-71CF-4219-117E-559ACB4A7A2B}"/>
              </a:ext>
            </a:extLst>
          </p:cNvPr>
          <p:cNvSpPr>
            <a:spLocks noGrp="1"/>
          </p:cNvSpPr>
          <p:nvPr>
            <p:ph type="sldNum" idx="12"/>
          </p:nvPr>
        </p:nvSpPr>
        <p:spPr/>
      </p:sp>
    </p:spTree>
    <p:extLst>
      <p:ext uri="{BB962C8B-B14F-4D97-AF65-F5344CB8AC3E}">
        <p14:creationId xmlns:p14="http://schemas.microsoft.com/office/powerpoint/2010/main" val="1003230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part_h_loocv.csv (main-effects + best-combo design, 19 config-objective fits, LOO NLPD rule); hbo_cell.json; fits.json committed 07:34 UTC, first holdout call after. Proposal: adopt winner for grading/prediction only; acquisition untouched (NXT-D10b). H-BO cell mean_z: default 1.426 -&gt; winner 0.967. If asked 'tuned-32 is still worse than default-48 — why not just use 48?': they fix different pathologies — tuning repairs late-round COVERAGE (5/8 -&gt; 8/8), more points buy ACCURACY (winner 7.3x floor at 32 vs default 5.0x at 48); we propose both — tuned grading now, 48-point final paper surrogate (the D10a rider). Figure added 10-16 on Kay's ask: tuning before/after at n0=32 on the holdout — default (gray) vs pre-committed winner (blue). curt 9.40-&gt;7.32, cost 7.88-&gt;4.99, shed 0.76-&gt;0.82 (worse; noise-limited, hyperparameters cannot beat the floor; winner's log1p upper quantiles explode on shed - bars clipped). The parity slides earlier in the deck use the PRE-tuning campaign-default GP (m52+std) throughout - deliberately, to show the GP as deployed.</a:t>
            </a:r>
          </a:p>
          <a:p>
            <a:endParaRPr/>
          </a:p>
          <a:p>
            <a:r>
              <a:t>WHAT EXACTLY WAS THE TUNING STUDY (STE-100, read as needed). Search space, 4 axes: kernel Matern-5/2 (campaign default) vs RBF vs Matern-3/2; output transform std vs log1p; noise inferred (floor = lower bound) vs fixed-at-floor; lengthscale prior none (bo-gp default) vs BoTorch default Gamma(3,6). We did not run the full factorial. We used a main-effects + best-combo design: 19 config x objective fits (record: part_h_loocv.csv). Selection rule, pre-registered: leave-one-out on the 32 training points only; rank by LOO NLPD in original units (NLPD penalizes bad accuracy and bad calibration); ties within 0.02 nats break by LOO RMSE. We committed the winners to fits.json before the first holdout call (07:34 UTC). Winners: shed rbf+log1p (new kernel + new transform); curt rbf+log1p (same two changes); cost rbf (new kernel only, std unchanged).</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decision text: pi-agenda.md NXT-D10 (rigorous + plain versions). If asked 'if the curve is still descending at 48, why not 64?': the nested Sobol extends by construction — draws 49-64 are already defined, so a 64-point tier for seed 0 costs +16 runs ≈ 240 core-h and lets E1 be re-run at 48→64: if I(48→64) passes the 1/3-rule, 48 is certified as the final surrogate; if not, we learn the curve's slope. Proposed as a cheap one-seed add-on decided after the seed study launches — it does not gate anything today.</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err="1"/>
              <a:t>methods_C</a:t>
            </a:r>
            <a:r>
              <a:rPr dirty="0"/>
              <a:t>/P1/</a:t>
            </a:r>
            <a:r>
              <a:rPr dirty="0" err="1"/>
              <a:t>ledger.json</a:t>
            </a:r>
            <a:r>
              <a:rPr dirty="0"/>
              <a:t>; r4 graded on CRC (a8df435). </a:t>
            </a:r>
            <a:r>
              <a:rPr dirty="0" err="1"/>
              <a:t>τ</a:t>
            </a:r>
            <a:r>
              <a:rPr dirty="0"/>
              <a:t> = 5.263e16. Strategy-session preview reproduced every graded entry to </a:t>
            </a:r>
            <a:r>
              <a:rPr dirty="0" err="1"/>
              <a:t>relerr</a:t>
            </a:r>
            <a:r>
              <a:rPr dirty="0"/>
              <a:t> ≤ 2e-16 before the official grading landed; official numbers matched digit-for-digit.</a:t>
            </a:r>
          </a:p>
          <a:p>
            <a:endParaRPr dirty="0"/>
          </a:p>
          <a:p>
            <a:r>
              <a:rPr dirty="0"/>
              <a:t>TALK TRACK (60 s). The rule was fixed before the campaign: stop after two rounds in a row gain less than tau, a threshold set from the measured simulator noise. Dark line = live campaign: r1 gained 0.69 tau (strike one), r2 gained 0.17 tau (strike two) -&gt; stop at 48 evaluations (10-10). A rule that fires once proves little, so we ran two more rounds as record-only overrun (gray tail): r3 0.62 tau, r4 0.30 tau, both below the bar, both graded officially on CRC. Right plot: all four bars sit under the red line. Ignoring the rule for 16 extra runs bought +6.9% HV, every increment sub-threshold - exactly the spend the rule exists to refuse. P1 complete at the hard cap. Q&amp;A: 'Isn't 6.9% worth having?' - tau is the pre-registered definition of worth-it, set from noise and run cost; every post-stop increment was below it; if 6.9% feels valuable, adjust tau for the next campaign, do not override the rule after seeing the data. 'The gray line still rises?' - more runs always add some HV; the rule tests the RATE, not the direction. 'Is one trajectory enough?' - no, that is Act 2: the seed study replicates the rule across fresh starts, and the prompt-37 suite measures early/late-stop rates on truth-known problems.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Ledgers: P2 r1 2.2773 τ (b46d66b), P3 r1 0.7697 τ (6fdfc93), N1 r1 1.43 τ. N1 r2 preview from the validated strategy-session HV replication (matched every graded entry to relerr &lt;= 2e-16; P1 r4 official matched digit-for-digit) — divergence would mean a grading-infra bug, not a science change. If asked 'what if a seed never stops before the cap?': that IS the readout — the distribution of stop rounds; the hard cap bounds worst-case cost at ~1k core-h per seed. If asked 'P3 is sub-tau at r1 — will it stop at r2, and does the rule allow so short a campaign?': yes — P3 holds strike 1; a second sub-tau round stops it, and an early stop is a legitimate datum in the stop-round distribution. And r1 gain is NOT the extension-trigger input: the pre-committed trigger reads the HV-at-stop range (25% of mean gain), computed only once seeds stop.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MECHANISM.md (261bed4): verdict table + two paper-ready paragraphs. Paper wording change: 'zero shed' → '≤ 22.4 MWh/yr, one PEM-independent commitment-limited event'. Spoken framing if useful: the day-ahead commitment stops trusting free wind. If asked 'is this a Prescient / cost-based-RUC artifact?': the mechanism needs only that DA commitment responds to the net-load increase from priced PEM withholding — any RUC formulation with that coupling should reproduce it; a reliability-based-RUC sensitivity is a bounded Discussion item, not new campaign work.</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Full audit: admin/prompt/bogp/debug/fuelmix-check-2026-10-15.md. ERCOT 2019 actuals: gas 47%, coal 20%, wind 20%, nuclear 11% (ERCOT Fact Sheet 11/2020). If asked 'coal dispatches below gas in this dataset — can any ERCOT siting conclusion transfer to the real grid?': siting signals ride on network congestion + local renewable curtailment, which the dataset's transmission topology and wind/PV placement carry; the merit-order quirk shifts WHICH thermal units back down, so we report siting as a TX-123BT in-model result and check robustness via the bid-0 placebo rows in the wave-D design.</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pi-agenda.md carries the rigorous + plain text for every open decision. Scope if the PI counts rows: 1-3 are today's NEW decisions; 4 is a restatement request; 5 is the standing NXT-D7 approval. g1 rehearsal (the PI's memo mentions option (b) flipping a verdict): the base nuclear fuel curve is FLAT — $3,208.99 per committed hour, zero marginal cost above 396 MW — so (a) the old delivered-x-$8.1 framing dissolves; (b) delivered-only is ill-defined and FLIPS the location analysis's nuclear cost slope (a LOCATION.md verdict); (c) restore the deleted curve: +$28.188M/yr CONSTANT in omega — an intercept shift only, every front and slope unchanged. Full text: g1_nuclear_fuel_accounting_PROPOSAL.md + pi-agenda NXT-D7.</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CC5B-C8C6-439C-51F6-E5536A3C2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AFBEE-AD4A-8A7A-887E-02074E4DB7B7}"/>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476BEE59-FB41-5A63-7DA4-1FB37C985C5F}"/>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C8A0EDBC-B13E-457E-199A-2AF571731FC9}"/>
              </a:ext>
            </a:extLst>
          </p:cNvPr>
          <p:cNvSpPr>
            <a:spLocks noGrp="1"/>
          </p:cNvSpPr>
          <p:nvPr>
            <p:ph type="sldNum" idx="12"/>
          </p:nvPr>
        </p:nvSpPr>
        <p:spPr/>
      </p:sp>
    </p:spTree>
    <p:extLst>
      <p:ext uri="{BB962C8B-B14F-4D97-AF65-F5344CB8AC3E}">
        <p14:creationId xmlns:p14="http://schemas.microsoft.com/office/powerpoint/2010/main" val="3284772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47813-46C6-5D9C-7E85-B1D820424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4642C-2B98-37D2-A5B6-494E815C8AC4}"/>
              </a:ext>
            </a:extLst>
          </p:cNvPr>
          <p:cNvSpPr>
            <a:spLocks noGrp="1" noRot="1" noChangeAspect="1"/>
          </p:cNvSpPr>
          <p:nvPr>
            <p:ph type="sldImg" idx="3"/>
          </p:nvPr>
        </p:nvSpPr>
        <p:spPr/>
      </p:sp>
      <p:sp>
        <p:nvSpPr>
          <p:cNvPr id="3" name="Notes Placeholder 2">
            <a:extLst>
              <a:ext uri="{FF2B5EF4-FFF2-40B4-BE49-F238E27FC236}">
                <a16:creationId xmlns:a16="http://schemas.microsoft.com/office/drawing/2014/main" id="{73EE9BDE-E456-F129-C746-0E673AB1B465}"/>
              </a:ext>
            </a:extLst>
          </p:cNvPr>
          <p:cNvSpPr>
            <a:spLocks noGrp="1"/>
          </p:cNvSpPr>
          <p:nvPr>
            <p:ph type="body" idx="1"/>
          </p:nvPr>
        </p:nvSpPr>
        <p:spPr/>
        <p:txBody>
          <a:bodyPr/>
          <a:lstStyle/>
          <a:p>
            <a:r>
              <a:t>Power-systems reviewer 10-12; parameters.py (renewable split), summarize_wave.py:113-116. Hypotheses until checked.</a:t>
            </a:r>
          </a:p>
          <a:p>
            <a:r>
              <a:t>Sources: /Users/yilu/Documents/GitHub/RTS-GMLC/trial_0826/campaign/analysis/bo_stage2/BO_STAGE2.md</a:t>
            </a:r>
          </a:p>
        </p:txBody>
      </p:sp>
      <p:sp>
        <p:nvSpPr>
          <p:cNvPr id="4" name="Slide Number Placeholder 3">
            <a:extLst>
              <a:ext uri="{FF2B5EF4-FFF2-40B4-BE49-F238E27FC236}">
                <a16:creationId xmlns:a16="http://schemas.microsoft.com/office/drawing/2014/main" id="{F1C133F4-E93D-D691-6AE6-01749C595C23}"/>
              </a:ext>
            </a:extLst>
          </p:cNvPr>
          <p:cNvSpPr>
            <a:spLocks noGrp="1"/>
          </p:cNvSpPr>
          <p:nvPr>
            <p:ph type="sldNum" idx="12"/>
          </p:nvPr>
        </p:nvSpPr>
        <p:spPr/>
      </p:sp>
    </p:spTree>
    <p:extLst>
      <p:ext uri="{BB962C8B-B14F-4D97-AF65-F5344CB8AC3E}">
        <p14:creationId xmlns:p14="http://schemas.microsoft.com/office/powerpoint/2010/main" val="872050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make_fig_sdheat.py. Slice axes picked by curtailment ARD lengthscales (wind_303 ls 2.0 — by far the most active; wind_317 5.4). sd is the full predictive sd incl. likelihood noise, in floor units.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5"/>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9" name="Google Shape;2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2"/>
          <p:cNvSpPr>
            <a:spLocks noGrp="1"/>
          </p:cNvSpPr>
          <p:nvPr>
            <p:ph type="pic" idx="2"/>
          </p:nvPr>
        </p:nvSpPr>
        <p:spPr>
          <a:xfrm>
            <a:off x="5183188" y="987425"/>
            <a:ext cx="6172200" cy="4873625"/>
          </a:xfrm>
          <a:prstGeom prst="rect">
            <a:avLst/>
          </a:prstGeom>
          <a:noFill/>
          <a:ln>
            <a:noFill/>
          </a:ln>
        </p:spPr>
      </p:sp>
      <p:sp>
        <p:nvSpPr>
          <p:cNvPr id="67" name="Google Shape;67;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3"/>
          <p:cNvSpPr txBox="1">
            <a:spLocks noGrp="1"/>
          </p:cNvSpPr>
          <p:nvPr>
            <p:ph type="body" idx="1"/>
          </p:nvPr>
        </p:nvSpPr>
        <p:spPr>
          <a:xfrm rot="5400000">
            <a:off x="3493362" y="-2344222"/>
            <a:ext cx="5251035" cy="1198059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8584" y="126586"/>
            <a:ext cx="11980590" cy="787814"/>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128584" y="1020555"/>
            <a:ext cx="11980590" cy="525103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
          <p:cNvSpPr txBox="1">
            <a:spLocks noGrp="1"/>
          </p:cNvSpPr>
          <p:nvPr>
            <p:ph type="sldNum" idx="12"/>
          </p:nvPr>
        </p:nvSpPr>
        <p:spPr>
          <a:xfrm>
            <a:off x="9365974" y="642461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4" name="Google Shape;14;p3"/>
          <p:cNvPicPr preferRelativeResize="0"/>
          <p:nvPr/>
        </p:nvPicPr>
        <p:blipFill rotWithShape="1">
          <a:blip>
            <a:alphaModFix/>
          </a:blip>
          <a:srcRect/>
          <a:stretch/>
        </p:blipFill>
        <p:spPr>
          <a:xfrm>
            <a:off x="128584" y="6507526"/>
            <a:ext cx="1209476" cy="2822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recap</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a:t>
            </a:fld>
            <a:endParaRPr lang="en-US" sz="1000">
              <a:latin typeface="Arial"/>
            </a:endParaRPr>
          </a:p>
        </p:txBody>
      </p:sp>
      <p:sp>
        <p:nvSpPr>
          <p:cNvPr id="4" name="TextBox 3"/>
          <p:cNvSpPr txBox="1"/>
          <p:nvPr/>
        </p:nvSpPr>
        <p:spPr>
          <a:xfrm>
            <a:off x="457200" y="1097280"/>
            <a:ext cx="11247120" cy="2441448"/>
          </a:xfrm>
          <a:prstGeom prst="rect">
            <a:avLst/>
          </a:prstGeom>
          <a:noFill/>
        </p:spPr>
        <p:txBody>
          <a:bodyPr wrap="square" lIns="45720" tIns="27432" rIns="45720" bIns="27432" anchor="t">
            <a:spAutoFit/>
          </a:bodyPr>
          <a:lstStyle/>
          <a:p>
            <a:pPr algn="l">
              <a:lnSpc>
                <a:spcPct val="105000"/>
              </a:lnSpc>
              <a:spcAft>
                <a:spcPts val="800"/>
              </a:spcAft>
            </a:pPr>
            <a:r>
              <a:rPr sz="1300" b="1" i="0">
                <a:solidFill>
                  <a:srgbClr val="1F1F1F"/>
                </a:solidFill>
                <a:latin typeface="Arial"/>
              </a:rPr>
              <a:t>BO</a:t>
            </a:r>
          </a:p>
          <a:p>
            <a:pPr algn="l">
              <a:lnSpc>
                <a:spcPct val="105000"/>
              </a:lnSpc>
              <a:spcAft>
                <a:spcPts val="800"/>
              </a:spcAft>
            </a:pPr>
            <a:r>
              <a:rPr sz="1300" b="1" i="0">
                <a:solidFill>
                  <a:srgbClr val="1F1F1F"/>
                </a:solidFill>
                <a:latin typeface="Arial"/>
              </a:rPr>
              <a:t>•  Last meeting (10-13)</a:t>
            </a:r>
          </a:p>
          <a:p>
            <a:pPr algn="l">
              <a:lnSpc>
                <a:spcPct val="105000"/>
              </a:lnSpc>
              <a:spcAft>
                <a:spcPts val="800"/>
              </a:spcAft>
            </a:pPr>
            <a:r>
              <a:rPr sz="1300" b="0" i="0">
                <a:solidFill>
                  <a:srgbClr val="1F1F1F"/>
                </a:solidFill>
                <a:latin typeface="Arial"/>
              </a:rPr>
              <a:t>•  whether 32 starting points is a good choice for GP &amp; hyperparameter tuning (done)</a:t>
            </a:r>
          </a:p>
          <a:p>
            <a:pPr algn="l">
              <a:lnSpc>
                <a:spcPct val="105000"/>
              </a:lnSpc>
              <a:spcAft>
                <a:spcPts val="800"/>
              </a:spcAft>
            </a:pPr>
            <a:r>
              <a:rPr sz="1300" b="0" i="0">
                <a:solidFill>
                  <a:srgbClr val="1F1F1F"/>
                </a:solidFill>
                <a:latin typeface="Arial"/>
              </a:rPr>
              <a:t>•  5-10 seed BO (still running)</a:t>
            </a:r>
          </a:p>
          <a:p>
            <a:pPr algn="l">
              <a:lnSpc>
                <a:spcPct val="105000"/>
              </a:lnSpc>
              <a:spcAft>
                <a:spcPts val="800"/>
              </a:spcAft>
            </a:pPr>
            <a:r>
              <a:rPr sz="1300" b="0" i="0">
                <a:solidFill>
                  <a:srgbClr val="1F1F1F"/>
                </a:solidFill>
                <a:latin typeface="Arial"/>
              </a:rPr>
              <a:t>•  ERCOT where to build PEM and what size (not started)</a:t>
            </a:r>
          </a:p>
          <a:p>
            <a:pPr algn="l">
              <a:lnSpc>
                <a:spcPct val="105000"/>
              </a:lnSpc>
              <a:spcAft>
                <a:spcPts val="800"/>
              </a:spcAft>
            </a:pPr>
            <a:r>
              <a:rPr sz="1300" b="1" i="0">
                <a:solidFill>
                  <a:srgbClr val="1F1F1F"/>
                </a:solidFill>
                <a:latin typeface="Arial"/>
              </a:rPr>
              <a:t>•  Other projects (no decisions needed today)</a:t>
            </a:r>
          </a:p>
          <a:p>
            <a:pPr algn="l">
              <a:lnSpc>
                <a:spcPct val="105000"/>
              </a:lnSpc>
              <a:spcAft>
                <a:spcPts val="800"/>
              </a:spcAft>
            </a:pPr>
            <a:r>
              <a:rPr sz="1300" b="0" i="0">
                <a:solidFill>
                  <a:srgbClr val="1F1F1F"/>
                </a:solidFill>
                <a:latin typeface="Arial"/>
              </a:rPr>
              <a:t>•  GTEP. Run PCM on the 2035 fleets</a:t>
            </a:r>
          </a:p>
          <a:p>
            <a:pPr algn="l">
              <a:lnSpc>
                <a:spcPct val="105000"/>
              </a:lnSpc>
              <a:spcAft>
                <a:spcPts val="800"/>
              </a:spcAft>
            </a:pPr>
            <a:r>
              <a:rPr sz="1300" b="0" i="0">
                <a:solidFill>
                  <a:srgbClr val="1F1F1F"/>
                </a:solidFill>
                <a:latin typeface="Arial"/>
              </a:rPr>
              <a:t>•  AIChE 2026 talk: ERCOT figures freeze next week.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32 is not sufficient </a:t>
            </a:r>
            <a:r>
              <a:rPr lang="en-US" sz="2400" b="1" i="0" dirty="0">
                <a:solidFill>
                  <a:srgbClr val="0C2340"/>
                </a:solidFill>
                <a:latin typeface="Arial"/>
              </a:rPr>
              <a:t>by looking at</a:t>
            </a:r>
            <a:r>
              <a:rPr sz="2400" b="1" i="0" dirty="0">
                <a:solidFill>
                  <a:srgbClr val="0C2340"/>
                </a:solidFill>
                <a:latin typeface="Arial"/>
              </a:rPr>
              <a:t> the error </a:t>
            </a:r>
            <a:r>
              <a:rPr sz="2400" b="1" i="0" dirty="0" err="1">
                <a:solidFill>
                  <a:srgbClr val="0C2340"/>
                </a:solidFill>
                <a:latin typeface="Arial"/>
              </a:rPr>
              <a:t>curv</a:t>
            </a:r>
            <a:r>
              <a:rPr lang="en-GB" sz="2400" b="1" i="0" dirty="0">
                <a:solidFill>
                  <a:srgbClr val="0C2340"/>
                </a:solidFill>
                <a:latin typeface="Arial"/>
              </a:rPr>
              <a:t>e</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2</a:t>
            </a:fld>
            <a:endParaRPr lang="en-US" sz="1000">
              <a:latin typeface="Arial"/>
            </a:endParaRPr>
          </a:p>
        </p:txBody>
      </p:sp>
      <p:pic>
        <p:nvPicPr>
          <p:cNvPr id="5" name="Picture 4" descr="n0_curve_holdout.png"/>
          <p:cNvPicPr>
            <a:picLocks noChangeAspect="1"/>
          </p:cNvPicPr>
          <p:nvPr/>
        </p:nvPicPr>
        <p:blipFill>
          <a:blip/>
          <a:stretch>
            <a:fillRect/>
          </a:stretch>
        </p:blipFill>
        <p:spPr>
          <a:xfrm>
            <a:off x="969630" y="3020096"/>
            <a:ext cx="9767944" cy="3143125"/>
          </a:xfrm>
          <a:prstGeom prst="rect">
            <a:avLst/>
          </a:prstGeom>
        </p:spPr>
      </p:pic>
      <p:sp>
        <p:nvSpPr>
          <p:cNvPr id="7" name="TextBox 6"/>
          <p:cNvSpPr txBox="1"/>
          <p:nvPr/>
        </p:nvSpPr>
        <p:spPr>
          <a:xfrm>
            <a:off x="336176" y="914400"/>
            <a:ext cx="6879515" cy="1916871"/>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Holdout RMSE / noise floor (default GP)</a:t>
            </a:r>
          </a:p>
          <a:p>
            <a:pPr algn="l">
              <a:lnSpc>
                <a:spcPct val="105000"/>
              </a:lnSpc>
              <a:spcAft>
                <a:spcPts val="600"/>
              </a:spcAft>
            </a:pPr>
            <a:r>
              <a:rPr sz="1250" b="0" i="0" dirty="0">
                <a:solidFill>
                  <a:srgbClr val="1F1F1F"/>
                </a:solidFill>
                <a:latin typeface="Arial"/>
              </a:rPr>
              <a:t>•  curtailment: 17.4</a:t>
            </a:r>
            <a:r>
              <a:rPr lang="en-GB" sz="1250" b="0" i="0" dirty="0">
                <a:solidFill>
                  <a:srgbClr val="1F1F1F"/>
                </a:solidFill>
                <a:latin typeface="Arial"/>
              </a:rPr>
              <a:t>, </a:t>
            </a:r>
            <a:r>
              <a:rPr sz="1250" b="0" i="0" dirty="0">
                <a:solidFill>
                  <a:srgbClr val="1F1F1F"/>
                </a:solidFill>
                <a:latin typeface="Arial"/>
              </a:rPr>
              <a:t>9.4</a:t>
            </a:r>
            <a:r>
              <a:rPr lang="en-GB" sz="1250" b="0" i="0" dirty="0">
                <a:solidFill>
                  <a:srgbClr val="1F1F1F"/>
                </a:solidFill>
                <a:latin typeface="Arial"/>
              </a:rPr>
              <a:t>,</a:t>
            </a:r>
            <a:r>
              <a:rPr sz="1250" b="0" i="0" dirty="0">
                <a:solidFill>
                  <a:srgbClr val="1F1F1F"/>
                </a:solidFill>
                <a:latin typeface="Arial"/>
              </a:rPr>
              <a:t> 5.0</a:t>
            </a:r>
          </a:p>
          <a:p>
            <a:pPr algn="l">
              <a:lnSpc>
                <a:spcPct val="105000"/>
              </a:lnSpc>
              <a:spcAft>
                <a:spcPts val="600"/>
              </a:spcAft>
            </a:pPr>
            <a:r>
              <a:rPr sz="1250" b="0" i="0" dirty="0">
                <a:solidFill>
                  <a:srgbClr val="1F1F1F"/>
                </a:solidFill>
                <a:latin typeface="Arial"/>
              </a:rPr>
              <a:t>•  cost: 15.4</a:t>
            </a:r>
            <a:r>
              <a:rPr lang="en-GB" sz="1250" b="0" i="0" dirty="0">
                <a:solidFill>
                  <a:srgbClr val="1F1F1F"/>
                </a:solidFill>
                <a:latin typeface="Arial"/>
              </a:rPr>
              <a:t>, </a:t>
            </a:r>
            <a:r>
              <a:rPr sz="1250" b="0" i="0" dirty="0">
                <a:solidFill>
                  <a:srgbClr val="1F1F1F"/>
                </a:solidFill>
                <a:latin typeface="Arial"/>
              </a:rPr>
              <a:t>7.9</a:t>
            </a:r>
            <a:r>
              <a:rPr lang="en-GB" sz="1250" b="0" i="0" dirty="0">
                <a:solidFill>
                  <a:srgbClr val="1F1F1F"/>
                </a:solidFill>
                <a:latin typeface="Arial"/>
              </a:rPr>
              <a:t>,</a:t>
            </a:r>
            <a:r>
              <a:rPr sz="1250" b="0" i="0" dirty="0">
                <a:solidFill>
                  <a:srgbClr val="1F1F1F"/>
                </a:solidFill>
                <a:latin typeface="Arial"/>
              </a:rPr>
              <a:t> 5.3</a:t>
            </a:r>
          </a:p>
          <a:p>
            <a:pPr algn="l">
              <a:lnSpc>
                <a:spcPct val="105000"/>
              </a:lnSpc>
              <a:spcAft>
                <a:spcPts val="600"/>
              </a:spcAft>
            </a:pPr>
            <a:r>
              <a:rPr sz="1250" b="0" i="0" dirty="0">
                <a:solidFill>
                  <a:srgbClr val="1F1F1F"/>
                </a:solidFill>
                <a:latin typeface="Arial"/>
              </a:rPr>
              <a:t>•  shed: below floor at every n0 (noise-limited)</a:t>
            </a:r>
            <a:endParaRPr lang="en-GB" sz="1250" b="0" i="0" dirty="0">
              <a:solidFill>
                <a:srgbClr val="1F1F1F"/>
              </a:solidFill>
              <a:latin typeface="Arial"/>
            </a:endParaRPr>
          </a:p>
          <a:p>
            <a:pPr algn="l">
              <a:lnSpc>
                <a:spcPct val="105000"/>
              </a:lnSpc>
              <a:spcAft>
                <a:spcPts val="600"/>
              </a:spcAft>
            </a:pPr>
            <a:r>
              <a:rPr lang="en-US" sz="1250" dirty="0">
                <a:solidFill>
                  <a:srgbClr val="1F1F1F"/>
                </a:solidFill>
              </a:rPr>
              <a:t>- </a:t>
            </a:r>
            <a:r>
              <a:rPr sz="1250" b="0" i="0" dirty="0">
                <a:solidFill>
                  <a:srgbClr val="1F1F1F"/>
                </a:solidFill>
                <a:latin typeface="Arial"/>
              </a:rPr>
              <a:t>the curve is still descending at 48.</a:t>
            </a:r>
          </a:p>
          <a:p>
            <a:pPr algn="l">
              <a:lnSpc>
                <a:spcPct val="105000"/>
              </a:lnSpc>
              <a:spcAft>
                <a:spcPts val="600"/>
              </a:spcAft>
            </a:pPr>
            <a:r>
              <a:rPr sz="1250" b="1" i="0" dirty="0">
                <a:solidFill>
                  <a:srgbClr val="1E8449"/>
                </a:solidFill>
                <a:latin typeface="Arial"/>
              </a:rPr>
              <a:t>•  But 32 </a:t>
            </a:r>
            <a:r>
              <a:rPr lang="en-GB" sz="1250" b="1" i="0" dirty="0">
                <a:solidFill>
                  <a:srgbClr val="1E8449"/>
                </a:solidFill>
                <a:latin typeface="Arial"/>
              </a:rPr>
              <a:t>could navigate</a:t>
            </a:r>
            <a:r>
              <a:rPr sz="1250" b="1" i="0" dirty="0">
                <a:solidFill>
                  <a:srgbClr val="1E8449"/>
                </a:solidFill>
                <a:latin typeface="Arial"/>
              </a:rPr>
              <a:t> BO </a:t>
            </a:r>
            <a:r>
              <a:rPr lang="en-GB" sz="1250" b="1" i="0" dirty="0">
                <a:solidFill>
                  <a:srgbClr val="1E8449"/>
                </a:solidFill>
                <a:latin typeface="Arial"/>
              </a:rPr>
              <a:t>ok</a:t>
            </a:r>
            <a:endParaRPr sz="1250" b="1" i="0" dirty="0">
              <a:solidFill>
                <a:srgbClr val="1E8449"/>
              </a:solidFill>
              <a:latin typeface="Arial"/>
            </a:endParaRPr>
          </a:p>
          <a:p>
            <a:pPr algn="l">
              <a:lnSpc>
                <a:spcPct val="105000"/>
              </a:lnSpc>
              <a:spcAft>
                <a:spcPts val="600"/>
              </a:spcAft>
            </a:pPr>
            <a:r>
              <a:rPr sz="1250" b="0" i="0" dirty="0">
                <a:solidFill>
                  <a:srgbClr val="1F1F1F"/>
                </a:solidFill>
                <a:latin typeface="Arial"/>
              </a:rPr>
              <a:t>•  ranking Spearman ≥ 0.94; </a:t>
            </a:r>
            <a:r>
              <a:rPr lang="en-GB" sz="1250" b="0" i="0" dirty="0">
                <a:solidFill>
                  <a:srgbClr val="1F1F1F"/>
                </a:solidFill>
                <a:latin typeface="Arial"/>
              </a:rPr>
              <a:t>hyperparameter tunning</a:t>
            </a:r>
            <a:r>
              <a:rPr sz="1250" b="0" i="0" dirty="0">
                <a:solidFill>
                  <a:srgbClr val="1F1F1F"/>
                </a:solidFill>
                <a:latin typeface="Arial"/>
              </a:rPr>
              <a:t> at 32 </a:t>
            </a:r>
            <a:r>
              <a:rPr lang="en-GB" sz="1250" b="0" i="0" dirty="0">
                <a:solidFill>
                  <a:srgbClr val="1F1F1F"/>
                </a:solidFill>
                <a:latin typeface="Arial"/>
              </a:rPr>
              <a:t>looks good</a:t>
            </a:r>
            <a:endParaRPr sz="1250" b="0" i="0" dirty="0">
              <a:solidFill>
                <a:srgbClr val="1F1F1F"/>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4" y="137343"/>
            <a:ext cx="11980590" cy="787814"/>
          </a:xfrm>
        </p:spPr>
        <p:txBody>
          <a:bodyPr wrap="square" anchor="ctr"/>
          <a:lstStyle/>
          <a:p>
            <a:pPr algn="l"/>
            <a:r>
              <a:rPr lang="en-GB" sz="2400" dirty="0">
                <a:solidFill>
                  <a:srgbClr val="0C2340"/>
                </a:solidFill>
              </a:rPr>
              <a:t>Parity plot comparison</a:t>
            </a:r>
            <a:r>
              <a:rPr sz="2400" b="1" i="0" dirty="0">
                <a:solidFill>
                  <a:srgbClr val="0C2340"/>
                </a:solidFill>
                <a:latin typeface="Arial"/>
              </a:rPr>
              <a:t>, point by point</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3</a:t>
            </a:fld>
            <a:endParaRPr lang="en-US" sz="1000">
              <a:latin typeface="Arial"/>
            </a:endParaRPr>
          </a:p>
        </p:txBody>
      </p:sp>
      <p:pic>
        <p:nvPicPr>
          <p:cNvPr id="5" name="Picture 4" descr="fig_parity_holdout.png"/>
          <p:cNvPicPr>
            <a:picLocks noChangeAspect="1"/>
          </p:cNvPicPr>
          <p:nvPr/>
        </p:nvPicPr>
        <p:blipFill>
          <a:blip/>
          <a:srcRect t="4315"/>
          <a:stretch>
            <a:fillRect/>
          </a:stretch>
        </p:blipFill>
        <p:spPr>
          <a:xfrm>
            <a:off x="82826" y="643845"/>
            <a:ext cx="5679961" cy="5135163"/>
          </a:xfrm>
          <a:prstGeom prst="rect">
            <a:avLst/>
          </a:prstGeom>
        </p:spPr>
      </p:pic>
      <p:sp>
        <p:nvSpPr>
          <p:cNvPr id="6" name="TextBox 5"/>
          <p:cNvSpPr txBox="1"/>
          <p:nvPr/>
        </p:nvSpPr>
        <p:spPr>
          <a:xfrm>
            <a:off x="575534"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sz="1000" b="0" i="0" dirty="0">
                <a:solidFill>
                  <a:srgbClr val="1F1F1F"/>
                </a:solidFill>
                <a:latin typeface="Arial"/>
              </a:rPr>
              <a:t>GP 95% intervals</a:t>
            </a:r>
            <a:r>
              <a:rPr lang="zh-CN" altLang="en-US" sz="1000" dirty="0">
                <a:solidFill>
                  <a:srgbClr val="1F1F1F"/>
                </a:solidFill>
              </a:rPr>
              <a:t> </a:t>
            </a:r>
            <a:r>
              <a:rPr lang="en-US" altLang="zh-CN" sz="1000" b="0" i="0" dirty="0">
                <a:solidFill>
                  <a:srgbClr val="1F1F1F"/>
                </a:solidFill>
                <a:latin typeface="Arial"/>
              </a:rPr>
              <a:t>with</a:t>
            </a:r>
            <a:r>
              <a:rPr lang="zh-CN" altLang="en-US" sz="1000" b="0" i="0" dirty="0">
                <a:solidFill>
                  <a:srgbClr val="1F1F1F"/>
                </a:solidFill>
                <a:latin typeface="Arial"/>
              </a:rPr>
              <a:t> </a:t>
            </a:r>
            <a:r>
              <a:rPr lang="en-GB" altLang="zh-CN" sz="1000" b="0" i="0" dirty="0">
                <a:solidFill>
                  <a:srgbClr val="1F1F1F"/>
                </a:solidFill>
                <a:latin typeface="Arial"/>
              </a:rPr>
              <a:t>the floor</a:t>
            </a:r>
            <a:endParaRPr sz="800" b="0" i="0" dirty="0">
              <a:solidFill>
                <a:srgbClr val="8A8A8A"/>
              </a:solidFill>
              <a:latin typeface="Arial"/>
            </a:endParaRPr>
          </a:p>
        </p:txBody>
      </p:sp>
      <p:pic>
        <p:nvPicPr>
          <p:cNvPr id="8" name="Picture 7" descr="fig_parity_nofloor.png">
            <a:extLst>
              <a:ext uri="{FF2B5EF4-FFF2-40B4-BE49-F238E27FC236}">
                <a16:creationId xmlns:a16="http://schemas.microsoft.com/office/drawing/2014/main" id="{E9C11C0B-62BB-D623-A24C-41D9F59EA282}"/>
              </a:ext>
            </a:extLst>
          </p:cNvPr>
          <p:cNvPicPr>
            <a:picLocks noChangeAspect="1"/>
          </p:cNvPicPr>
          <p:nvPr/>
        </p:nvPicPr>
        <p:blipFill>
          <a:blip/>
          <a:srcRect t="4315"/>
          <a:stretch>
            <a:fillRect/>
          </a:stretch>
        </p:blipFill>
        <p:spPr>
          <a:xfrm>
            <a:off x="5866321" y="634701"/>
            <a:ext cx="5637849" cy="5135163"/>
          </a:xfrm>
          <a:prstGeom prst="rect">
            <a:avLst/>
          </a:prstGeom>
        </p:spPr>
      </p:pic>
      <p:sp>
        <p:nvSpPr>
          <p:cNvPr id="9" name="TextBox 8">
            <a:extLst>
              <a:ext uri="{FF2B5EF4-FFF2-40B4-BE49-F238E27FC236}">
                <a16:creationId xmlns:a16="http://schemas.microsoft.com/office/drawing/2014/main" id="{61496236-092B-D22F-F6EE-1C1B95C75DE7}"/>
              </a:ext>
            </a:extLst>
          </p:cNvPr>
          <p:cNvSpPr txBox="1"/>
          <p:nvPr/>
        </p:nvSpPr>
        <p:spPr>
          <a:xfrm>
            <a:off x="6156962" y="5843088"/>
            <a:ext cx="5760720" cy="205762"/>
          </a:xfrm>
          <a:prstGeom prst="rect">
            <a:avLst/>
          </a:prstGeom>
          <a:noFill/>
        </p:spPr>
        <p:txBody>
          <a:bodyPr wrap="square" lIns="45720" tIns="27432" rIns="45720" bIns="27432" anchor="t">
            <a:spAutoFit/>
          </a:bodyPr>
          <a:lstStyle/>
          <a:p>
            <a:pPr algn="l">
              <a:lnSpc>
                <a:spcPct val="105000"/>
              </a:lnSpc>
              <a:spcAft>
                <a:spcPts val="0"/>
              </a:spcAft>
            </a:pPr>
            <a:r>
              <a:rPr lang="en-US" sz="1000" b="0" i="0" dirty="0">
                <a:solidFill>
                  <a:srgbClr val="1F1F1F"/>
                </a:solidFill>
                <a:latin typeface="Arial"/>
              </a:rPr>
              <a:t>same</a:t>
            </a:r>
            <a:r>
              <a:rPr sz="1000" b="0" i="0" dirty="0">
                <a:solidFill>
                  <a:srgbClr val="1F1F1F"/>
                </a:solidFill>
                <a:latin typeface="Arial"/>
              </a:rPr>
              <a:t> GPs</a:t>
            </a:r>
            <a:r>
              <a:rPr lang="en-GB" sz="1000" b="0" i="0" dirty="0">
                <a:solidFill>
                  <a:srgbClr val="1F1F1F"/>
                </a:solidFill>
                <a:latin typeface="Arial"/>
              </a:rPr>
              <a:t> but</a:t>
            </a:r>
            <a:r>
              <a:rPr sz="1000" b="0" i="0" dirty="0">
                <a:solidFill>
                  <a:srgbClr val="1F1F1F"/>
                </a:solidFill>
                <a:latin typeface="Arial"/>
              </a:rPr>
              <a:t> likelihood noise bound </a:t>
            </a:r>
            <a:r>
              <a:rPr lang="en-GB" sz="1000" b="0" i="0" dirty="0">
                <a:solidFill>
                  <a:srgbClr val="1F1F1F"/>
                </a:solidFill>
                <a:latin typeface="Arial"/>
              </a:rPr>
              <a:t>fixed</a:t>
            </a:r>
            <a:r>
              <a:rPr sz="1000" b="0" i="0" dirty="0">
                <a:solidFill>
                  <a:srgbClr val="1F1F1F"/>
                </a:solidFill>
                <a:latin typeface="Arial"/>
              </a:rPr>
              <a:t> 1e-9; </a:t>
            </a:r>
            <a:endParaRPr sz="800" b="0" i="0" dirty="0">
              <a:solidFill>
                <a:srgbClr val="8A8A8A"/>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8083CF4-A74C-1694-5969-7A1ADD3F199A}"/>
              </a:ext>
            </a:extLst>
          </p:cNvPr>
          <p:cNvSpPr txBox="1"/>
          <p:nvPr/>
        </p:nvSpPr>
        <p:spPr>
          <a:xfrm>
            <a:off x="5986035" y="3429000"/>
            <a:ext cx="6131490" cy="3159519"/>
          </a:xfrm>
          <a:prstGeom prst="rect">
            <a:avLst/>
          </a:prstGeom>
          <a:noFill/>
        </p:spPr>
        <p:txBody>
          <a:bodyPr wrap="square">
            <a:spAutoFit/>
          </a:bodyPr>
          <a:lstStyle/>
          <a:p>
            <a:pPr>
              <a:lnSpc>
                <a:spcPct val="105000"/>
              </a:lnSpc>
              <a:spcAft>
                <a:spcPts val="800"/>
              </a:spcAft>
            </a:pPr>
            <a:endParaRPr lang="en-US" sz="1400" dirty="0">
              <a:solidFill>
                <a:srgbClr val="1F1F1F"/>
              </a:solidFill>
            </a:endParaRPr>
          </a:p>
          <a:p>
            <a:pPr>
              <a:lnSpc>
                <a:spcPct val="105000"/>
              </a:lnSpc>
              <a:spcAft>
                <a:spcPts val="800"/>
              </a:spcAft>
            </a:pPr>
            <a:r>
              <a:rPr lang="en-US" sz="1400" b="1" dirty="0">
                <a:solidFill>
                  <a:srgbClr val="1F1F1F"/>
                </a:solidFill>
              </a:rPr>
              <a:t>Selection rule </a:t>
            </a:r>
          </a:p>
          <a:p>
            <a:pPr>
              <a:lnSpc>
                <a:spcPct val="105000"/>
              </a:lnSpc>
              <a:spcAft>
                <a:spcPts val="800"/>
              </a:spcAft>
            </a:pPr>
            <a:r>
              <a:rPr lang="en-US" sz="1400" dirty="0">
                <a:solidFill>
                  <a:srgbClr val="1F1F1F"/>
                </a:solidFill>
              </a:rPr>
              <a:t>- LOO.</a:t>
            </a:r>
          </a:p>
          <a:p>
            <a:pPr>
              <a:lnSpc>
                <a:spcPct val="105000"/>
              </a:lnSpc>
              <a:spcAft>
                <a:spcPts val="800"/>
              </a:spcAft>
            </a:pPr>
            <a:r>
              <a:rPr lang="en-US" sz="1400" dirty="0">
                <a:solidFill>
                  <a:srgbClr val="1F1F1F"/>
                </a:solidFill>
              </a:rPr>
              <a:t>- ranked by LOO NLPD (negative log predictive density. It penalizes both bad accuracy and bad calibration)</a:t>
            </a:r>
          </a:p>
          <a:p>
            <a:pPr>
              <a:lnSpc>
                <a:spcPct val="105000"/>
              </a:lnSpc>
              <a:spcAft>
                <a:spcPts val="800"/>
              </a:spcAft>
            </a:pPr>
            <a:r>
              <a:rPr lang="en-US" sz="1400" dirty="0">
                <a:solidFill>
                  <a:srgbClr val="1F1F1F"/>
                </a:solidFill>
              </a:rPr>
              <a:t>Result</a:t>
            </a:r>
          </a:p>
          <a:p>
            <a:pPr>
              <a:lnSpc>
                <a:spcPct val="105000"/>
              </a:lnSpc>
              <a:spcAft>
                <a:spcPts val="800"/>
              </a:spcAft>
            </a:pPr>
            <a:r>
              <a:rPr lang="en-US" dirty="0">
                <a:solidFill>
                  <a:srgbClr val="1F1F1F"/>
                </a:solidFill>
              </a:rPr>
              <a:t>Objective</a:t>
            </a:r>
            <a:r>
              <a:rPr lang="zh-CN" altLang="en-US" dirty="0">
                <a:solidFill>
                  <a:srgbClr val="1F1F1F"/>
                </a:solidFill>
              </a:rPr>
              <a:t>、</a:t>
            </a:r>
            <a:endParaRPr lang="en-US" sz="1400" dirty="0">
              <a:solidFill>
                <a:srgbClr val="1F1F1F"/>
              </a:solidFill>
            </a:endParaRPr>
          </a:p>
          <a:p>
            <a:pPr>
              <a:lnSpc>
                <a:spcPct val="105000"/>
              </a:lnSpc>
              <a:spcAft>
                <a:spcPts val="800"/>
              </a:spcAft>
            </a:pPr>
            <a:r>
              <a:rPr lang="en-US" sz="1400" dirty="0">
                <a:solidFill>
                  <a:srgbClr val="1F1F1F"/>
                </a:solidFill>
              </a:rPr>
              <a:t>Shed</a:t>
            </a:r>
            <a:r>
              <a:rPr lang="en-GB" dirty="0">
                <a:solidFill>
                  <a:srgbClr val="1F1F1F"/>
                </a:solidFill>
              </a:rPr>
              <a:t>:</a:t>
            </a:r>
            <a:r>
              <a:rPr lang="en-US" dirty="0">
                <a:solidFill>
                  <a:srgbClr val="1F1F1F"/>
                </a:solidFill>
              </a:rPr>
              <a: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sz="1400" dirty="0">
                <a:solidFill>
                  <a:srgbClr val="1F1F1F"/>
                </a:solidFill>
              </a:rPr>
              <a:t>2. Curt: </a:t>
            </a:r>
            <a:r>
              <a:rPr lang="en-US" sz="1400" dirty="0" err="1">
                <a:solidFill>
                  <a:srgbClr val="1F1F1F"/>
                </a:solidFill>
              </a:rPr>
              <a:t>rbf</a:t>
            </a:r>
            <a:r>
              <a:rPr lang="en-US" sz="1400" dirty="0">
                <a:solidFill>
                  <a:srgbClr val="1F1F1F"/>
                </a:solidFill>
              </a:rPr>
              <a:t> + log1p    </a:t>
            </a:r>
          </a:p>
          <a:p>
            <a:pPr>
              <a:lnSpc>
                <a:spcPct val="105000"/>
              </a:lnSpc>
              <a:spcAft>
                <a:spcPts val="800"/>
              </a:spcAft>
            </a:pPr>
            <a:r>
              <a:rPr lang="en-US" dirty="0">
                <a:solidFill>
                  <a:srgbClr val="1F1F1F"/>
                </a:solidFill>
              </a:rPr>
              <a:t>3. </a:t>
            </a:r>
            <a:r>
              <a:rPr lang="en-US" sz="1400" dirty="0">
                <a:solidFill>
                  <a:srgbClr val="1F1F1F"/>
                </a:solidFill>
              </a:rPr>
              <a:t>cost: </a:t>
            </a:r>
            <a:r>
              <a:rPr lang="en-US" sz="1400" dirty="0" err="1">
                <a:solidFill>
                  <a:srgbClr val="1F1F1F"/>
                </a:solidFill>
              </a:rPr>
              <a:t>rbf</a:t>
            </a:r>
            <a:r>
              <a:rPr lang="en-US" sz="1400" dirty="0">
                <a:solidFill>
                  <a:srgbClr val="1F1F1F"/>
                </a:solidFill>
              </a:rPr>
              <a:t> + (std unchanged)</a:t>
            </a:r>
            <a:endParaRPr lang="en-US" sz="1400" i="0" dirty="0">
              <a:solidFill>
                <a:srgbClr val="1F1F1F"/>
              </a:solidFill>
              <a:latin typeface="Arial"/>
            </a:endParaRPr>
          </a:p>
        </p:txBody>
      </p:sp>
      <p:sp>
        <p:nvSpPr>
          <p:cNvPr id="2" name="Title 1"/>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4</a:t>
            </a:fld>
            <a:endParaRPr lang="en-US" sz="1000">
              <a:latin typeface="Arial"/>
            </a:endParaRPr>
          </a:p>
        </p:txBody>
      </p:sp>
      <p:pic>
        <p:nvPicPr>
          <p:cNvPr id="4" name="Picture 3" descr="fig_parity_winner.png"/>
          <p:cNvPicPr>
            <a:picLocks noChangeAspect="1"/>
          </p:cNvPicPr>
          <p:nvPr/>
        </p:nvPicPr>
        <p:blipFill>
          <a:blip/>
          <a:stretch>
            <a:fillRect/>
          </a:stretch>
        </p:blipFill>
        <p:spPr>
          <a:xfrm>
            <a:off x="91440" y="685800"/>
            <a:ext cx="5669280" cy="5399188"/>
          </a:xfrm>
          <a:prstGeom prst="rect">
            <a:avLst/>
          </a:prstGeom>
        </p:spPr>
      </p:pic>
      <p:sp>
        <p:nvSpPr>
          <p:cNvPr id="5" name="TextBox 4"/>
          <p:cNvSpPr txBox="1"/>
          <p:nvPr/>
        </p:nvSpPr>
        <p:spPr>
          <a:xfrm>
            <a:off x="5997896" y="714902"/>
            <a:ext cx="6065520" cy="2981265"/>
          </a:xfrm>
          <a:prstGeom prst="rect">
            <a:avLst/>
          </a:prstGeom>
          <a:noFill/>
        </p:spPr>
        <p:txBody>
          <a:bodyPr wrap="square" lIns="45720" tIns="27432" rIns="45720" bIns="27432" anchor="t">
            <a:spAutoFit/>
          </a:bodyPr>
          <a:lstStyle/>
          <a:p>
            <a:pPr algn="l">
              <a:lnSpc>
                <a:spcPct val="105000"/>
              </a:lnSpc>
              <a:spcAft>
                <a:spcPts val="800"/>
              </a:spcAft>
            </a:pPr>
            <a:r>
              <a:rPr sz="1250" b="0" i="0" dirty="0">
                <a:solidFill>
                  <a:srgbClr val="1F1F1F"/>
                </a:solidFill>
                <a:latin typeface="Arial"/>
              </a:rPr>
              <a:t>•  Curtailment: 17.1 / 7.3 / 4.3 × floor (default: 17.4 / 9.4 / 5.0) — better at 32 and 48; at 16 it is overconfident</a:t>
            </a:r>
          </a:p>
          <a:p>
            <a:pPr algn="l">
              <a:lnSpc>
                <a:spcPct val="105000"/>
              </a:lnSpc>
              <a:spcAft>
                <a:spcPts val="800"/>
              </a:spcAft>
            </a:pPr>
            <a:r>
              <a:rPr sz="1250" b="0" i="0" dirty="0">
                <a:solidFill>
                  <a:srgbClr val="1F1F1F"/>
                </a:solidFill>
                <a:latin typeface="Arial"/>
              </a:rPr>
              <a:t>•  Cost: 10.0 / 5.0 / 3.1 × floor (default: 15.4 / 7.9 / 5.3) — accuracy </a:t>
            </a:r>
            <a:r>
              <a:rPr lang="en-US" altLang="zh-CN" sz="1250" b="0" i="0" dirty="0">
                <a:solidFill>
                  <a:srgbClr val="1F1F1F"/>
                </a:solidFill>
                <a:latin typeface="Arial"/>
              </a:rPr>
              <a:t>++</a:t>
            </a:r>
            <a:r>
              <a:rPr sz="1250" b="0" i="0" dirty="0">
                <a:solidFill>
                  <a:srgbClr val="1F1F1F"/>
                </a:solidFill>
                <a:latin typeface="Arial"/>
              </a:rPr>
              <a:t>.</a:t>
            </a:r>
          </a:p>
          <a:p>
            <a:pPr algn="l">
              <a:lnSpc>
                <a:spcPct val="105000"/>
              </a:lnSpc>
              <a:spcAft>
                <a:spcPts val="800"/>
              </a:spcAft>
            </a:pPr>
            <a:r>
              <a:rPr sz="1250" b="0" i="0" dirty="0">
                <a:solidFill>
                  <a:srgbClr val="1F1F1F"/>
                </a:solidFill>
                <a:latin typeface="Arial"/>
              </a:rPr>
              <a:t>•  Load shed: 0.76 / 0.82 / 0.58 — still sub-floor everywhere; tuning neither helps nor hurts what noise already limits</a:t>
            </a:r>
            <a:endParaRPr lang="en-US" sz="1250" i="0" dirty="0">
              <a:solidFill>
                <a:srgbClr val="1F1F1F"/>
              </a:solidFill>
              <a:latin typeface="Arial"/>
            </a:endParaRPr>
          </a:p>
          <a:p>
            <a:pPr>
              <a:lnSpc>
                <a:spcPct val="105000"/>
              </a:lnSpc>
              <a:spcAft>
                <a:spcPts val="800"/>
              </a:spcAft>
            </a:pPr>
            <a:r>
              <a:rPr lang="en-US" sz="1250" b="1" dirty="0">
                <a:solidFill>
                  <a:srgbClr val="1F1F1F"/>
                </a:solidFill>
              </a:rPr>
              <a:t>Search space:</a:t>
            </a:r>
          </a:p>
          <a:p>
            <a:pPr>
              <a:lnSpc>
                <a:spcPct val="105000"/>
              </a:lnSpc>
              <a:spcAft>
                <a:spcPts val="800"/>
              </a:spcAft>
            </a:pPr>
            <a:r>
              <a:rPr lang="en-US" sz="1250" dirty="0">
                <a:solidFill>
                  <a:srgbClr val="1F1F1F"/>
                </a:solidFill>
              </a:rPr>
              <a:t>- Kernel: Matérn-5/2 (the campaign default) vs RBF vs Matérn-3/2.</a:t>
            </a:r>
          </a:p>
          <a:p>
            <a:pPr>
              <a:lnSpc>
                <a:spcPct val="105000"/>
              </a:lnSpc>
              <a:spcAft>
                <a:spcPts val="800"/>
              </a:spcAft>
            </a:pPr>
            <a:r>
              <a:rPr lang="en-US" sz="1250" dirty="0">
                <a:solidFill>
                  <a:srgbClr val="1F1F1F"/>
                </a:solidFill>
              </a:rPr>
              <a:t>- Output transform: std (linear standardization) vs log1p.</a:t>
            </a:r>
          </a:p>
          <a:p>
            <a:pPr>
              <a:lnSpc>
                <a:spcPct val="105000"/>
              </a:lnSpc>
              <a:spcAft>
                <a:spcPts val="800"/>
              </a:spcAft>
            </a:pPr>
            <a:r>
              <a:rPr lang="en-US" sz="1250" dirty="0">
                <a:solidFill>
                  <a:srgbClr val="1F1F1F"/>
                </a:solidFill>
              </a:rPr>
              <a:t>- Noise: inferred (the floor is a lower bound) vs fixed-at-floor (the noise is locked at the floor).</a:t>
            </a:r>
          </a:p>
          <a:p>
            <a:pPr>
              <a:lnSpc>
                <a:spcPct val="105000"/>
              </a:lnSpc>
              <a:spcAft>
                <a:spcPts val="800"/>
              </a:spcAft>
            </a:pPr>
            <a:r>
              <a:rPr lang="en-US" sz="1250" dirty="0">
                <a:solidFill>
                  <a:srgbClr val="1F1F1F"/>
                </a:solidFill>
              </a:rPr>
              <a:t>- </a:t>
            </a:r>
            <a:r>
              <a:rPr lang="en-US" sz="1250" dirty="0" err="1">
                <a:solidFill>
                  <a:srgbClr val="1F1F1F"/>
                </a:solidFill>
              </a:rPr>
              <a:t>Lengthscale</a:t>
            </a:r>
            <a:r>
              <a:rPr lang="en-US" sz="1250" dirty="0">
                <a:solidFill>
                  <a:srgbClr val="1F1F1F"/>
                </a:solidFill>
              </a:rPr>
              <a:t> prior: none (the </a:t>
            </a:r>
            <a:r>
              <a:rPr lang="en-US" sz="1250" dirty="0" err="1">
                <a:solidFill>
                  <a:srgbClr val="1F1F1F"/>
                </a:solidFill>
              </a:rPr>
              <a:t>bo-gp</a:t>
            </a:r>
            <a:r>
              <a:rPr lang="en-US" sz="1250" dirty="0">
                <a:solidFill>
                  <a:srgbClr val="1F1F1F"/>
                </a:solidFill>
              </a:rPr>
              <a:t> default) vs the </a:t>
            </a:r>
            <a:r>
              <a:rPr lang="en-US" sz="1250" dirty="0" err="1">
                <a:solidFill>
                  <a:srgbClr val="1F1F1F"/>
                </a:solidFill>
              </a:rPr>
              <a:t>BoTorch</a:t>
            </a:r>
            <a:r>
              <a:rPr lang="en-US" sz="1250" dirty="0">
                <a:solidFill>
                  <a:srgbClr val="1F1F1F"/>
                </a:solidFill>
              </a:rPr>
              <a:t> default Gamma(3,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C7ADA-2F3E-74CD-9479-049A17648F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FEBA4D3-3829-CCC4-7989-DA493A141569}"/>
              </a:ext>
            </a:extLst>
          </p:cNvPr>
          <p:cNvSpPr txBox="1"/>
          <p:nvPr/>
        </p:nvSpPr>
        <p:spPr>
          <a:xfrm>
            <a:off x="6096000" y="914400"/>
            <a:ext cx="5669280" cy="1310295"/>
          </a:xfrm>
          <a:prstGeom prst="rect">
            <a:avLst/>
          </a:prstGeom>
          <a:noFill/>
        </p:spPr>
        <p:txBody>
          <a:bodyPr wrap="square">
            <a:spAutoFit/>
          </a:bodyPr>
          <a:lstStyle/>
          <a:p>
            <a:pPr>
              <a:lnSpc>
                <a:spcPct val="105000"/>
              </a:lnSpc>
              <a:spcAft>
                <a:spcPts val="800"/>
              </a:spcAft>
            </a:pPr>
            <a:r>
              <a:rPr lang="en-US" sz="1400" i="0" dirty="0">
                <a:solidFill>
                  <a:srgbClr val="1F1F1F"/>
                </a:solidFill>
                <a:latin typeface="Arial"/>
              </a:rPr>
              <a:t>GP for shed works on a log scale. The default GP works on a linear scale. On a linear scale, the noise floor is a constant band (about +/-6,000 MWh per bar). </a:t>
            </a:r>
          </a:p>
          <a:p>
            <a:pPr>
              <a:lnSpc>
                <a:spcPct val="105000"/>
              </a:lnSpc>
              <a:spcAft>
                <a:spcPts val="800"/>
              </a:spcAft>
            </a:pPr>
            <a:r>
              <a:rPr lang="en-US" sz="1400" i="0" dirty="0">
                <a:solidFill>
                  <a:srgbClr val="1F1F1F"/>
                </a:solidFill>
                <a:latin typeface="Arial"/>
              </a:rPr>
              <a:t>On a log scale, the noise floor is a percentage.</a:t>
            </a:r>
            <a:r>
              <a:rPr lang="en-US" sz="1400" i="0" u="sng" dirty="0">
                <a:solidFill>
                  <a:srgbClr val="1F1F1F"/>
                </a:solidFill>
                <a:latin typeface="Arial"/>
              </a:rPr>
              <a:t> The bar grows with the predicted value</a:t>
            </a:r>
            <a:r>
              <a:rPr lang="en-US" sz="1400" i="0" dirty="0">
                <a:solidFill>
                  <a:srgbClr val="1F1F1F"/>
                </a:solidFill>
                <a:latin typeface="Arial"/>
              </a:rPr>
              <a:t>. </a:t>
            </a:r>
          </a:p>
        </p:txBody>
      </p:sp>
      <p:sp>
        <p:nvSpPr>
          <p:cNvPr id="2" name="Title 1">
            <a:extLst>
              <a:ext uri="{FF2B5EF4-FFF2-40B4-BE49-F238E27FC236}">
                <a16:creationId xmlns:a16="http://schemas.microsoft.com/office/drawing/2014/main" id="{9F308A80-E482-7C17-9A6F-14E9C9027ABA}"/>
              </a:ext>
            </a:extLst>
          </p:cNvPr>
          <p:cNvSpPr>
            <a:spLocks noGrp="1"/>
          </p:cNvSpPr>
          <p:nvPr>
            <p:ph type="title"/>
          </p:nvPr>
        </p:nvSpPr>
        <p:spPr/>
        <p:txBody>
          <a:bodyPr wrap="square" anchor="ctr"/>
          <a:lstStyle/>
          <a:p>
            <a:pPr algn="l"/>
            <a:r>
              <a:rPr sz="2400" b="1" i="0">
                <a:solidFill>
                  <a:srgbClr val="0C2340"/>
                </a:solidFill>
                <a:latin typeface="Arial"/>
              </a:rPr>
              <a:t>Parity plot comparison, after hyperparameter tuning</a:t>
            </a:r>
          </a:p>
        </p:txBody>
      </p:sp>
      <p:sp>
        <p:nvSpPr>
          <p:cNvPr id="3" name="Slide Number Placeholder 2">
            <a:extLst>
              <a:ext uri="{FF2B5EF4-FFF2-40B4-BE49-F238E27FC236}">
                <a16:creationId xmlns:a16="http://schemas.microsoft.com/office/drawing/2014/main" id="{206CC8DF-43B5-0A83-0D16-E3A616FC1292}"/>
              </a:ext>
            </a:extLst>
          </p:cNvPr>
          <p:cNvSpPr>
            <a:spLocks noGrp="1"/>
          </p:cNvSpPr>
          <p:nvPr>
            <p:ph type="sldNum" idx="12"/>
          </p:nvPr>
        </p:nvSpPr>
        <p:spPr/>
        <p:txBody>
          <a:bodyPr/>
          <a:lstStyle/>
          <a:p>
            <a:pPr algn="r"/>
            <a:fld id="{B6F15528-21DE-4FAA-801E-634DDDAF4B2B}" type="slidenum">
              <a:rPr lang="en-US" sz="1000">
                <a:latin typeface="Arial"/>
              </a:rPr>
              <a:t>5</a:t>
            </a:fld>
            <a:endParaRPr lang="en-US" sz="1000">
              <a:latin typeface="Arial"/>
            </a:endParaRPr>
          </a:p>
        </p:txBody>
      </p:sp>
      <p:pic>
        <p:nvPicPr>
          <p:cNvPr id="4" name="Picture 3" descr="fig_parity_winner.png">
            <a:extLst>
              <a:ext uri="{FF2B5EF4-FFF2-40B4-BE49-F238E27FC236}">
                <a16:creationId xmlns:a16="http://schemas.microsoft.com/office/drawing/2014/main" id="{07F1A518-549C-53DB-A84A-A922AECFD542}"/>
              </a:ext>
            </a:extLst>
          </p:cNvPr>
          <p:cNvPicPr>
            <a:picLocks noChangeAspect="1"/>
          </p:cNvPicPr>
          <p:nvPr/>
        </p:nvPicPr>
        <p:blipFill>
          <a:blip/>
          <a:stretch>
            <a:fillRect/>
          </a:stretch>
        </p:blipFill>
        <p:spPr>
          <a:xfrm>
            <a:off x="91440" y="685800"/>
            <a:ext cx="5669280" cy="5399188"/>
          </a:xfrm>
          <a:prstGeom prst="rect">
            <a:avLst/>
          </a:prstGeom>
        </p:spPr>
      </p:pic>
    </p:spTree>
    <p:extLst>
      <p:ext uri="{BB962C8B-B14F-4D97-AF65-F5344CB8AC3E}">
        <p14:creationId xmlns:p14="http://schemas.microsoft.com/office/powerpoint/2010/main" val="1636815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Tuning helps exactly where the pathology lives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6</a:t>
            </a:fld>
            <a:endParaRPr lang="en-US" sz="1000">
              <a:latin typeface="Arial"/>
            </a:endParaRPr>
          </a:p>
        </p:txBody>
      </p:sp>
      <p:sp>
        <p:nvSpPr>
          <p:cNvPr id="5" name="TextBox 4"/>
          <p:cNvSpPr txBox="1"/>
          <p:nvPr/>
        </p:nvSpPr>
        <p:spPr>
          <a:xfrm>
            <a:off x="457200" y="1143000"/>
            <a:ext cx="6035040" cy="1321900"/>
          </a:xfrm>
          <a:prstGeom prst="rect">
            <a:avLst/>
          </a:prstGeom>
          <a:noFill/>
        </p:spPr>
        <p:txBody>
          <a:bodyPr wrap="square" lIns="45720" tIns="27432" rIns="45720" bIns="27432" anchor="t">
            <a:spAutoFit/>
          </a:bodyPr>
          <a:lstStyle/>
          <a:p>
            <a:pPr algn="l">
              <a:lnSpc>
                <a:spcPct val="105000"/>
              </a:lnSpc>
              <a:spcAft>
                <a:spcPts val="600"/>
              </a:spcAft>
            </a:pPr>
            <a:r>
              <a:rPr sz="1300" b="1" i="0" dirty="0">
                <a:solidFill>
                  <a:srgbClr val="1F1F1F"/>
                </a:solidFill>
                <a:latin typeface="Arial"/>
              </a:rPr>
              <a:t>•  The start-set GP was </a:t>
            </a:r>
            <a:r>
              <a:rPr lang="en-US" sz="1300" b="1" dirty="0">
                <a:solidFill>
                  <a:srgbClr val="1F1F1F"/>
                </a:solidFill>
              </a:rPr>
              <a:t>ok</a:t>
            </a:r>
            <a:endParaRPr sz="1300" b="1" i="0" dirty="0">
              <a:solidFill>
                <a:srgbClr val="1F1F1F"/>
              </a:solidFill>
              <a:latin typeface="Arial"/>
            </a:endParaRPr>
          </a:p>
          <a:p>
            <a:pPr algn="l">
              <a:lnSpc>
                <a:spcPct val="105000"/>
              </a:lnSpc>
              <a:spcAft>
                <a:spcPts val="600"/>
              </a:spcAft>
            </a:pPr>
            <a:r>
              <a:rPr sz="1300" b="0" i="0" dirty="0">
                <a:solidFill>
                  <a:srgbClr val="1F1F1F"/>
                </a:solidFill>
                <a:latin typeface="Arial"/>
              </a:rPr>
              <a:t>•  32-start LOO: curtailment </a:t>
            </a:r>
            <a:r>
              <a:rPr sz="1300" b="0" i="0" dirty="0" err="1">
                <a:solidFill>
                  <a:srgbClr val="1F1F1F"/>
                </a:solidFill>
                <a:latin typeface="Arial"/>
              </a:rPr>
              <a:t>rms_z</a:t>
            </a:r>
            <a:r>
              <a:rPr sz="1300" b="0" i="0" dirty="0">
                <a:solidFill>
                  <a:srgbClr val="1F1F1F"/>
                </a:solidFill>
                <a:latin typeface="Arial"/>
              </a:rPr>
              <a:t> 0.81, coverage 31/32.</a:t>
            </a:r>
            <a:endParaRPr lang="en-GB" sz="1300" b="0" i="0">
              <a:solidFill>
                <a:srgbClr val="1F1F1F"/>
              </a:solidFill>
              <a:latin typeface="Arial"/>
            </a:endParaRPr>
          </a:p>
          <a:p>
            <a:pPr algn="l">
              <a:lnSpc>
                <a:spcPct val="105000"/>
              </a:lnSpc>
              <a:spcAft>
                <a:spcPts val="600"/>
              </a:spcAft>
            </a:pPr>
            <a:r>
              <a:rPr sz="1300" b="1" i="0">
                <a:solidFill>
                  <a:srgbClr val="1F1F1F"/>
                </a:solidFill>
                <a:latin typeface="Arial"/>
              </a:rPr>
              <a:t>•  </a:t>
            </a:r>
            <a:r>
              <a:rPr sz="1300" b="1" i="0" dirty="0">
                <a:solidFill>
                  <a:srgbClr val="1F1F1F"/>
                </a:solidFill>
                <a:latin typeface="Arial"/>
              </a:rPr>
              <a:t>Hyperparameter study (pre-registered NLPD rule)</a:t>
            </a:r>
          </a:p>
          <a:p>
            <a:pPr algn="l">
              <a:lnSpc>
                <a:spcPct val="105000"/>
              </a:lnSpc>
              <a:spcAft>
                <a:spcPts val="600"/>
              </a:spcAft>
            </a:pPr>
            <a:r>
              <a:rPr sz="1300" b="0" i="0" dirty="0">
                <a:solidFill>
                  <a:srgbClr val="1F1F1F"/>
                </a:solidFill>
                <a:latin typeface="Arial"/>
              </a:rPr>
              <a:t>•  Winners: </a:t>
            </a:r>
            <a:r>
              <a:rPr sz="1300" b="0" i="0" dirty="0" err="1">
                <a:solidFill>
                  <a:srgbClr val="1F1F1F"/>
                </a:solidFill>
                <a:latin typeface="Arial"/>
              </a:rPr>
              <a:t>rbf</a:t>
            </a:r>
            <a:r>
              <a:rPr sz="1300" b="0" i="0" dirty="0">
                <a:solidFill>
                  <a:srgbClr val="1F1F1F"/>
                </a:solidFill>
                <a:latin typeface="Arial"/>
              </a:rPr>
              <a:t> + log1p (shed, curtailment), </a:t>
            </a:r>
            <a:r>
              <a:rPr sz="1300" b="0" i="0" dirty="0" err="1">
                <a:solidFill>
                  <a:srgbClr val="1F1F1F"/>
                </a:solidFill>
                <a:latin typeface="Arial"/>
              </a:rPr>
              <a:t>rbf</a:t>
            </a:r>
            <a:r>
              <a:rPr sz="1300" b="0" i="0" dirty="0">
                <a:solidFill>
                  <a:srgbClr val="1F1F1F"/>
                </a:solidFill>
                <a:latin typeface="Arial"/>
              </a:rPr>
              <a:t> (cost). Picked on the 32 starts, committed before any holdout scoring.</a:t>
            </a:r>
          </a:p>
        </p:txBody>
      </p:sp>
      <p:graphicFrame>
        <p:nvGraphicFramePr>
          <p:cNvPr id="7" name="Table 6"/>
          <p:cNvGraphicFramePr>
            <a:graphicFrameLocks noGrp="1"/>
          </p:cNvGraphicFramePr>
          <p:nvPr>
            <p:extLst>
              <p:ext uri="{D42A27DB-BD31-4B8C-83A1-F6EECF244321}">
                <p14:modId xmlns:p14="http://schemas.microsoft.com/office/powerpoint/2010/main" val="1497581907"/>
              </p:ext>
            </p:extLst>
          </p:nvPr>
        </p:nvGraphicFramePr>
        <p:xfrm>
          <a:off x="6766560" y="1554480"/>
          <a:ext cx="5029200" cy="1152144"/>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84048">
                <a:tc>
                  <a:txBody>
                    <a:bodyPr/>
                    <a:lstStyle/>
                    <a:p>
                      <a:r>
                        <a:rPr sz="1200" b="1" i="0">
                          <a:solidFill>
                            <a:srgbClr val="1F1F1F"/>
                          </a:solidFill>
                          <a:latin typeface="Arial"/>
                        </a:rPr>
                        <a:t>curtailment</a:t>
                      </a:r>
                    </a:p>
                  </a:txBody>
                  <a:tcPr marL="54864" marR="54864" marT="27432" marB="27432">
                    <a:solidFill>
                      <a:srgbClr val="DCE3EE"/>
                    </a:solidFill>
                  </a:tcPr>
                </a:tc>
                <a:tc>
                  <a:txBody>
                    <a:bodyPr/>
                    <a:lstStyle/>
                    <a:p>
                      <a:r>
                        <a:rPr sz="1200" b="1" i="0">
                          <a:solidFill>
                            <a:srgbClr val="1F1F1F"/>
                          </a:solidFill>
                          <a:latin typeface="Arial"/>
                        </a:rPr>
                        <a:t>default GP</a:t>
                      </a:r>
                    </a:p>
                  </a:txBody>
                  <a:tcPr marL="54864" marR="54864" marT="27432" marB="27432">
                    <a:solidFill>
                      <a:srgbClr val="DCE3EE"/>
                    </a:solidFill>
                  </a:tcPr>
                </a:tc>
                <a:tc>
                  <a:txBody>
                    <a:bodyPr/>
                    <a:lstStyle/>
                    <a:p>
                      <a:r>
                        <a:rPr sz="1200" b="1" i="0">
                          <a:solidFill>
                            <a:srgbClr val="1F1F1F"/>
                          </a:solidFill>
                          <a:latin typeface="Arial"/>
                        </a:rPr>
                        <a:t>rbf+log1p</a:t>
                      </a:r>
                    </a:p>
                  </a:txBody>
                  <a:tcPr marL="54864" marR="54864" marT="27432" marB="27432">
                    <a:solidFill>
                      <a:srgbClr val="DCE3EE"/>
                    </a:solidFill>
                  </a:tcPr>
                </a:tc>
                <a:extLst>
                  <a:ext uri="{0D108BD9-81ED-4DB2-BD59-A6C34878D82A}">
                    <a16:rowId xmlns:a16="http://schemas.microsoft.com/office/drawing/2014/main" val="10000"/>
                  </a:ext>
                </a:extLst>
              </a:tr>
              <a:tr h="384048">
                <a:tc>
                  <a:txBody>
                    <a:bodyPr/>
                    <a:lstStyle/>
                    <a:p>
                      <a:r>
                        <a:rPr sz="1200" b="0" i="0">
                          <a:solidFill>
                            <a:srgbClr val="1F1F1F"/>
                          </a:solidFill>
                          <a:latin typeface="Arial"/>
                        </a:rPr>
                        <a:t>coverage (of 8)</a:t>
                      </a:r>
                    </a:p>
                  </a:txBody>
                  <a:tcPr marL="54864" marR="54864" marT="27432" marB="27432">
                    <a:solidFill>
                      <a:srgbClr val="FFFFFF"/>
                    </a:solidFill>
                  </a:tcPr>
                </a:tc>
                <a:tc>
                  <a:txBody>
                    <a:bodyPr/>
                    <a:lstStyle/>
                    <a:p>
                      <a:r>
                        <a:rPr sz="1200" b="0" i="0">
                          <a:solidFill>
                            <a:srgbClr val="1F1F1F"/>
                          </a:solidFill>
                          <a:latin typeface="Arial"/>
                        </a:rPr>
                        <a:t>5 / 8</a:t>
                      </a:r>
                    </a:p>
                  </a:txBody>
                  <a:tcPr marL="54864" marR="54864" marT="27432" marB="27432">
                    <a:solidFill>
                      <a:srgbClr val="FFFFFF"/>
                    </a:solidFill>
                  </a:tcPr>
                </a:tc>
                <a:tc>
                  <a:txBody>
                    <a:bodyPr/>
                    <a:lstStyle/>
                    <a:p>
                      <a:r>
                        <a:rPr sz="1200" b="0" i="0">
                          <a:solidFill>
                            <a:srgbClr val="1F1F1F"/>
                          </a:solidFill>
                          <a:latin typeface="Arial"/>
                        </a:rPr>
                        <a:t>8 / 8</a:t>
                      </a:r>
                    </a:p>
                  </a:txBody>
                  <a:tcPr marL="54864" marR="54864" marT="27432" marB="27432">
                    <a:solidFill>
                      <a:srgbClr val="FFFFFF"/>
                    </a:solidFill>
                  </a:tcPr>
                </a:tc>
                <a:extLst>
                  <a:ext uri="{0D108BD9-81ED-4DB2-BD59-A6C34878D82A}">
                    <a16:rowId xmlns:a16="http://schemas.microsoft.com/office/drawing/2014/main" val="10001"/>
                  </a:ext>
                </a:extLst>
              </a:tr>
              <a:tr h="384048">
                <a:tc>
                  <a:txBody>
                    <a:bodyPr/>
                    <a:lstStyle/>
                    <a:p>
                      <a:r>
                        <a:rPr sz="1200" b="0" i="0">
                          <a:solidFill>
                            <a:srgbClr val="1F1F1F"/>
                          </a:solidFill>
                          <a:latin typeface="Arial"/>
                        </a:rPr>
                        <a:t>rms z-score</a:t>
                      </a:r>
                    </a:p>
                  </a:txBody>
                  <a:tcPr marL="54864" marR="54864" marT="27432" marB="27432">
                    <a:solidFill>
                      <a:srgbClr val="F6F6F6"/>
                    </a:solidFill>
                  </a:tcPr>
                </a:tc>
                <a:tc>
                  <a:txBody>
                    <a:bodyPr/>
                    <a:lstStyle/>
                    <a:p>
                      <a:r>
                        <a:rPr sz="1200" b="0" i="0">
                          <a:solidFill>
                            <a:srgbClr val="1F1F1F"/>
                          </a:solidFill>
                          <a:latin typeface="Arial"/>
                        </a:rPr>
                        <a:t>2.008</a:t>
                      </a:r>
                    </a:p>
                  </a:txBody>
                  <a:tcPr marL="54864" marR="54864" marT="27432" marB="27432">
                    <a:solidFill>
                      <a:srgbClr val="F6F6F6"/>
                    </a:solidFill>
                  </a:tcPr>
                </a:tc>
                <a:tc>
                  <a:txBody>
                    <a:bodyPr/>
                    <a:lstStyle/>
                    <a:p>
                      <a:r>
                        <a:rPr sz="1200" b="0" i="0" dirty="0">
                          <a:solidFill>
                            <a:srgbClr val="1F1F1F"/>
                          </a:solidFill>
                          <a:latin typeface="Arial"/>
                        </a:rPr>
                        <a:t>1.050</a:t>
                      </a:r>
                    </a:p>
                  </a:txBody>
                  <a:tcPr marL="54864" marR="54864" marT="27432" marB="27432">
                    <a:solidFill>
                      <a:srgbClr val="F6F6F6"/>
                    </a:solidFill>
                  </a:tcPr>
                </a:tc>
                <a:extLst>
                  <a:ext uri="{0D108BD9-81ED-4DB2-BD59-A6C34878D82A}">
                    <a16:rowId xmlns:a16="http://schemas.microsoft.com/office/drawing/2014/main" val="10002"/>
                  </a:ext>
                </a:extLst>
              </a:tr>
            </a:tbl>
          </a:graphicData>
        </a:graphic>
      </p:graphicFrame>
      <p:pic>
        <p:nvPicPr>
          <p:cNvPr id="9" name="Picture 8" descr="fig_parity_tune32.png"/>
          <p:cNvPicPr>
            <a:picLocks noChangeAspect="1"/>
          </p:cNvPicPr>
          <p:nvPr/>
        </p:nvPicPr>
        <p:blipFill>
          <a:blip/>
          <a:stretch>
            <a:fillRect/>
          </a:stretch>
        </p:blipFill>
        <p:spPr>
          <a:xfrm>
            <a:off x="182880" y="2858372"/>
            <a:ext cx="6583680" cy="25128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dirty="0">
                <a:solidFill>
                  <a:srgbClr val="0C2340"/>
                </a:solidFill>
                <a:latin typeface="Arial"/>
              </a:rPr>
              <a:t>Decision</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7</a:t>
            </a:fld>
            <a:endParaRPr lang="en-US" sz="1000">
              <a:latin typeface="Arial"/>
            </a:endParaRPr>
          </a:p>
        </p:txBody>
      </p:sp>
      <p:sp>
        <p:nvSpPr>
          <p:cNvPr id="8" name="TextBox 7"/>
          <p:cNvSpPr txBox="1"/>
          <p:nvPr/>
        </p:nvSpPr>
        <p:spPr>
          <a:xfrm>
            <a:off x="685800" y="1371600"/>
            <a:ext cx="10524506" cy="1538691"/>
          </a:xfrm>
          <a:prstGeom prst="rect">
            <a:avLst/>
          </a:prstGeom>
          <a:noFill/>
        </p:spPr>
        <p:txBody>
          <a:bodyPr wrap="square" lIns="45720" tIns="27432" rIns="45720" bIns="27432" anchor="t">
            <a:spAutoFit/>
          </a:bodyPr>
          <a:lstStyle/>
          <a:p>
            <a:pPr algn="l">
              <a:lnSpc>
                <a:spcPct val="105000"/>
              </a:lnSpc>
              <a:spcAft>
                <a:spcPts val="400"/>
              </a:spcAft>
            </a:pPr>
            <a:r>
              <a:rPr sz="1500" b="1" i="0" dirty="0">
                <a:solidFill>
                  <a:srgbClr val="1F1F1F"/>
                </a:solidFill>
                <a:latin typeface="Arial"/>
              </a:rPr>
              <a:t>(a) </a:t>
            </a:r>
            <a:r>
              <a:rPr lang="en-US" sz="1500" b="1" i="0" dirty="0">
                <a:solidFill>
                  <a:srgbClr val="1F1F1F"/>
                </a:solidFill>
                <a:latin typeface="Arial"/>
              </a:rPr>
              <a:t>BO n</a:t>
            </a:r>
            <a:r>
              <a:rPr sz="1500" b="1" i="0" dirty="0">
                <a:solidFill>
                  <a:srgbClr val="1F1F1F"/>
                </a:solidFill>
                <a:latin typeface="Arial"/>
              </a:rPr>
              <a:t>eed study starts from 32 or 48?</a:t>
            </a:r>
          </a:p>
          <a:p>
            <a:pPr algn="l">
              <a:lnSpc>
                <a:spcPct val="105000"/>
              </a:lnSpc>
              <a:spcAft>
                <a:spcPts val="400"/>
              </a:spcAft>
            </a:pPr>
            <a:r>
              <a:rPr sz="1300" b="1" i="0" dirty="0">
                <a:solidFill>
                  <a:srgbClr val="1E8449"/>
                </a:solidFill>
                <a:latin typeface="Arial"/>
              </a:rPr>
              <a:t>Start at 32 </a:t>
            </a:r>
          </a:p>
          <a:p>
            <a:pPr algn="l">
              <a:lnSpc>
                <a:spcPct val="105000"/>
              </a:lnSpc>
              <a:spcAft>
                <a:spcPts val="400"/>
              </a:spcAft>
            </a:pPr>
            <a:r>
              <a:rPr sz="1300" b="0" i="0" dirty="0">
                <a:solidFill>
                  <a:srgbClr val="1F1F1F"/>
                </a:solidFill>
                <a:latin typeface="Arial"/>
              </a:rPr>
              <a:t>Comparable to the </a:t>
            </a:r>
            <a:r>
              <a:rPr lang="en-GB" sz="1300" b="0" i="0" dirty="0">
                <a:solidFill>
                  <a:srgbClr val="1F1F1F"/>
                </a:solidFill>
                <a:latin typeface="Arial"/>
              </a:rPr>
              <a:t>previous running; hyperparameter tuning </a:t>
            </a:r>
            <a:r>
              <a:rPr sz="1300" b="0" i="0" dirty="0">
                <a:solidFill>
                  <a:srgbClr val="1F1F1F"/>
                </a:solidFill>
                <a:latin typeface="Arial"/>
              </a:rPr>
              <a:t> </a:t>
            </a:r>
            <a:endParaRPr lang="en-GB" sz="1300" b="0" i="0" dirty="0">
              <a:solidFill>
                <a:srgbClr val="1F1F1F"/>
              </a:solidFill>
              <a:latin typeface="Arial"/>
            </a:endParaRPr>
          </a:p>
          <a:p>
            <a:pPr algn="l">
              <a:lnSpc>
                <a:spcPct val="105000"/>
              </a:lnSpc>
              <a:spcAft>
                <a:spcPts val="400"/>
              </a:spcAft>
            </a:pPr>
            <a:r>
              <a:rPr sz="1300" b="1" i="0" dirty="0">
                <a:solidFill>
                  <a:srgbClr val="1F1F1F"/>
                </a:solidFill>
                <a:latin typeface="Arial"/>
              </a:rPr>
              <a:t>Start at 48</a:t>
            </a:r>
          </a:p>
          <a:p>
            <a:pPr algn="l">
              <a:lnSpc>
                <a:spcPct val="105000"/>
              </a:lnSpc>
              <a:spcAft>
                <a:spcPts val="400"/>
              </a:spcAft>
            </a:pPr>
            <a:r>
              <a:rPr sz="1300" b="0" i="0" dirty="0">
                <a:solidFill>
                  <a:srgbClr val="1F1F1F"/>
                </a:solidFill>
                <a:latin typeface="Arial"/>
              </a:rPr>
              <a:t>More accurate surrogate, but +16 NEW PCM runs per fresh seed (≈ +25% per-seed cost) </a:t>
            </a:r>
            <a:r>
              <a:rPr lang="en-US" altLang="zh-CN" sz="1300" dirty="0">
                <a:solidFill>
                  <a:srgbClr val="1F1F1F"/>
                </a:solidFill>
              </a:rPr>
              <a:t>I</a:t>
            </a:r>
            <a:r>
              <a:rPr lang="zh-CN" altLang="en-US" sz="1300" dirty="0">
                <a:solidFill>
                  <a:srgbClr val="1F1F1F"/>
                </a:solidFill>
              </a:rPr>
              <a:t> </a:t>
            </a:r>
            <a:r>
              <a:rPr lang="en-US" altLang="zh-CN" sz="1300" dirty="0">
                <a:solidFill>
                  <a:srgbClr val="1F1F1F"/>
                </a:solidFill>
              </a:rPr>
              <a:t>think it – computational advantages of the paper’s claim</a:t>
            </a:r>
            <a:endParaRPr sz="1300" b="0" i="1" dirty="0">
              <a:solidFill>
                <a:srgbClr val="1F1F1F"/>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dirty="0">
                <a:solidFill>
                  <a:srgbClr val="0C2340"/>
                </a:solidFill>
                <a:latin typeface="Arial"/>
              </a:rPr>
              <a:t>Stop rule closed at both overrun checkpoints (official)</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8</a:t>
            </a:fld>
            <a:endParaRPr lang="en-US" sz="1000">
              <a:latin typeface="Arial"/>
            </a:endParaRPr>
          </a:p>
        </p:txBody>
      </p:sp>
      <p:pic>
        <p:nvPicPr>
          <p:cNvPr id="5" name="Picture 4" descr="fig_stoprule_closed.png"/>
          <p:cNvPicPr>
            <a:picLocks noChangeAspect="1"/>
          </p:cNvPicPr>
          <p:nvPr/>
        </p:nvPicPr>
        <p:blipFill>
          <a:blip/>
          <a:stretch>
            <a:fillRect/>
          </a:stretch>
        </p:blipFill>
        <p:spPr>
          <a:xfrm>
            <a:off x="365760" y="1476966"/>
            <a:ext cx="8503920" cy="3007955"/>
          </a:xfrm>
          <a:prstGeom prst="rect">
            <a:avLst/>
          </a:prstGeom>
        </p:spPr>
      </p:pic>
      <p:sp>
        <p:nvSpPr>
          <p:cNvPr id="7" name="TextBox 6"/>
          <p:cNvSpPr txBox="1"/>
          <p:nvPr/>
        </p:nvSpPr>
        <p:spPr>
          <a:xfrm>
            <a:off x="9052560" y="1188720"/>
            <a:ext cx="2926080" cy="4572000"/>
          </a:xfrm>
          <a:prstGeom prst="rect">
            <a:avLst/>
          </a:prstGeom>
          <a:noFill/>
        </p:spPr>
        <p:txBody>
          <a:bodyPr wrap="square" lIns="45720" tIns="27432" rIns="45720" bIns="27432" anchor="t">
            <a:spAutoFit/>
          </a:bodyPr>
          <a:lstStyle/>
          <a:p>
            <a:pPr algn="l">
              <a:lnSpc>
                <a:spcPct val="105000"/>
              </a:lnSpc>
              <a:spcAft>
                <a:spcPts val="600"/>
              </a:spcAft>
            </a:pPr>
            <a:r>
              <a:rPr sz="1250" b="1" i="0" dirty="0">
                <a:solidFill>
                  <a:srgbClr val="1F1F1F"/>
                </a:solidFill>
                <a:latin typeface="Arial"/>
              </a:rPr>
              <a:t>•  Live decision (10-10)</a:t>
            </a:r>
          </a:p>
          <a:p>
            <a:pPr algn="l">
              <a:lnSpc>
                <a:spcPct val="105000"/>
              </a:lnSpc>
              <a:spcAft>
                <a:spcPts val="600"/>
              </a:spcAft>
            </a:pPr>
            <a:r>
              <a:rPr sz="1250" b="0" i="0" dirty="0">
                <a:solidFill>
                  <a:srgbClr val="1F1F1F"/>
                </a:solidFill>
                <a:latin typeface="Arial"/>
              </a:rPr>
              <a:t>•  STOP at r2: gains 0.69 </a:t>
            </a:r>
            <a:r>
              <a:rPr sz="1250" b="0" i="0" dirty="0" err="1">
                <a:solidFill>
                  <a:srgbClr val="1F1F1F"/>
                </a:solidFill>
                <a:latin typeface="Arial"/>
              </a:rPr>
              <a:t>τ</a:t>
            </a:r>
            <a:r>
              <a:rPr sz="1250" b="0" i="0" dirty="0">
                <a:solidFill>
                  <a:srgbClr val="1F1F1F"/>
                </a:solidFill>
                <a:latin typeface="Arial"/>
              </a:rPr>
              <a:t>, then 0.17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1" i="0" dirty="0">
                <a:solidFill>
                  <a:srgbClr val="1F1F1F"/>
                </a:solidFill>
                <a:latin typeface="Arial"/>
              </a:rPr>
              <a:t>•  Overrun verdict</a:t>
            </a:r>
          </a:p>
          <a:p>
            <a:pPr algn="l">
              <a:lnSpc>
                <a:spcPct val="105000"/>
              </a:lnSpc>
              <a:spcAft>
                <a:spcPts val="600"/>
              </a:spcAft>
            </a:pPr>
            <a:r>
              <a:rPr sz="1250" b="0" i="0" dirty="0">
                <a:solidFill>
                  <a:srgbClr val="1F1F1F"/>
                </a:solidFill>
                <a:latin typeface="Arial"/>
              </a:rPr>
              <a:t>•  r3: 0.62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a:t>
            </a:r>
          </a:p>
          <a:p>
            <a:pPr algn="l">
              <a:lnSpc>
                <a:spcPct val="105000"/>
              </a:lnSpc>
              <a:spcAft>
                <a:spcPts val="600"/>
              </a:spcAft>
            </a:pPr>
            <a:r>
              <a:rPr sz="1250" b="0" i="0" dirty="0">
                <a:solidFill>
                  <a:srgbClr val="1F1F1F"/>
                </a:solidFill>
                <a:latin typeface="Arial"/>
              </a:rPr>
              <a:t>•  r4: 0.30 </a:t>
            </a:r>
            <a:r>
              <a:rPr sz="1250" b="0" i="0" dirty="0" err="1">
                <a:solidFill>
                  <a:srgbClr val="1F1F1F"/>
                </a:solidFill>
                <a:latin typeface="Arial"/>
              </a:rPr>
              <a:t>τ</a:t>
            </a:r>
            <a:r>
              <a:rPr sz="1250" b="0" i="0" dirty="0">
                <a:solidFill>
                  <a:srgbClr val="1F1F1F"/>
                </a:solidFill>
                <a:latin typeface="Arial"/>
              </a:rPr>
              <a:t> — below </a:t>
            </a:r>
            <a:r>
              <a:rPr sz="1250" b="0" i="0" dirty="0" err="1">
                <a:solidFill>
                  <a:srgbClr val="1F1F1F"/>
                </a:solidFill>
                <a:latin typeface="Arial"/>
              </a:rPr>
              <a:t>τ</a:t>
            </a:r>
            <a:r>
              <a:rPr sz="1250" b="0" i="0" dirty="0">
                <a:solidFill>
                  <a:srgbClr val="1F1F1F"/>
                </a:solidFill>
                <a:latin typeface="Arial"/>
              </a:rPr>
              <a:t>. Hard cap; P1 complete.</a:t>
            </a:r>
          </a:p>
          <a:p>
            <a:pPr algn="l">
              <a:lnSpc>
                <a:spcPct val="105000"/>
              </a:lnSpc>
              <a:spcAft>
                <a:spcPts val="600"/>
              </a:spcAft>
            </a:pPr>
            <a:r>
              <a:rPr sz="1250" b="1" i="0" dirty="0">
                <a:solidFill>
                  <a:srgbClr val="1F1F1F"/>
                </a:solidFill>
                <a:latin typeface="Arial"/>
              </a:rPr>
              <a:t>•  Cost of ignoring the rule</a:t>
            </a:r>
          </a:p>
          <a:p>
            <a:pPr algn="l">
              <a:lnSpc>
                <a:spcPct val="105000"/>
              </a:lnSpc>
              <a:spcAft>
                <a:spcPts val="600"/>
              </a:spcAft>
            </a:pPr>
            <a:r>
              <a:rPr sz="1250" b="0" i="0" dirty="0">
                <a:solidFill>
                  <a:srgbClr val="1F1F1F"/>
                </a:solidFill>
                <a:latin typeface="Arial"/>
              </a:rPr>
              <a:t>•  16 extra runs bought +6.9% HV, every increment sub-threshold.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lang="en-US" altLang="zh-CN" sz="2100" dirty="0">
                <a:solidFill>
                  <a:srgbClr val="0C2340"/>
                </a:solidFill>
              </a:rPr>
              <a:t>How many seeds for </a:t>
            </a:r>
            <a:r>
              <a:rPr lang="en-US" altLang="zh-CN" sz="2100" dirty="0" err="1">
                <a:solidFill>
                  <a:srgbClr val="0C2340"/>
                </a:solidFill>
              </a:rPr>
              <a:t>bo</a:t>
            </a:r>
            <a:endParaRPr sz="21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9</a:t>
            </a:fld>
            <a:endParaRPr lang="en-US" sz="1000">
              <a:latin typeface="Arial"/>
            </a:endParaRPr>
          </a:p>
        </p:txBody>
      </p:sp>
      <p:sp>
        <p:nvSpPr>
          <p:cNvPr id="5" name="Rounded Rectangle 4"/>
          <p:cNvSpPr/>
          <p:nvPr/>
        </p:nvSpPr>
        <p:spPr>
          <a:xfrm>
            <a:off x="9189720" y="146304"/>
            <a:ext cx="2880360" cy="329184"/>
          </a:xfrm>
          <a:prstGeom prst="roundRect">
            <a:avLst>
              <a:gd name="adj" fmla="val 30000"/>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dirty="0">
                <a:solidFill>
                  <a:srgbClr val="FFFFFF"/>
                </a:solidFill>
                <a:latin typeface="Arial"/>
              </a:rPr>
              <a:t>DECISION · 1014-D</a:t>
            </a:r>
            <a:r>
              <a:rPr lang="en-US" altLang="zh-CN" sz="850" b="1" dirty="0">
                <a:solidFill>
                  <a:srgbClr val="FFFFFF"/>
                </a:solidFill>
                <a:latin typeface="Arial"/>
              </a:rPr>
              <a:t>2</a:t>
            </a:r>
            <a:r>
              <a:rPr sz="850" b="1" dirty="0">
                <a:solidFill>
                  <a:srgbClr val="FFFFFF"/>
                </a:solidFill>
                <a:latin typeface="Arial"/>
              </a:rPr>
              <a:t> seed count: 5 or 10</a:t>
            </a:r>
          </a:p>
        </p:txBody>
      </p:sp>
      <p:graphicFrame>
        <p:nvGraphicFramePr>
          <p:cNvPr id="6" name="Table 5"/>
          <p:cNvGraphicFramePr>
            <a:graphicFrameLocks noGrp="1"/>
          </p:cNvGraphicFramePr>
          <p:nvPr>
            <p:extLst>
              <p:ext uri="{D42A27DB-BD31-4B8C-83A1-F6EECF244321}">
                <p14:modId xmlns:p14="http://schemas.microsoft.com/office/powerpoint/2010/main" val="638265852"/>
              </p:ext>
            </p:extLst>
          </p:nvPr>
        </p:nvGraphicFramePr>
        <p:xfrm>
          <a:off x="457200" y="1234440"/>
          <a:ext cx="9326880" cy="2103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tblGrid>
              <a:tr h="420624">
                <a:tc>
                  <a:txBody>
                    <a:bodyPr/>
                    <a:lstStyle/>
                    <a:p>
                      <a:r>
                        <a:rPr sz="1200" b="1" i="0">
                          <a:solidFill>
                            <a:srgbClr val="1F1F1F"/>
                          </a:solidFill>
                          <a:latin typeface="Arial"/>
                        </a:rPr>
                        <a:t>Acquisition</a:t>
                      </a:r>
                    </a:p>
                  </a:txBody>
                  <a:tcPr marL="54864" marR="54864" marT="27432" marB="27432">
                    <a:solidFill>
                      <a:srgbClr val="DCE3EE"/>
                    </a:solidFill>
                  </a:tcPr>
                </a:tc>
                <a:tc>
                  <a:txBody>
                    <a:bodyPr/>
                    <a:lstStyle/>
                    <a:p>
                      <a:r>
                        <a:rPr sz="1200" b="1" i="0">
                          <a:solidFill>
                            <a:srgbClr val="1F1F1F"/>
                          </a:solidFill>
                          <a:latin typeface="Arial"/>
                        </a:rPr>
                        <a:t>Start set</a:t>
                      </a:r>
                    </a:p>
                  </a:txBody>
                  <a:tcPr marL="54864" marR="54864" marT="27432" marB="27432">
                    <a:solidFill>
                      <a:srgbClr val="DCE3EE"/>
                    </a:solidFill>
                  </a:tcPr>
                </a:tc>
                <a:tc>
                  <a:txBody>
                    <a:bodyPr/>
                    <a:lstStyle/>
                    <a:p>
                      <a:r>
                        <a:rPr sz="1200" b="1" i="0" dirty="0">
                          <a:solidFill>
                            <a:srgbClr val="1F1F1F"/>
                          </a:solidFill>
                          <a:latin typeface="Arial"/>
                        </a:rPr>
                        <a:t>Latest</a:t>
                      </a:r>
                    </a:p>
                  </a:txBody>
                  <a:tcPr marL="54864" marR="54864" marT="27432" marB="27432">
                    <a:solidFill>
                      <a:srgbClr val="DCE3EE"/>
                    </a:solidFill>
                  </a:tcPr>
                </a:tc>
                <a:tc>
                  <a:txBody>
                    <a:bodyPr/>
                    <a:lstStyle/>
                    <a:p>
                      <a:r>
                        <a:rPr sz="1200" b="1" i="0">
                          <a:solidFill>
                            <a:srgbClr val="1F1F1F"/>
                          </a:solidFill>
                          <a:latin typeface="Arial"/>
                        </a:rPr>
                        <a:t>Gain vs τ</a:t>
                      </a:r>
                    </a:p>
                  </a:txBody>
                  <a:tcPr marL="54864" marR="54864" marT="27432" marB="27432">
                    <a:solidFill>
                      <a:srgbClr val="DCE3EE"/>
                    </a:solidFill>
                  </a:tcPr>
                </a:tc>
                <a:tc>
                  <a:txBody>
                    <a:bodyPr/>
                    <a:lstStyle/>
                    <a:p>
                      <a:r>
                        <a:rPr sz="1200" b="1" i="0">
                          <a:solidFill>
                            <a:srgbClr val="1F1F1F"/>
                          </a:solidFill>
                          <a:latin typeface="Arial"/>
                        </a:rPr>
                        <a:t>State</a:t>
                      </a:r>
                    </a:p>
                  </a:txBody>
                  <a:tcPr marL="54864" marR="54864" marT="27432" marB="27432">
                    <a:solidFill>
                      <a:srgbClr val="DCE3EE"/>
                    </a:solidFill>
                  </a:tcPr>
                </a:tc>
                <a:extLst>
                  <a:ext uri="{0D108BD9-81ED-4DB2-BD59-A6C34878D82A}">
                    <a16:rowId xmlns:a16="http://schemas.microsoft.com/office/drawing/2014/main" val="10000"/>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sz="1200" b="0" i="0">
                          <a:solidFill>
                            <a:srgbClr val="1F1F1F"/>
                          </a:solidFill>
                          <a:latin typeface="Arial"/>
                        </a:rPr>
                        <a:t>the 32 (seed 0)</a:t>
                      </a:r>
                    </a:p>
                  </a:txBody>
                  <a:tcPr marL="54864" marR="54864" marT="27432" marB="27432">
                    <a:solidFill>
                      <a:srgbClr val="FFFFFF"/>
                    </a:solidFill>
                  </a:tcPr>
                </a:tc>
                <a:tc>
                  <a:txBody>
                    <a:bodyPr/>
                    <a:lstStyle/>
                    <a:p>
                      <a:r>
                        <a:rPr sz="1200" b="0" i="0" dirty="0">
                          <a:solidFill>
                            <a:srgbClr val="1F1F1F"/>
                          </a:solidFill>
                          <a:latin typeface="Arial"/>
                        </a:rPr>
                        <a:t>r4 (hard cap)</a:t>
                      </a:r>
                      <a:r>
                        <a:rPr lang="en-GB" sz="1200" b="0" i="0" dirty="0">
                          <a:solidFill>
                            <a:srgbClr val="1F1F1F"/>
                          </a:solidFill>
                          <a:latin typeface="Arial"/>
                        </a:rPr>
                        <a:t> (finished)</a:t>
                      </a:r>
                      <a:endParaRPr sz="1200" b="0" i="0" dirty="0">
                        <a:solidFill>
                          <a:srgbClr val="1F1F1F"/>
                        </a:solidFill>
                        <a:latin typeface="Arial"/>
                      </a:endParaRPr>
                    </a:p>
                  </a:txBody>
                  <a:tcPr marL="54864" marR="54864" marT="27432" marB="27432">
                    <a:solidFill>
                      <a:srgbClr val="FFFFFF"/>
                    </a:solidFill>
                  </a:tcPr>
                </a:tc>
                <a:tc>
                  <a:txBody>
                    <a:bodyPr/>
                    <a:lstStyle/>
                    <a:p>
                      <a:r>
                        <a:rPr sz="1200" b="0" i="0">
                          <a:solidFill>
                            <a:srgbClr val="1F1F1F"/>
                          </a:solidFill>
                          <a:latin typeface="Arial"/>
                        </a:rPr>
                        <a:t>0.30 τ</a:t>
                      </a:r>
                    </a:p>
                  </a:txBody>
                  <a:tcPr marL="54864" marR="54864" marT="27432" marB="27432">
                    <a:solidFill>
                      <a:srgbClr val="FFFFFF"/>
                    </a:solidFill>
                  </a:tcPr>
                </a:tc>
                <a:tc>
                  <a:txBody>
                    <a:bodyPr/>
                    <a:lstStyle/>
                    <a:p>
                      <a:r>
                        <a:rPr sz="1200" b="0" i="0">
                          <a:solidFill>
                            <a:srgbClr val="1F1F1F"/>
                          </a:solidFill>
                          <a:latin typeface="Arial"/>
                        </a:rPr>
                        <a:t>COMPLETE — stop held</a:t>
                      </a:r>
                    </a:p>
                  </a:txBody>
                  <a:tcPr marL="54864" marR="54864" marT="27432" marB="27432">
                    <a:solidFill>
                      <a:srgbClr val="FFFFFF"/>
                    </a:solidFill>
                  </a:tcPr>
                </a:tc>
                <a:extLst>
                  <a:ext uri="{0D108BD9-81ED-4DB2-BD59-A6C34878D82A}">
                    <a16:rowId xmlns:a16="http://schemas.microsoft.com/office/drawing/2014/main" val="10001"/>
                  </a:ext>
                </a:extLst>
              </a:tr>
              <a:tr h="420624">
                <a:tc>
                  <a:txBody>
                    <a:bodyPr/>
                    <a:lstStyle/>
                    <a:p>
                      <a:r>
                        <a:rPr sz="1200" b="0" i="0">
                          <a:solidFill>
                            <a:srgbClr val="1F1F1F"/>
                          </a:solidFill>
                          <a:latin typeface="Arial"/>
                        </a:rPr>
                        <a:t>q-ParEGO</a:t>
                      </a:r>
                    </a:p>
                  </a:txBody>
                  <a:tcPr marL="54864" marR="54864" marT="27432" marB="27432">
                    <a:solidFill>
                      <a:srgbClr val="F6F6F6"/>
                    </a:solidFill>
                  </a:tcPr>
                </a:tc>
                <a:tc>
                  <a:txBody>
                    <a:bodyPr/>
                    <a:lstStyle/>
                    <a:p>
                      <a:r>
                        <a:rPr lang="en-GB" sz="1200" b="0" i="0" dirty="0">
                          <a:solidFill>
                            <a:srgbClr val="1F1F1F"/>
                          </a:solidFill>
                          <a:latin typeface="Arial"/>
                        </a:rPr>
                        <a:t>new</a:t>
                      </a:r>
                      <a:r>
                        <a:rPr sz="1200" b="0" i="0" dirty="0">
                          <a:solidFill>
                            <a:srgbClr val="1F1F1F"/>
                          </a:solidFill>
                          <a:latin typeface="Arial"/>
                        </a:rPr>
                        <a:t> 32, seed 2</a:t>
                      </a:r>
                    </a:p>
                  </a:txBody>
                  <a:tcPr marL="54864" marR="54864" marT="27432" marB="27432">
                    <a:solidFill>
                      <a:srgbClr val="F6F6F6"/>
                    </a:solidFill>
                  </a:tcPr>
                </a:tc>
                <a:tc>
                  <a:txBody>
                    <a:bodyPr/>
                    <a:lstStyle/>
                    <a:p>
                      <a:r>
                        <a:rPr sz="1200" b="0" i="0">
                          <a:solidFill>
                            <a:srgbClr val="1F1F1F"/>
                          </a:solidFill>
                          <a:latin typeface="Arial"/>
                        </a:rPr>
                        <a:t>r1</a:t>
                      </a:r>
                    </a:p>
                  </a:txBody>
                  <a:tcPr marL="54864" marR="54864" marT="27432" marB="27432">
                    <a:solidFill>
                      <a:srgbClr val="F6F6F6"/>
                    </a:solidFill>
                  </a:tcPr>
                </a:tc>
                <a:tc>
                  <a:txBody>
                    <a:bodyPr/>
                    <a:lstStyle/>
                    <a:p>
                      <a:r>
                        <a:rPr sz="1200" b="0" i="0">
                          <a:solidFill>
                            <a:srgbClr val="1F1F1F"/>
                          </a:solidFill>
                          <a:latin typeface="Arial"/>
                        </a:rPr>
                        <a:t>2.28 τ</a:t>
                      </a:r>
                    </a:p>
                  </a:txBody>
                  <a:tcPr marL="54864" marR="54864" marT="27432" marB="27432">
                    <a:solidFill>
                      <a:srgbClr val="F6F6F6"/>
                    </a:solidFill>
                  </a:tcPr>
                </a:tc>
                <a:tc>
                  <a:txBody>
                    <a:bodyPr/>
                    <a:lstStyle/>
                    <a:p>
                      <a:r>
                        <a:rPr sz="1200" b="0" i="0">
                          <a:solidFill>
                            <a:srgbClr val="1F1F1F"/>
                          </a:solidFill>
                          <a:latin typeface="Arial"/>
                        </a:rPr>
                        <a:t>r2 array running</a:t>
                      </a:r>
                    </a:p>
                  </a:txBody>
                  <a:tcPr marL="54864" marR="54864" marT="27432" marB="27432">
                    <a:solidFill>
                      <a:srgbClr val="F6F6F6"/>
                    </a:solidFill>
                  </a:tcPr>
                </a:tc>
                <a:extLst>
                  <a:ext uri="{0D108BD9-81ED-4DB2-BD59-A6C34878D82A}">
                    <a16:rowId xmlns:a16="http://schemas.microsoft.com/office/drawing/2014/main" val="10002"/>
                  </a:ext>
                </a:extLst>
              </a:tr>
              <a:tr h="420624">
                <a:tc>
                  <a:txBody>
                    <a:bodyPr/>
                    <a:lstStyle/>
                    <a:p>
                      <a:r>
                        <a:rPr sz="1200" b="0" i="0">
                          <a:solidFill>
                            <a:srgbClr val="1F1F1F"/>
                          </a:solidFill>
                          <a:latin typeface="Arial"/>
                        </a:rPr>
                        <a:t>q-ParEGO</a:t>
                      </a:r>
                    </a:p>
                  </a:txBody>
                  <a:tcPr marL="54864" marR="54864" marT="27432" marB="27432">
                    <a:solidFill>
                      <a:srgbClr val="FFFFFF"/>
                    </a:solidFill>
                  </a:tcPr>
                </a:tc>
                <a:tc>
                  <a:txBody>
                    <a:bodyPr/>
                    <a:lstStyle/>
                    <a:p>
                      <a:r>
                        <a:rPr lang="en-GB" sz="1200" b="0" i="0" dirty="0">
                          <a:solidFill>
                            <a:srgbClr val="1F1F1F"/>
                          </a:solidFill>
                          <a:latin typeface="Arial"/>
                        </a:rPr>
                        <a:t>new</a:t>
                      </a:r>
                      <a:r>
                        <a:rPr sz="1200" b="0" i="0" dirty="0">
                          <a:solidFill>
                            <a:srgbClr val="1F1F1F"/>
                          </a:solidFill>
                          <a:latin typeface="Arial"/>
                        </a:rPr>
                        <a:t> 32, seed 3</a:t>
                      </a:r>
                    </a:p>
                  </a:txBody>
                  <a:tcPr marL="54864" marR="54864" marT="27432" marB="27432">
                    <a:solidFill>
                      <a:srgbClr val="FFFFFF"/>
                    </a:solidFill>
                  </a:tcPr>
                </a:tc>
                <a:tc>
                  <a:txBody>
                    <a:bodyPr/>
                    <a:lstStyle/>
                    <a:p>
                      <a:r>
                        <a:rPr sz="1200" b="0" i="0">
                          <a:solidFill>
                            <a:srgbClr val="1F1F1F"/>
                          </a:solidFill>
                          <a:latin typeface="Arial"/>
                        </a:rPr>
                        <a:t>r1</a:t>
                      </a:r>
                    </a:p>
                  </a:txBody>
                  <a:tcPr marL="54864" marR="54864" marT="27432" marB="27432">
                    <a:solidFill>
                      <a:srgbClr val="FFFFFF"/>
                    </a:solidFill>
                  </a:tcPr>
                </a:tc>
                <a:tc>
                  <a:txBody>
                    <a:bodyPr/>
                    <a:lstStyle/>
                    <a:p>
                      <a:r>
                        <a:rPr sz="1200" b="0" i="0">
                          <a:solidFill>
                            <a:srgbClr val="1F1F1F"/>
                          </a:solidFill>
                          <a:latin typeface="Arial"/>
                        </a:rPr>
                        <a:t>0.77 τ</a:t>
                      </a:r>
                    </a:p>
                  </a:txBody>
                  <a:tcPr marL="54864" marR="54864" marT="27432" marB="27432">
                    <a:solidFill>
                      <a:srgbClr val="FFFFFF"/>
                    </a:solidFill>
                  </a:tcPr>
                </a:tc>
                <a:tc>
                  <a:txBody>
                    <a:bodyPr/>
                    <a:lstStyle/>
                    <a:p>
                      <a:r>
                        <a:rPr sz="1200" b="0" i="0">
                          <a:solidFill>
                            <a:srgbClr val="1F1F1F"/>
                          </a:solidFill>
                          <a:latin typeface="Arial"/>
                        </a:rPr>
                        <a:t>r2 array running</a:t>
                      </a:r>
                    </a:p>
                  </a:txBody>
                  <a:tcPr marL="54864" marR="54864" marT="27432" marB="27432">
                    <a:solidFill>
                      <a:srgbClr val="FFFFFF"/>
                    </a:solidFill>
                  </a:tcPr>
                </a:tc>
                <a:extLst>
                  <a:ext uri="{0D108BD9-81ED-4DB2-BD59-A6C34878D82A}">
                    <a16:rowId xmlns:a16="http://schemas.microsoft.com/office/drawing/2014/main" val="10003"/>
                  </a:ext>
                </a:extLst>
              </a:tr>
              <a:tr h="420624">
                <a:tc>
                  <a:txBody>
                    <a:bodyPr/>
                    <a:lstStyle/>
                    <a:p>
                      <a:r>
                        <a:rPr sz="1200" b="0" i="0" dirty="0" err="1">
                          <a:solidFill>
                            <a:srgbClr val="1F1F1F"/>
                          </a:solidFill>
                          <a:latin typeface="Arial"/>
                        </a:rPr>
                        <a:t>qNEHVI</a:t>
                      </a:r>
                      <a:endParaRPr sz="1200" b="0" i="0" dirty="0">
                        <a:solidFill>
                          <a:srgbClr val="1F1F1F"/>
                        </a:solidFill>
                        <a:latin typeface="Arial"/>
                      </a:endParaRPr>
                    </a:p>
                  </a:txBody>
                  <a:tcPr marL="54864" marR="54864" marT="27432" marB="27432">
                    <a:solidFill>
                      <a:srgbClr val="F6F6F6"/>
                    </a:solidFill>
                  </a:tcPr>
                </a:tc>
                <a:tc>
                  <a:txBody>
                    <a:bodyPr/>
                    <a:lstStyle/>
                    <a:p>
                      <a:r>
                        <a:rPr sz="1200" b="0" i="0">
                          <a:solidFill>
                            <a:srgbClr val="1F1F1F"/>
                          </a:solidFill>
                          <a:latin typeface="Arial"/>
                        </a:rPr>
                        <a:t>the 32 (seed 0)</a:t>
                      </a:r>
                    </a:p>
                  </a:txBody>
                  <a:tcPr marL="54864" marR="54864" marT="27432" marB="27432">
                    <a:solidFill>
                      <a:srgbClr val="F6F6F6"/>
                    </a:solidFill>
                  </a:tcPr>
                </a:tc>
                <a:tc>
                  <a:txBody>
                    <a:bodyPr/>
                    <a:lstStyle/>
                    <a:p>
                      <a:r>
                        <a:rPr sz="1200" b="0" i="0">
                          <a:solidFill>
                            <a:srgbClr val="1F1F1F"/>
                          </a:solidFill>
                          <a:latin typeface="Arial"/>
                        </a:rPr>
                        <a:t>r1</a:t>
                      </a:r>
                    </a:p>
                  </a:txBody>
                  <a:tcPr marL="54864" marR="54864" marT="27432" marB="27432">
                    <a:solidFill>
                      <a:srgbClr val="F6F6F6"/>
                    </a:solidFill>
                  </a:tcPr>
                </a:tc>
                <a:tc>
                  <a:txBody>
                    <a:bodyPr/>
                    <a:lstStyle/>
                    <a:p>
                      <a:r>
                        <a:rPr sz="1200" b="0" i="0">
                          <a:solidFill>
                            <a:srgbClr val="1F1F1F"/>
                          </a:solidFill>
                          <a:latin typeface="Arial"/>
                        </a:rPr>
                        <a:t>1.43 τ</a:t>
                      </a:r>
                    </a:p>
                  </a:txBody>
                  <a:tcPr marL="54864" marR="54864" marT="27432" marB="27432">
                    <a:solidFill>
                      <a:srgbClr val="F6F6F6"/>
                    </a:solidFill>
                  </a:tcPr>
                </a:tc>
                <a:tc>
                  <a:txBody>
                    <a:bodyPr/>
                    <a:lstStyle/>
                    <a:p>
                      <a:r>
                        <a:rPr sz="1200" b="0" i="0" dirty="0">
                          <a:solidFill>
                            <a:srgbClr val="1F1F1F"/>
                          </a:solidFill>
                          <a:latin typeface="Arial"/>
                        </a:rPr>
                        <a:t>r</a:t>
                      </a:r>
                      <a:r>
                        <a:rPr lang="en-US" altLang="zh-CN" sz="1200" b="0" i="0" dirty="0">
                          <a:solidFill>
                            <a:srgbClr val="1F1F1F"/>
                          </a:solidFill>
                          <a:latin typeface="Arial"/>
                        </a:rPr>
                        <a:t>3</a:t>
                      </a:r>
                      <a:r>
                        <a:rPr sz="1200" b="0" i="0" dirty="0">
                          <a:solidFill>
                            <a:srgbClr val="1F1F1F"/>
                          </a:solidFill>
                          <a:latin typeface="Arial"/>
                        </a:rPr>
                        <a:t> </a:t>
                      </a:r>
                      <a:r>
                        <a:rPr lang="en-US" sz="1200" b="0" i="0" dirty="0">
                          <a:solidFill>
                            <a:srgbClr val="1F1F1F"/>
                          </a:solidFill>
                          <a:latin typeface="Arial"/>
                        </a:rPr>
                        <a:t>array running</a:t>
                      </a:r>
                      <a:endParaRPr sz="1200" b="0" i="0" dirty="0">
                        <a:solidFill>
                          <a:srgbClr val="1F1F1F"/>
                        </a:solidFill>
                        <a:latin typeface="Arial"/>
                      </a:endParaRP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000" b="1" i="0" dirty="0">
                <a:solidFill>
                  <a:srgbClr val="0C2340"/>
                </a:solidFill>
                <a:latin typeface="Arial"/>
              </a:rPr>
              <a:t>Why PEM cuts load she</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10</a:t>
            </a:fld>
            <a:endParaRPr lang="en-US" sz="1000">
              <a:latin typeface="Arial"/>
            </a:endParaRPr>
          </a:p>
        </p:txBody>
      </p:sp>
      <p:sp>
        <p:nvSpPr>
          <p:cNvPr id="5" name="Rounded Rectangle 4"/>
          <p:cNvSpPr/>
          <p:nvPr/>
        </p:nvSpPr>
        <p:spPr>
          <a:xfrm>
            <a:off x="365760" y="1097280"/>
            <a:ext cx="11430000" cy="868680"/>
          </a:xfrm>
          <a:prstGeom prst="roundRect">
            <a:avLst>
              <a:gd name="adj" fmla="val 4000"/>
            </a:avLst>
          </a:prstGeom>
          <a:solidFill>
            <a:srgbClr val="FDF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75488" y="1161288"/>
            <a:ext cx="11210544" cy="740664"/>
          </a:xfrm>
          <a:prstGeom prst="rect">
            <a:avLst/>
          </a:prstGeom>
          <a:noFill/>
        </p:spPr>
        <p:txBody>
          <a:bodyPr wrap="square" lIns="45720" tIns="27432" rIns="45720" bIns="27432" anchor="t">
            <a:spAutoFit/>
          </a:bodyPr>
          <a:lstStyle/>
          <a:p>
            <a:pPr algn="l">
              <a:lnSpc>
                <a:spcPct val="105000"/>
              </a:lnSpc>
              <a:spcAft>
                <a:spcPts val="400"/>
              </a:spcAft>
            </a:pPr>
            <a:r>
              <a:rPr sz="1400" b="1" i="0">
                <a:solidFill>
                  <a:srgbClr val="1F1F1F"/>
                </a:solidFill>
                <a:latin typeface="Arial"/>
              </a:rPr>
              <a:t>PEM retrofits cut shed not by selling power in scarcity: priced PEM demand absorbs the wind forecast, so the day-ahead RUC commits ~1.2 GW more thermal and the scarce hours arrive with headroom.</a:t>
            </a:r>
          </a:p>
        </p:txBody>
      </p:sp>
      <p:pic>
        <p:nvPicPr>
          <p:cNvPr id="7" name="Picture 6" descr="fig_h1_commitment.png"/>
          <p:cNvPicPr>
            <a:picLocks noChangeAspect="1"/>
          </p:cNvPicPr>
          <p:nvPr/>
        </p:nvPicPr>
        <p:blipFill>
          <a:blip/>
          <a:stretch>
            <a:fillRect/>
          </a:stretch>
        </p:blipFill>
        <p:spPr>
          <a:xfrm>
            <a:off x="365760" y="2153194"/>
            <a:ext cx="7223760" cy="3027099"/>
          </a:xfrm>
          <a:prstGeom prst="rect">
            <a:avLst/>
          </a:prstGeom>
        </p:spPr>
      </p:pic>
      <p:sp>
        <p:nvSpPr>
          <p:cNvPr id="9" name="TextBox 8"/>
          <p:cNvSpPr txBox="1"/>
          <p:nvPr/>
        </p:nvSpPr>
        <p:spPr>
          <a:xfrm>
            <a:off x="7772400" y="2103120"/>
            <a:ext cx="4206240" cy="4023360"/>
          </a:xfrm>
          <a:prstGeom prst="rect">
            <a:avLst/>
          </a:prstGeom>
          <a:noFill/>
        </p:spPr>
        <p:txBody>
          <a:bodyPr wrap="square" lIns="45720" tIns="27432" rIns="45720" bIns="27432" anchor="t">
            <a:spAutoFit/>
          </a:bodyPr>
          <a:lstStyle/>
          <a:p>
            <a:pPr algn="l">
              <a:lnSpc>
                <a:spcPct val="105000"/>
              </a:lnSpc>
              <a:spcAft>
                <a:spcPts val="600"/>
              </a:spcAft>
            </a:pPr>
            <a:r>
              <a:rPr sz="1150" b="1" i="0" dirty="0">
                <a:solidFill>
                  <a:srgbClr val="1E8449"/>
                </a:solidFill>
                <a:latin typeface="Arial"/>
              </a:rPr>
              <a:t>•  H1 commitment headroom — supported, dominant</a:t>
            </a:r>
          </a:p>
          <a:p>
            <a:pPr algn="l">
              <a:lnSpc>
                <a:spcPct val="105000"/>
              </a:lnSpc>
              <a:spcAft>
                <a:spcPts val="600"/>
              </a:spcAft>
            </a:pPr>
            <a:r>
              <a:rPr sz="1150" b="0" i="0" dirty="0">
                <a:solidFill>
                  <a:srgbClr val="1F1F1F"/>
                </a:solidFill>
                <a:latin typeface="Arial"/>
              </a:rPr>
              <a:t>•  zero-shed designs commit +1.2-1.3 GW more thermal; headroom 737-771 MW vs exactly 0; extra thermal covers 107-171% of the shed difference in all 8 pairs.</a:t>
            </a:r>
          </a:p>
          <a:p>
            <a:pPr algn="l">
              <a:lnSpc>
                <a:spcPct val="105000"/>
              </a:lnSpc>
              <a:spcAft>
                <a:spcPts val="600"/>
              </a:spcAft>
            </a:pPr>
            <a:r>
              <a:rPr sz="1150" b="1" i="0" dirty="0">
                <a:solidFill>
                  <a:srgbClr val="C0392B"/>
                </a:solidFill>
                <a:latin typeface="Arial"/>
              </a:rPr>
              <a:t>•  H2 scarcity sales (as driver), H3 location (slack-bus accounting), H4 reserve substitution — all contradicted</a:t>
            </a:r>
          </a:p>
          <a:p>
            <a:pPr algn="l">
              <a:lnSpc>
                <a:spcPct val="105000"/>
              </a:lnSpc>
              <a:spcAft>
                <a:spcPts val="600"/>
              </a:spcAft>
            </a:pPr>
            <a:r>
              <a:rPr sz="1150" b="1" i="0" dirty="0">
                <a:solidFill>
                  <a:srgbClr val="1F1F1F"/>
                </a:solidFill>
                <a:latin typeface="Arial"/>
              </a:rPr>
              <a:t>•  Q2 floor: confirmed</a:t>
            </a:r>
          </a:p>
          <a:p>
            <a:pPr algn="l">
              <a:lnSpc>
                <a:spcPct val="105000"/>
              </a:lnSpc>
              <a:spcAft>
                <a:spcPts val="600"/>
              </a:spcAft>
            </a:pPr>
            <a:r>
              <a:rPr sz="1150" b="0" i="0" dirty="0">
                <a:solidFill>
                  <a:srgbClr val="1F1F1F"/>
                </a:solidFill>
                <a:latin typeface="Arial"/>
              </a:rPr>
              <a:t>•  all 7 designs: one winter-morning event (12-18 h7, 22.4 MWh), same +962 MW commitment change, decomposition residual 0.000.</a:t>
            </a:r>
          </a:p>
          <a:p>
            <a:pPr algn="l">
              <a:lnSpc>
                <a:spcPct val="105000"/>
              </a:lnSpc>
              <a:spcAft>
                <a:spcPts val="600"/>
              </a:spcAft>
            </a:pPr>
            <a:r>
              <a:rPr sz="1150" b="0" i="1" dirty="0">
                <a:solidFill>
                  <a:srgbClr val="1F1F1F"/>
                </a:solidFill>
                <a:latin typeface="Arial"/>
              </a:rPr>
              <a:t>•  Caveat: a property of cost-based RUC under priced withholding — model sensitivity goes to Discussion.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 y="128016"/>
            <a:ext cx="8961120" cy="786384"/>
          </a:xfrm>
        </p:spPr>
        <p:txBody>
          <a:bodyPr wrap="square" anchor="ctr"/>
          <a:lstStyle/>
          <a:p>
            <a:pPr algn="l"/>
            <a:r>
              <a:rPr sz="2100" b="1" i="0">
                <a:solidFill>
                  <a:srgbClr val="0C2340"/>
                </a:solidFill>
                <a:latin typeface="Arial"/>
              </a:rPr>
              <a:t>ERCOT: our conversion is exact; the quirks are the dataset's</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11</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sp>
        <p:nvSpPr>
          <p:cNvPr id="5" name="Rounded Rectangle 4"/>
          <p:cNvSpPr/>
          <p:nvPr/>
        </p:nvSpPr>
        <p:spPr>
          <a:xfrm>
            <a:off x="9189720" y="146304"/>
            <a:ext cx="2880360" cy="329184"/>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 rIns="54864" bIns="9144" rtlCol="0" anchor="ctr"/>
          <a:lstStyle/>
          <a:p>
            <a:pPr algn="ctr"/>
            <a:r>
              <a:rPr sz="850" b="1">
                <a:solidFill>
                  <a:srgbClr val="FFFFFF"/>
                </a:solidFill>
                <a:latin typeface="Arial"/>
              </a:rPr>
              <a:t>ROADBLOCKER · wave D gated on 1014-D3</a:t>
            </a:r>
          </a:p>
        </p:txBody>
      </p:sp>
      <p:graphicFrame>
        <p:nvGraphicFramePr>
          <p:cNvPr id="6" name="Table 5"/>
          <p:cNvGraphicFramePr>
            <a:graphicFrameLocks noGrp="1"/>
          </p:cNvGraphicFramePr>
          <p:nvPr/>
        </p:nvGraphicFramePr>
        <p:xfrm>
          <a:off x="457200" y="1234440"/>
          <a:ext cx="11247120" cy="256032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12064">
                <a:tc>
                  <a:txBody>
                    <a:bodyPr/>
                    <a:lstStyle/>
                    <a:p>
                      <a:r>
                        <a:rPr sz="1150" b="1" i="0">
                          <a:solidFill>
                            <a:srgbClr val="1F1F1F"/>
                          </a:solidFill>
                          <a:latin typeface="Arial"/>
                        </a:rPr>
                        <a:t>Flag</a:t>
                      </a:r>
                    </a:p>
                  </a:txBody>
                  <a:tcPr marL="54864" marR="54864" marT="27432" marB="27432">
                    <a:solidFill>
                      <a:srgbClr val="DCE3EE"/>
                    </a:solidFill>
                  </a:tcPr>
                </a:tc>
                <a:tc>
                  <a:txBody>
                    <a:bodyPr/>
                    <a:lstStyle/>
                    <a:p>
                      <a:r>
                        <a:rPr sz="1150" b="1" i="0">
                          <a:solidFill>
                            <a:srgbClr val="1F1F1F"/>
                          </a:solidFill>
                          <a:latin typeface="Arial"/>
                        </a:rPr>
                        <a:t>Finding</a:t>
                      </a:r>
                    </a:p>
                  </a:txBody>
                  <a:tcPr marL="54864" marR="54864" marT="27432" marB="27432">
                    <a:solidFill>
                      <a:srgbClr val="DCE3EE"/>
                    </a:solidFill>
                  </a:tcPr>
                </a:tc>
                <a:tc>
                  <a:txBody>
                    <a:bodyPr/>
                    <a:lstStyle/>
                    <a:p>
                      <a:r>
                        <a:rPr sz="1150" b="1" i="0">
                          <a:solidFill>
                            <a:srgbClr val="1F1F1F"/>
                          </a:solidFill>
                          <a:latin typeface="Arial"/>
                        </a:rPr>
                        <a:t>Action</a:t>
                      </a:r>
                    </a:p>
                  </a:txBody>
                  <a:tcPr marL="54864" marR="54864" marT="27432" marB="27432">
                    <a:solidFill>
                      <a:srgbClr val="DCE3EE"/>
                    </a:solidFill>
                  </a:tcPr>
                </a:tc>
                <a:extLst>
                  <a:ext uri="{0D108BD9-81ED-4DB2-BD59-A6C34878D82A}">
                    <a16:rowId xmlns:a16="http://schemas.microsoft.com/office/drawing/2014/main" val="10000"/>
                  </a:ext>
                </a:extLst>
              </a:tr>
              <a:tr h="512064">
                <a:tc>
                  <a:txBody>
                    <a:bodyPr/>
                    <a:lstStyle/>
                    <a:p>
                      <a:r>
                        <a:rPr sz="1150" b="0" i="0">
                          <a:solidFill>
                            <a:srgbClr val="1F1F1F"/>
                          </a:solidFill>
                          <a:latin typeface="Arial"/>
                        </a:rPr>
                        <a:t>Coal 32% of energy (real 2019: 20%)</a:t>
                      </a:r>
                    </a:p>
                  </a:txBody>
                  <a:tcPr marL="54864" marR="54864" marT="27432" marB="27432">
                    <a:solidFill>
                      <a:srgbClr val="FFFFFF"/>
                    </a:solidFill>
                  </a:tcPr>
                </a:tc>
                <a:tc>
                  <a:txBody>
                    <a:bodyPr/>
                    <a:lstStyle/>
                    <a:p>
                      <a:r>
                        <a:rPr sz="1150" b="0" i="0">
                          <a:solidFill>
                            <a:srgbClr val="1F1F1F"/>
                          </a:solidFill>
                          <a:latin typeface="Arial"/>
                        </a:rPr>
                        <a:t>TX-123BT's own coefficients put all 13 coal units below all 113 gas units in merit order</a:t>
                      </a:r>
                    </a:p>
                  </a:txBody>
                  <a:tcPr marL="54864" marR="54864" marT="27432" marB="27432">
                    <a:solidFill>
                      <a:srgbClr val="FFFFFF"/>
                    </a:solidFill>
                  </a:tcPr>
                </a:tc>
                <a:tc>
                  <a:txBody>
                    <a:bodyPr/>
                    <a:lstStyle/>
                    <a:p>
                      <a:r>
                        <a:rPr sz="1150" b="0" i="0">
                          <a:solidFill>
                            <a:srgbClr val="1F1F1F"/>
                          </a:solidFill>
                          <a:latin typeface="Arial"/>
                        </a:rPr>
                        <a:t>inherit + disclose</a:t>
                      </a:r>
                    </a:p>
                  </a:txBody>
                  <a:tcPr marL="54864" marR="54864" marT="27432" marB="27432">
                    <a:solidFill>
                      <a:srgbClr val="FFFFFF"/>
                    </a:solidFill>
                  </a:tcPr>
                </a:tc>
                <a:extLst>
                  <a:ext uri="{0D108BD9-81ED-4DB2-BD59-A6C34878D82A}">
                    <a16:rowId xmlns:a16="http://schemas.microsoft.com/office/drawing/2014/main" val="10001"/>
                  </a:ext>
                </a:extLst>
              </a:tr>
              <a:tr h="512064">
                <a:tc>
                  <a:txBody>
                    <a:bodyPr/>
                    <a:lstStyle/>
                    <a:p>
                      <a:r>
                        <a:rPr sz="1150" b="0" i="0">
                          <a:solidFill>
                            <a:srgbClr val="1F1F1F"/>
                          </a:solidFill>
                          <a:latin typeface="Arial"/>
                        </a:rPr>
                        <a:t>Gas looks like peakers</a:t>
                      </a:r>
                    </a:p>
                  </a:txBody>
                  <a:tcPr marL="54864" marR="54864" marT="27432" marB="27432">
                    <a:solidFill>
                      <a:srgbClr val="F6F6F6"/>
                    </a:solidFill>
                  </a:tcPr>
                </a:tc>
                <a:tc>
                  <a:txBody>
                    <a:bodyPr/>
                    <a:lstStyle/>
                    <a:p>
                      <a:r>
                        <a:rPr sz="1150" b="0" i="0">
                          <a:solidFill>
                            <a:srgbClr val="1F1F1F"/>
                          </a:solidFill>
                          <a:latin typeface="Arial"/>
                        </a:rPr>
                        <a:t>implied heat rates ~18.5 MMBtu/MWh (real CC ~7) — the paper says 'typical' coefficients</a:t>
                      </a:r>
                    </a:p>
                  </a:txBody>
                  <a:tcPr marL="54864" marR="54864" marT="27432" marB="27432">
                    <a:solidFill>
                      <a:srgbClr val="F6F6F6"/>
                    </a:solidFill>
                  </a:tcPr>
                </a:tc>
                <a:tc>
                  <a:txBody>
                    <a:bodyPr/>
                    <a:lstStyle/>
                    <a:p>
                      <a:r>
                        <a:rPr sz="1150" b="0" i="0">
                          <a:solidFill>
                            <a:srgbClr val="1F1F1F"/>
                          </a:solidFill>
                          <a:latin typeface="Arial"/>
                        </a:rPr>
                        <a:t>inherit + disclose</a:t>
                      </a:r>
                    </a:p>
                  </a:txBody>
                  <a:tcPr marL="54864" marR="54864" marT="27432" marB="27432">
                    <a:solidFill>
                      <a:srgbClr val="F6F6F6"/>
                    </a:solidFill>
                  </a:tcPr>
                </a:tc>
                <a:extLst>
                  <a:ext uri="{0D108BD9-81ED-4DB2-BD59-A6C34878D82A}">
                    <a16:rowId xmlns:a16="http://schemas.microsoft.com/office/drawing/2014/main" val="10002"/>
                  </a:ext>
                </a:extLst>
              </a:tr>
              <a:tr h="512064">
                <a:tc>
                  <a:txBody>
                    <a:bodyPr/>
                    <a:lstStyle/>
                    <a:p>
                      <a:r>
                        <a:rPr sz="1150" b="0" i="0">
                          <a:solidFill>
                            <a:srgbClr val="1F1F1F"/>
                          </a:solidFill>
                          <a:latin typeface="Arial"/>
                        </a:rPr>
                        <a:t>PV fleet 8.26 GW (real 2.3)</a:t>
                      </a:r>
                    </a:p>
                  </a:txBody>
                  <a:tcPr marL="54864" marR="54864" marT="27432" marB="27432">
                    <a:solidFill>
                      <a:srgbClr val="FFFFFF"/>
                    </a:solidFill>
                  </a:tcPr>
                </a:tc>
                <a:tc>
                  <a:txBody>
                    <a:bodyPr/>
                    <a:lstStyle/>
                    <a:p>
                      <a:r>
                        <a:rPr sz="1150" b="0" i="0">
                          <a:solidFill>
                            <a:srgbClr val="1F1F1F"/>
                          </a:solidFill>
                          <a:latin typeface="Arial"/>
                        </a:rPr>
                        <a:t>the DATASET is internally inconsistent: its paper says 2.48 GW, its published files 8.26</a:t>
                      </a:r>
                    </a:p>
                  </a:txBody>
                  <a:tcPr marL="54864" marR="54864" marT="27432" marB="27432">
                    <a:solidFill>
                      <a:srgbClr val="FFFFFF"/>
                    </a:solidFill>
                  </a:tcPr>
                </a:tc>
                <a:tc>
                  <a:txBody>
                    <a:bodyPr/>
                    <a:lstStyle/>
                    <a:p>
                      <a:r>
                        <a:rPr sz="1150" b="0" i="0">
                          <a:solidFill>
                            <a:srgbClr val="1F1F1F"/>
                          </a:solidFill>
                          <a:latin typeface="Arial"/>
                        </a:rPr>
                        <a:t>inherit published files + 1 sentence</a:t>
                      </a:r>
                    </a:p>
                  </a:txBody>
                  <a:tcPr marL="54864" marR="54864" marT="27432" marB="27432">
                    <a:solidFill>
                      <a:srgbClr val="FFFFFF"/>
                    </a:solidFill>
                  </a:tcPr>
                </a:tc>
                <a:extLst>
                  <a:ext uri="{0D108BD9-81ED-4DB2-BD59-A6C34878D82A}">
                    <a16:rowId xmlns:a16="http://schemas.microsoft.com/office/drawing/2014/main" val="10003"/>
                  </a:ext>
                </a:extLst>
              </a:tr>
              <a:tr h="512064">
                <a:tc>
                  <a:txBody>
                    <a:bodyPr/>
                    <a:lstStyle/>
                    <a:p>
                      <a:r>
                        <a:rPr sz="1150" b="0" i="0">
                          <a:solidFill>
                            <a:srgbClr val="1F1F1F"/>
                          </a:solidFill>
                          <a:latin typeface="Arial"/>
                        </a:rPr>
                        <a:t>LMP $34 vs 2019 DAM $38</a:t>
                      </a:r>
                    </a:p>
                  </a:txBody>
                  <a:tcPr marL="54864" marR="54864" marT="27432" marB="27432">
                    <a:solidFill>
                      <a:srgbClr val="F6F6F6"/>
                    </a:solidFill>
                  </a:tcPr>
                </a:tc>
                <a:tc>
                  <a:txBody>
                    <a:bodyPr/>
                    <a:lstStyle/>
                    <a:p>
                      <a:r>
                        <a:rPr sz="1150" b="0" i="0">
                          <a:solidFill>
                            <a:srgbClr val="1F1F1F"/>
                          </a:solidFill>
                          <a:latin typeface="Arial"/>
                        </a:rPr>
                        <a:t>right order — inflated heat rates ≈ offset missing scarcity adders</a:t>
                      </a:r>
                    </a:p>
                  </a:txBody>
                  <a:tcPr marL="54864" marR="54864" marT="27432" marB="27432">
                    <a:solidFill>
                      <a:srgbClr val="F6F6F6"/>
                    </a:solidFill>
                  </a:tcPr>
                </a:tc>
                <a:tc>
                  <a:txBody>
                    <a:bodyPr/>
                    <a:lstStyle/>
                    <a:p>
                      <a:r>
                        <a:rPr sz="1150" b="0" i="0">
                          <a:solidFill>
                            <a:srgbClr val="1F1F1F"/>
                          </a:solidFill>
                          <a:latin typeface="Arial"/>
                        </a:rPr>
                        <a:t>quote as 'TX-123BT prices'</a:t>
                      </a:r>
                    </a:p>
                  </a:txBody>
                  <a:tcPr marL="54864" marR="54864" marT="27432" marB="27432">
                    <a:solidFill>
                      <a:srgbClr val="F6F6F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114800"/>
            <a:ext cx="11247120" cy="1737360"/>
          </a:xfrm>
          <a:prstGeom prst="rect">
            <a:avLst/>
          </a:prstGeom>
          <a:noFill/>
        </p:spPr>
        <p:txBody>
          <a:bodyPr wrap="square" lIns="45720" tIns="27432" rIns="45720" bIns="27432" anchor="t">
            <a:spAutoFit/>
          </a:bodyPr>
          <a:lstStyle/>
          <a:p>
            <a:pPr algn="l">
              <a:lnSpc>
                <a:spcPct val="105000"/>
              </a:lnSpc>
              <a:spcAft>
                <a:spcPts val="600"/>
              </a:spcAft>
            </a:pPr>
            <a:r>
              <a:rPr sz="1250" b="1" i="0">
                <a:solidFill>
                  <a:srgbClr val="1F1F1F"/>
                </a:solidFill>
                <a:latin typeface="Arial"/>
              </a:rPr>
              <a:t>•  Our conversion: 45/45 cost coefficients exact; load side matches ERCOT 2019 actuals to the MW (383.8 TWh; preliminary peak 74,666 MW).</a:t>
            </a:r>
          </a:p>
          <a:p>
            <a:pPr algn="l">
              <a:lnSpc>
                <a:spcPct val="105000"/>
              </a:lnSpc>
              <a:spcAft>
                <a:spcPts val="600"/>
              </a:spcAft>
            </a:pPr>
            <a:r>
              <a:rPr sz="1250" b="0" i="0">
                <a:solidFill>
                  <a:srgbClr val="1F1F1F"/>
                </a:solidFill>
                <a:latin typeface="Arial"/>
              </a:rPr>
              <a:t>•  Consequence: NO AIChE figure needs a re-run; diverted-wind ≈ $30/MWh stands as an in-model result.</a:t>
            </a:r>
          </a:p>
          <a:p>
            <a:pPr algn="l">
              <a:lnSpc>
                <a:spcPct val="105000"/>
              </a:lnSpc>
              <a:spcAft>
                <a:spcPts val="600"/>
              </a:spcAft>
            </a:pPr>
            <a:r>
              <a:rPr sz="1250" b="1" i="0">
                <a:solidFill>
                  <a:srgbClr val="1F1F1F"/>
                </a:solidFill>
                <a:latin typeface="Arial"/>
              </a:rPr>
              <a:t>•  Wave D (location grids on ERCOT) IS the 'where to build PEM + what size' study from the recap — designed and ready; this audit was its last technical blocker. It waits only on the condition you set at the last meeting — please restate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Decisions today + the two weeks ahead</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12</a:t>
            </a:fld>
            <a:endParaRPr lang="en-US" sz="1000">
              <a:latin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3348725904"/>
              </p:ext>
            </p:extLst>
          </p:nvPr>
        </p:nvGraphicFramePr>
        <p:xfrm>
          <a:off x="457200" y="1188720"/>
          <a:ext cx="6949440" cy="2633472"/>
        </p:xfrm>
        <a:graphic>
          <a:graphicData uri="http://schemas.openxmlformats.org/drawingml/2006/table">
            <a:tbl>
              <a:tblPr firstRow="1" bandRow="1">
                <a:tableStyleId>{5C22544A-7EE6-4342-B048-85BDC9FD1C3A}</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38912">
                <a:tc>
                  <a:txBody>
                    <a:bodyPr/>
                    <a:lstStyle/>
                    <a:p>
                      <a:r>
                        <a:rPr sz="1200" b="1" i="0">
                          <a:solidFill>
                            <a:srgbClr val="1F1F1F"/>
                          </a:solidFill>
                          <a:latin typeface="Arial"/>
                        </a:rPr>
                        <a:t>#</a:t>
                      </a:r>
                    </a:p>
                  </a:txBody>
                  <a:tcPr marL="54864" marR="54864" marT="27432" marB="27432">
                    <a:solidFill>
                      <a:srgbClr val="DCE3EE"/>
                    </a:solidFill>
                  </a:tcPr>
                </a:tc>
                <a:tc>
                  <a:txBody>
                    <a:bodyPr/>
                    <a:lstStyle/>
                    <a:p>
                      <a:r>
                        <a:rPr sz="1200" b="1" i="0">
                          <a:solidFill>
                            <a:srgbClr val="1F1F1F"/>
                          </a:solidFill>
                          <a:latin typeface="Arial"/>
                        </a:rPr>
                        <a:t>Decision</a:t>
                      </a:r>
                    </a:p>
                  </a:txBody>
                  <a:tcPr marL="54864" marR="54864" marT="27432" marB="27432">
                    <a:solidFill>
                      <a:srgbClr val="DCE3EE"/>
                    </a:solidFill>
                  </a:tcPr>
                </a:tc>
                <a:tc>
                  <a:txBody>
                    <a:bodyPr/>
                    <a:lstStyle/>
                    <a:p>
                      <a:endParaRPr sz="1200" b="1" i="0" dirty="0">
                        <a:solidFill>
                          <a:srgbClr val="1F1F1F"/>
                        </a:solidFill>
                        <a:latin typeface="Arial"/>
                      </a:endParaRPr>
                    </a:p>
                  </a:txBody>
                  <a:tcPr marL="54864" marR="54864" marT="27432" marB="27432">
                    <a:solidFill>
                      <a:srgbClr val="DCE3EE"/>
                    </a:solidFill>
                  </a:tcPr>
                </a:tc>
                <a:extLst>
                  <a:ext uri="{0D108BD9-81ED-4DB2-BD59-A6C34878D82A}">
                    <a16:rowId xmlns:a16="http://schemas.microsoft.com/office/drawing/2014/main" val="10000"/>
                  </a:ext>
                </a:extLst>
              </a:tr>
              <a:tr h="438912">
                <a:tc>
                  <a:txBody>
                    <a:bodyPr/>
                    <a:lstStyle/>
                    <a:p>
                      <a:r>
                        <a:rPr sz="1200" b="0" i="0">
                          <a:solidFill>
                            <a:srgbClr val="1F1F1F"/>
                          </a:solidFill>
                          <a:latin typeface="Arial"/>
                        </a:rPr>
                        <a:t>1</a:t>
                      </a:r>
                    </a:p>
                  </a:txBody>
                  <a:tcPr marL="54864" marR="54864" marT="27432" marB="27432">
                    <a:solidFill>
                      <a:srgbClr val="FFFFFF"/>
                    </a:solidFill>
                  </a:tcPr>
                </a:tc>
                <a:tc>
                  <a:txBody>
                    <a:bodyPr/>
                    <a:lstStyle/>
                    <a:p>
                      <a:r>
                        <a:rPr lang="en-GB" sz="1200" b="0" i="0" dirty="0">
                          <a:solidFill>
                            <a:srgbClr val="1F1F1F"/>
                          </a:solidFill>
                          <a:latin typeface="Arial"/>
                        </a:rPr>
                        <a:t>GP </a:t>
                      </a:r>
                      <a:r>
                        <a:rPr sz="1200" b="0" i="0" dirty="0">
                          <a:solidFill>
                            <a:srgbClr val="1F1F1F"/>
                          </a:solidFill>
                          <a:latin typeface="Arial"/>
                        </a:rPr>
                        <a:t>n0 = 32 or 48</a:t>
                      </a:r>
                    </a:p>
                  </a:txBody>
                  <a:tcPr marL="54864" marR="54864" marT="27432" marB="27432">
                    <a:solidFill>
                      <a:srgbClr val="FFFFFF"/>
                    </a:solidFill>
                  </a:tcPr>
                </a:tc>
                <a:tc>
                  <a:txBody>
                    <a:bodyPr/>
                    <a:lstStyle/>
                    <a:p>
                      <a:r>
                        <a:rPr sz="1200" b="0" i="0">
                          <a:solidFill>
                            <a:srgbClr val="1F1F1F"/>
                          </a:solidFill>
                          <a:latin typeface="Arial"/>
                        </a:rPr>
                        <a:t>32 (comparability); paper surrogate at 48</a:t>
                      </a:r>
                    </a:p>
                  </a:txBody>
                  <a:tcPr marL="54864" marR="54864" marT="27432" marB="27432">
                    <a:solidFill>
                      <a:srgbClr val="FFFFFF"/>
                    </a:solidFill>
                  </a:tcPr>
                </a:tc>
                <a:extLst>
                  <a:ext uri="{0D108BD9-81ED-4DB2-BD59-A6C34878D82A}">
                    <a16:rowId xmlns:a16="http://schemas.microsoft.com/office/drawing/2014/main" val="10001"/>
                  </a:ext>
                </a:extLst>
              </a:tr>
              <a:tr h="438912">
                <a:tc>
                  <a:txBody>
                    <a:bodyPr/>
                    <a:lstStyle/>
                    <a:p>
                      <a:r>
                        <a:rPr sz="1200" b="0" i="0" dirty="0">
                          <a:solidFill>
                            <a:srgbClr val="1F1F1F"/>
                          </a:solidFill>
                          <a:latin typeface="Arial"/>
                        </a:rPr>
                        <a:t>2</a:t>
                      </a:r>
                    </a:p>
                  </a:txBody>
                  <a:tcPr marL="54864" marR="54864" marT="27432" marB="27432">
                    <a:solidFill>
                      <a:srgbClr val="F6F6F6"/>
                    </a:solidFill>
                  </a:tcPr>
                </a:tc>
                <a:tc>
                  <a:txBody>
                    <a:bodyPr/>
                    <a:lstStyle/>
                    <a:p>
                      <a:r>
                        <a:rPr sz="1200" b="0" i="0" dirty="0">
                          <a:solidFill>
                            <a:srgbClr val="1F1F1F"/>
                          </a:solidFill>
                          <a:latin typeface="Arial"/>
                        </a:rPr>
                        <a:t>rbf+log1p grading layer</a:t>
                      </a:r>
                    </a:p>
                  </a:txBody>
                  <a:tcPr marL="54864" marR="54864" marT="27432" marB="27432">
                    <a:solidFill>
                      <a:srgbClr val="F6F6F6"/>
                    </a:solidFill>
                  </a:tcPr>
                </a:tc>
                <a:tc>
                  <a:txBody>
                    <a:bodyPr/>
                    <a:lstStyle/>
                    <a:p>
                      <a:r>
                        <a:rPr sz="1200" b="0" i="0">
                          <a:solidFill>
                            <a:srgbClr val="1F1F1F"/>
                          </a:solidFill>
                          <a:latin typeface="Arial"/>
                        </a:rPr>
                        <a:t>adopt, grading only</a:t>
                      </a:r>
                    </a:p>
                  </a:txBody>
                  <a:tcPr marL="54864" marR="54864" marT="27432" marB="27432">
                    <a:solidFill>
                      <a:srgbClr val="F6F6F6"/>
                    </a:solidFill>
                  </a:tcPr>
                </a:tc>
                <a:extLst>
                  <a:ext uri="{0D108BD9-81ED-4DB2-BD59-A6C34878D82A}">
                    <a16:rowId xmlns:a16="http://schemas.microsoft.com/office/drawing/2014/main" val="10002"/>
                  </a:ext>
                </a:extLst>
              </a:tr>
              <a:tr h="438912">
                <a:tc>
                  <a:txBody>
                    <a:bodyPr/>
                    <a:lstStyle/>
                    <a:p>
                      <a:r>
                        <a:rPr sz="1200" b="0" i="0">
                          <a:solidFill>
                            <a:srgbClr val="1F1F1F"/>
                          </a:solidFill>
                          <a:latin typeface="Arial"/>
                        </a:rPr>
                        <a:t>3</a:t>
                      </a:r>
                    </a:p>
                  </a:txBody>
                  <a:tcPr marL="54864" marR="54864" marT="27432" marB="27432">
                    <a:solidFill>
                      <a:srgbClr val="FFFFFF"/>
                    </a:solidFill>
                  </a:tcPr>
                </a:tc>
                <a:tc>
                  <a:txBody>
                    <a:bodyPr/>
                    <a:lstStyle/>
                    <a:p>
                      <a:r>
                        <a:rPr lang="en-GB" sz="1200" b="0" i="0" dirty="0">
                          <a:solidFill>
                            <a:srgbClr val="1F1F1F"/>
                          </a:solidFill>
                          <a:latin typeface="Arial"/>
                        </a:rPr>
                        <a:t>BO </a:t>
                      </a:r>
                      <a:r>
                        <a:rPr sz="1200" b="0" i="0" dirty="0">
                          <a:solidFill>
                            <a:srgbClr val="1F1F1F"/>
                          </a:solidFill>
                          <a:latin typeface="Arial"/>
                        </a:rPr>
                        <a:t>seed count</a:t>
                      </a:r>
                    </a:p>
                  </a:txBody>
                  <a:tcPr marL="54864" marR="54864" marT="27432" marB="27432">
                    <a:solidFill>
                      <a:srgbClr val="FFFFFF"/>
                    </a:solidFill>
                  </a:tcPr>
                </a:tc>
                <a:tc>
                  <a:txBody>
                    <a:bodyPr/>
                    <a:lstStyle/>
                    <a:p>
                      <a:r>
                        <a:rPr sz="1200" b="0" i="0" dirty="0">
                          <a:solidFill>
                            <a:srgbClr val="1F1F1F"/>
                          </a:solidFill>
                          <a:latin typeface="Arial"/>
                        </a:rPr>
                        <a:t>5 seeds now, extend to 10</a:t>
                      </a:r>
                    </a:p>
                  </a:txBody>
                  <a:tcPr marL="54864" marR="54864" marT="27432" marB="27432">
                    <a:solidFill>
                      <a:srgbClr val="FFFFFF"/>
                    </a:solidFill>
                  </a:tcPr>
                </a:tc>
                <a:extLst>
                  <a:ext uri="{0D108BD9-81ED-4DB2-BD59-A6C34878D82A}">
                    <a16:rowId xmlns:a16="http://schemas.microsoft.com/office/drawing/2014/main" val="10003"/>
                  </a:ext>
                </a:extLst>
              </a:tr>
              <a:tr h="438912">
                <a:tc>
                  <a:txBody>
                    <a:bodyPr/>
                    <a:lstStyle/>
                    <a:p>
                      <a:r>
                        <a:rPr sz="1200" b="0" i="0">
                          <a:solidFill>
                            <a:srgbClr val="1F1F1F"/>
                          </a:solidFill>
                          <a:latin typeface="Arial"/>
                        </a:rPr>
                        <a:t>4</a:t>
                      </a:r>
                    </a:p>
                  </a:txBody>
                  <a:tcPr marL="54864" marR="54864" marT="27432" marB="27432">
                    <a:solidFill>
                      <a:srgbClr val="F6F6F6"/>
                    </a:solidFill>
                  </a:tcPr>
                </a:tc>
                <a:tc>
                  <a:txBody>
                    <a:bodyPr/>
                    <a:lstStyle/>
                    <a:p>
                      <a:r>
                        <a:rPr lang="en-GB" sz="1200" b="0" i="0" dirty="0">
                          <a:solidFill>
                            <a:srgbClr val="1F1F1F"/>
                          </a:solidFill>
                          <a:latin typeface="Arial"/>
                        </a:rPr>
                        <a:t>ERCOT location &amp; PEM size</a:t>
                      </a:r>
                      <a:endParaRPr sz="1200" b="0" i="0" dirty="0">
                        <a:solidFill>
                          <a:srgbClr val="1F1F1F"/>
                        </a:solidFill>
                        <a:latin typeface="Arial"/>
                      </a:endParaRPr>
                    </a:p>
                  </a:txBody>
                  <a:tcPr marL="54864" marR="54864" marT="27432" marB="27432">
                    <a:solidFill>
                      <a:srgbClr val="F6F6F6"/>
                    </a:solidFill>
                  </a:tcPr>
                </a:tc>
                <a:tc>
                  <a:txBody>
                    <a:bodyPr/>
                    <a:lstStyle/>
                    <a:p>
                      <a:r>
                        <a:rPr lang="en-GB" sz="1200" b="0" i="0" dirty="0">
                          <a:solidFill>
                            <a:srgbClr val="1F1F1F"/>
                          </a:solidFill>
                          <a:latin typeface="Arial"/>
                        </a:rPr>
                        <a:t>Amount and where and size</a:t>
                      </a:r>
                      <a:endParaRPr sz="1200" b="0" i="0" dirty="0">
                        <a:solidFill>
                          <a:srgbClr val="1F1F1F"/>
                        </a:solidFill>
                        <a:latin typeface="Arial"/>
                      </a:endParaRPr>
                    </a:p>
                  </a:txBody>
                  <a:tcPr marL="54864" marR="54864" marT="27432" marB="27432">
                    <a:solidFill>
                      <a:srgbClr val="F6F6F6"/>
                    </a:solidFill>
                  </a:tcPr>
                </a:tc>
                <a:extLst>
                  <a:ext uri="{0D108BD9-81ED-4DB2-BD59-A6C34878D82A}">
                    <a16:rowId xmlns:a16="http://schemas.microsoft.com/office/drawing/2014/main" val="10004"/>
                  </a:ext>
                </a:extLst>
              </a:tr>
              <a:tr h="438912">
                <a:tc>
                  <a:txBody>
                    <a:bodyPr/>
                    <a:lstStyle/>
                    <a:p>
                      <a:r>
                        <a:rPr lang="en-GB" sz="1200" b="0" i="0" dirty="0">
                          <a:solidFill>
                            <a:srgbClr val="1F1F1F"/>
                          </a:solidFill>
                          <a:latin typeface="Arial"/>
                        </a:rPr>
                        <a:t>5</a:t>
                      </a:r>
                      <a:endParaRPr sz="1200" b="0" i="0" dirty="0">
                        <a:solidFill>
                          <a:srgbClr val="1F1F1F"/>
                        </a:solidFill>
                        <a:latin typeface="Arial"/>
                      </a:endParaRPr>
                    </a:p>
                  </a:txBody>
                  <a:tcPr marL="54864" marR="54864" marT="27432" marB="27432">
                    <a:solidFill>
                      <a:srgbClr val="F6F6F6"/>
                    </a:solidFill>
                  </a:tcPr>
                </a:tc>
                <a:tc>
                  <a:txBody>
                    <a:bodyPr/>
                    <a:lstStyle/>
                    <a:p>
                      <a:r>
                        <a:rPr lang="en-GB" sz="1200" b="0" i="0" dirty="0">
                          <a:solidFill>
                            <a:srgbClr val="1F1F1F"/>
                          </a:solidFill>
                          <a:latin typeface="Arial"/>
                        </a:rPr>
                        <a:t>BO comparison </a:t>
                      </a:r>
                      <a:endParaRPr sz="1200" b="0" i="0" dirty="0">
                        <a:solidFill>
                          <a:srgbClr val="1F1F1F"/>
                        </a:solidFill>
                        <a:latin typeface="Arial"/>
                      </a:endParaRPr>
                    </a:p>
                  </a:txBody>
                  <a:tcPr marL="54864" marR="54864" marT="27432" marB="27432">
                    <a:solidFill>
                      <a:srgbClr val="F6F6F6"/>
                    </a:solidFill>
                  </a:tcPr>
                </a:tc>
                <a:tc>
                  <a:txBody>
                    <a:bodyPr/>
                    <a:lstStyle/>
                    <a:p>
                      <a:r>
                        <a:rPr lang="en-GB" sz="1200" b="0" i="0" dirty="0">
                          <a:solidFill>
                            <a:srgbClr val="1F1F1F"/>
                          </a:solidFill>
                          <a:latin typeface="Arial"/>
                        </a:rPr>
                        <a:t>Sobol running </a:t>
                      </a:r>
                      <a:endParaRPr sz="1200" b="0" i="0" dirty="0">
                        <a:solidFill>
                          <a:srgbClr val="1F1F1F"/>
                        </a:solidFill>
                        <a:latin typeface="Arial"/>
                      </a:endParaRPr>
                    </a:p>
                  </a:txBody>
                  <a:tcPr marL="54864" marR="54864" marT="27432" marB="27432">
                    <a:solidFill>
                      <a:srgbClr val="F6F6F6"/>
                    </a:solidFill>
                  </a:tcPr>
                </a:tc>
                <a:extLst>
                  <a:ext uri="{0D108BD9-81ED-4DB2-BD59-A6C34878D82A}">
                    <a16:rowId xmlns:a16="http://schemas.microsoft.com/office/drawing/2014/main" val="19061424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lang="en-US" sz="2400" b="1" i="0" dirty="0">
                <a:solidFill>
                  <a:srgbClr val="0C2340"/>
                </a:solidFill>
                <a:latin typeface="Arial"/>
              </a:rPr>
              <a:t>Still need to explore the results any maybe in discussion section of the paper/talk</a:t>
            </a:r>
            <a:endParaRPr sz="2400" b="1" i="0" dirty="0">
              <a:solidFill>
                <a:srgbClr val="0C2340"/>
              </a:solidFill>
              <a:latin typeface="Arial"/>
            </a:endParaRP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13</a:t>
            </a:fld>
            <a:endParaRPr lang="en-US" sz="1000">
              <a:latin typeface="Arial"/>
            </a:endParaRPr>
          </a:p>
        </p:txBody>
      </p:sp>
      <p:sp>
        <p:nvSpPr>
          <p:cNvPr id="6" name="TextBox 5">
            <a:extLst>
              <a:ext uri="{FF2B5EF4-FFF2-40B4-BE49-F238E27FC236}">
                <a16:creationId xmlns:a16="http://schemas.microsoft.com/office/drawing/2014/main" id="{C2506192-CAC6-0804-05C7-303B9BE96D26}"/>
              </a:ext>
            </a:extLst>
          </p:cNvPr>
          <p:cNvSpPr txBox="1"/>
          <p:nvPr/>
        </p:nvSpPr>
        <p:spPr>
          <a:xfrm>
            <a:off x="472440" y="993206"/>
            <a:ext cx="11247120" cy="1902059"/>
          </a:xfrm>
          <a:prstGeom prst="rect">
            <a:avLst/>
          </a:prstGeom>
          <a:noFill/>
        </p:spPr>
        <p:txBody>
          <a:bodyPr wrap="square" lIns="45720" tIns="27432" rIns="45720" bIns="27432" anchor="t">
            <a:spAutoFit/>
          </a:bodyPr>
          <a:lstStyle/>
          <a:p>
            <a:r>
              <a:rPr lang="en-US" sz="2400" dirty="0"/>
              <a:t>Why does shed fall as PEM MW rises?</a:t>
            </a:r>
          </a:p>
          <a:p>
            <a:pPr lvl="2"/>
            <a:r>
              <a:rPr lang="en-US" sz="2400" dirty="0"/>
              <a:t>	PEM adds no load. Wind priced at the bid makes thermal look cheaper in the RUC so more thermal committed and therefore more headroom</a:t>
            </a:r>
          </a:p>
          <a:p>
            <a:r>
              <a:rPr lang="en-US" sz="2400" dirty="0"/>
              <a:t>	I think checking committed MW / headroom on shed hours, low- vs high-MW design; reserve shortfall must not rise (monitor it next to shed)</a:t>
            </a:r>
          </a:p>
        </p:txBody>
      </p:sp>
      <p:sp>
        <p:nvSpPr>
          <p:cNvPr id="7" name="Title 1">
            <a:extLst>
              <a:ext uri="{FF2B5EF4-FFF2-40B4-BE49-F238E27FC236}">
                <a16:creationId xmlns:a16="http://schemas.microsoft.com/office/drawing/2014/main" id="{3D0FF516-7C31-A12C-5C93-727F71429CB8}"/>
              </a:ext>
            </a:extLst>
          </p:cNvPr>
          <p:cNvSpPr txBox="1">
            <a:spLocks/>
          </p:cNvSpPr>
          <p:nvPr/>
        </p:nvSpPr>
        <p:spPr>
          <a:xfrm>
            <a:off x="128584" y="282381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running/want to do </a:t>
            </a:r>
          </a:p>
        </p:txBody>
      </p:sp>
      <p:sp>
        <p:nvSpPr>
          <p:cNvPr id="8" name="TextBox 7">
            <a:extLst>
              <a:ext uri="{FF2B5EF4-FFF2-40B4-BE49-F238E27FC236}">
                <a16:creationId xmlns:a16="http://schemas.microsoft.com/office/drawing/2014/main" id="{3D58B276-DDBA-2F29-0397-D5A82A776206}"/>
              </a:ext>
            </a:extLst>
          </p:cNvPr>
          <p:cNvSpPr txBox="1"/>
          <p:nvPr/>
        </p:nvSpPr>
        <p:spPr>
          <a:xfrm>
            <a:off x="320040" y="3727387"/>
            <a:ext cx="11247120" cy="7811369"/>
          </a:xfrm>
          <a:prstGeom prst="rect">
            <a:avLst/>
          </a:prstGeom>
          <a:noFill/>
        </p:spPr>
        <p:txBody>
          <a:bodyPr wrap="square" lIns="45720" tIns="27432" rIns="45720" bIns="27432" anchor="t">
            <a:spAutoFit/>
          </a:bodyPr>
          <a:lstStyle/>
          <a:p>
            <a:pPr marL="457200" indent="-457200">
              <a:buFont typeface="Arial"/>
              <a:buAutoNum type="arabicPeriod"/>
            </a:pPr>
            <a:r>
              <a:rPr lang="en-US" sz="2400" dirty="0"/>
              <a:t>Is </a:t>
            </a:r>
            <a:r>
              <a:rPr lang="en-US" altLang="zh-CN" sz="2400" dirty="0" err="1"/>
              <a:t>bo</a:t>
            </a:r>
            <a:r>
              <a:rPr lang="zh-CN" altLang="en-US" sz="2400" dirty="0"/>
              <a:t> </a:t>
            </a:r>
            <a:r>
              <a:rPr lang="en-US" sz="2400" dirty="0"/>
              <a:t>q-</a:t>
            </a:r>
            <a:r>
              <a:rPr lang="en-US" sz="2400" dirty="0" err="1"/>
              <a:t>ParEGO</a:t>
            </a:r>
            <a:r>
              <a:rPr lang="en-US" sz="2400" dirty="0"/>
              <a:t> stable across replicates at a fixed max budget of </a:t>
            </a:r>
            <a:r>
              <a:rPr lang="en-US" sz="2400" dirty="0">
                <a:solidFill>
                  <a:srgbClr val="FF0000"/>
                </a:solidFill>
              </a:rPr>
              <a:t>64</a:t>
            </a:r>
            <a:r>
              <a:rPr lang="zh-CN" altLang="en-US" sz="2400" dirty="0">
                <a:solidFill>
                  <a:srgbClr val="FF0000"/>
                </a:solidFill>
              </a:rPr>
              <a:t> </a:t>
            </a:r>
            <a:r>
              <a:rPr lang="en-US" altLang="zh-CN" sz="2400" dirty="0">
                <a:solidFill>
                  <a:srgbClr val="FF0000"/>
                </a:solidFill>
              </a:rPr>
              <a:t>(</a:t>
            </a:r>
            <a:r>
              <a:rPr lang="en-US" altLang="zh-CN" sz="2400" dirty="0"/>
              <a:t>64 = 32+4*8)</a:t>
            </a:r>
            <a:r>
              <a:rPr lang="en-US" sz="2400" dirty="0"/>
              <a:t>? Is one </a:t>
            </a:r>
            <a:r>
              <a:rPr lang="en-US" sz="2400" dirty="0" err="1"/>
              <a:t>qNEHVI</a:t>
            </a:r>
            <a:r>
              <a:rPr lang="en-US" sz="2400" dirty="0"/>
              <a:t> run consistent with it?</a:t>
            </a:r>
          </a:p>
          <a:p>
            <a:pPr marL="342900" lvl="1" indent="-342900">
              <a:buFontTx/>
              <a:buChar char="-"/>
            </a:pPr>
            <a:r>
              <a:rPr lang="en-US" sz="2400" dirty="0"/>
              <a:t>I’m not sure if setting {random number = </a:t>
            </a:r>
            <a:r>
              <a:rPr lang="en-US" sz="2400" dirty="0" err="1"/>
              <a:t>bo</a:t>
            </a:r>
            <a:r>
              <a:rPr lang="en-US" sz="2400" dirty="0"/>
              <a:t> final + initial} is legit so I put 64 </a:t>
            </a:r>
          </a:p>
          <a:p>
            <a:pPr marL="342900" lvl="1" indent="-342900">
              <a:buFontTx/>
              <a:buChar char="-"/>
            </a:pPr>
            <a:r>
              <a:rPr lang="en-US" sz="2400" dirty="0">
                <a:highlight>
                  <a:srgbClr val="FFFF00"/>
                </a:highlight>
              </a:rPr>
              <a:t>Another </a:t>
            </a:r>
            <a:r>
              <a:rPr lang="en-US" sz="2400" dirty="0" err="1">
                <a:highlight>
                  <a:srgbClr val="FFFF00"/>
                </a:highlight>
              </a:rPr>
              <a:t>bo</a:t>
            </a:r>
            <a:r>
              <a:rPr lang="en-US" sz="2400" dirty="0">
                <a:highlight>
                  <a:srgbClr val="FFFF00"/>
                </a:highlight>
              </a:rPr>
              <a:t> + random </a:t>
            </a:r>
          </a:p>
          <a:p>
            <a:pPr marL="342900" lvl="1" indent="-342900">
              <a:buFontTx/>
              <a:buChar char="-"/>
            </a:pPr>
            <a:r>
              <a:rPr lang="en-US" sz="2400" dirty="0" err="1">
                <a:highlight>
                  <a:srgbClr val="FFFF00"/>
                </a:highlight>
              </a:rPr>
              <a:t>qNEHVI</a:t>
            </a:r>
            <a:r>
              <a:rPr lang="en-US" sz="2400" dirty="0">
                <a:highlight>
                  <a:srgbClr val="FFFF00"/>
                </a:highlight>
              </a:rPr>
              <a:t> which </a:t>
            </a:r>
            <a:r>
              <a:rPr lang="en-US" sz="2400" dirty="0"/>
              <a:t>is also very standard and it can discover if the results rely on the </a:t>
            </a:r>
            <a:r>
              <a:rPr lang="en-US" sz="2400" dirty="0" err="1"/>
              <a:t>aq</a:t>
            </a:r>
            <a:r>
              <a:rPr lang="en-US" sz="2400" dirty="0"/>
              <a:t> function</a:t>
            </a:r>
          </a:p>
          <a:p>
            <a:r>
              <a:rPr lang="en-US" sz="2400" dirty="0"/>
              <a:t>Running 10-12 21:00, might take 5-6 days ?</a:t>
            </a:r>
          </a:p>
          <a:p>
            <a:endParaRPr lang="en-US" sz="2400" dirty="0"/>
          </a:p>
          <a:p>
            <a:endParaRPr lang="en-US" sz="2400" dirty="0"/>
          </a:p>
          <a:p>
            <a:r>
              <a:rPr lang="en-US" sz="2400" dirty="0"/>
              <a:t>36  ERCOT v2</a:t>
            </a:r>
          </a:p>
          <a:p>
            <a:r>
              <a:rPr lang="en-US" sz="2400" dirty="0"/>
              <a:t>Re-run ERCOT on the corrected cost data for AIChE</a:t>
            </a:r>
          </a:p>
          <a:p>
            <a:r>
              <a:rPr lang="en-US" sz="2400" dirty="0"/>
              <a:t>A base ×3, B screening 19, C selection 9</a:t>
            </a:r>
          </a:p>
          <a:p>
            <a:r>
              <a:rPr lang="en-US" sz="2400" dirty="0"/>
              <a:t>A + B landed 10-13 02:30; base read done. C: 2 of 9 failed; fixed (7c5fb8d); nuclear rows 6–11 rerun</a:t>
            </a:r>
          </a:p>
          <a:p>
            <a:r>
              <a:rPr lang="en-US" sz="2400" dirty="0"/>
              <a:t>C rerun ≈ 10-14; wave D ≈ 10-18/19</a:t>
            </a:r>
          </a:p>
          <a:p>
            <a:r>
              <a:rPr lang="en-US" sz="2400" dirty="0"/>
              <a:t>37  Stop rule</a:t>
            </a:r>
          </a:p>
          <a:p>
            <a:r>
              <a:rPr lang="en-US" sz="2400" dirty="0"/>
              <a:t>Does the stop rule work on problems with a known truth?</a:t>
            </a:r>
          </a:p>
          <a:p>
            <a:r>
              <a:rPr lang="en-US" sz="2400" dirty="0"/>
              <a:t>1,540 tasks; 0 PCM runs</a:t>
            </a:r>
          </a:p>
          <a:p>
            <a:r>
              <a:rPr lang="en-US" sz="2400" dirty="0"/>
              <a:t>Running since 10-12 evening</a:t>
            </a:r>
          </a:p>
          <a:p>
            <a:r>
              <a:rPr lang="en-US" sz="2400" dirty="0"/>
              <a:t>≈ 10-13 → 10-15</a:t>
            </a:r>
          </a:p>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4B25-DF4D-DDEF-FF92-DF746B46B02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F66C77-2CBC-53A7-C53E-6FB87EE2BE22}"/>
              </a:ext>
            </a:extLst>
          </p:cNvPr>
          <p:cNvSpPr>
            <a:spLocks noGrp="1"/>
          </p:cNvSpPr>
          <p:nvPr>
            <p:ph type="sldNum" idx="12"/>
          </p:nvPr>
        </p:nvSpPr>
        <p:spPr/>
        <p:txBody>
          <a:bodyPr/>
          <a:lstStyle/>
          <a:p>
            <a:pPr algn="r"/>
            <a:fld id="{B6F15528-21DE-4FAA-801E-634DDDAF4B2B}" type="slidenum">
              <a:rPr lang="en-US" sz="1000">
                <a:latin typeface="Arial"/>
              </a:rPr>
              <a:t>14</a:t>
            </a:fld>
            <a:endParaRPr lang="en-US" sz="1000">
              <a:latin typeface="Arial"/>
            </a:endParaRPr>
          </a:p>
        </p:txBody>
      </p:sp>
      <p:sp>
        <p:nvSpPr>
          <p:cNvPr id="7" name="Title 1">
            <a:extLst>
              <a:ext uri="{FF2B5EF4-FFF2-40B4-BE49-F238E27FC236}">
                <a16:creationId xmlns:a16="http://schemas.microsoft.com/office/drawing/2014/main" id="{281C5B2E-406F-308D-8C98-654B557DC04A}"/>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6E1CFB37-E168-0DF4-A072-073FFC1F4101}"/>
              </a:ext>
            </a:extLst>
          </p:cNvPr>
          <p:cNvSpPr txBox="1"/>
          <p:nvPr/>
        </p:nvSpPr>
        <p:spPr>
          <a:xfrm>
            <a:off x="320040" y="681548"/>
            <a:ext cx="6873240" cy="2517612"/>
          </a:xfrm>
          <a:prstGeom prst="rect">
            <a:avLst/>
          </a:prstGeom>
          <a:noFill/>
        </p:spPr>
        <p:txBody>
          <a:bodyPr wrap="square" lIns="45720" tIns="27432" rIns="45720" bIns="27432" anchor="t">
            <a:spAutoFit/>
          </a:bodyPr>
          <a:lstStyle/>
          <a:p>
            <a:r>
              <a:rPr lang="en-US" sz="2000" dirty="0"/>
              <a:t>2. ERCOT</a:t>
            </a:r>
          </a:p>
          <a:p>
            <a:r>
              <a:rPr lang="en-US" sz="2000" dirty="0"/>
              <a:t>AI pointed that I used the wrong conversion notebook in the code and there could be an improvement for gen conversion and it might be able to change the nuclear situation back to normal.  </a:t>
            </a:r>
          </a:p>
          <a:p>
            <a:r>
              <a:rPr lang="en-US" sz="2000" dirty="0"/>
              <a:t>J</a:t>
            </a:r>
            <a:r>
              <a:rPr lang="en-US" sz="2000" dirty="0">
                <a:highlight>
                  <a:srgbClr val="FFFF00"/>
                </a:highlight>
              </a:rPr>
              <a:t>ob submitted</a:t>
            </a:r>
          </a:p>
          <a:p>
            <a:r>
              <a:rPr lang="en-US" sz="2000" dirty="0"/>
              <a:t>Maybe 2-3 days (?)</a:t>
            </a:r>
          </a:p>
          <a:p>
            <a:r>
              <a:rPr lang="en-US" sz="2000" u="sng" dirty="0"/>
              <a:t>test returned on right</a:t>
            </a:r>
          </a:p>
        </p:txBody>
      </p:sp>
      <p:graphicFrame>
        <p:nvGraphicFramePr>
          <p:cNvPr id="9" name="Table 8">
            <a:extLst>
              <a:ext uri="{FF2B5EF4-FFF2-40B4-BE49-F238E27FC236}">
                <a16:creationId xmlns:a16="http://schemas.microsoft.com/office/drawing/2014/main" id="{7A41F740-EB1F-FA55-EEAD-ADBC6F187EC4}"/>
              </a:ext>
            </a:extLst>
          </p:cNvPr>
          <p:cNvGraphicFramePr>
            <a:graphicFrameLocks noGrp="1"/>
          </p:cNvGraphicFramePr>
          <p:nvPr/>
        </p:nvGraphicFramePr>
        <p:xfrm>
          <a:off x="7762240" y="405371"/>
          <a:ext cx="4346934" cy="3410712"/>
        </p:xfrm>
        <a:graphic>
          <a:graphicData uri="http://schemas.openxmlformats.org/drawingml/2006/table">
            <a:tbl>
              <a:tblPr firstRow="1" bandRow="1">
                <a:tableStyleId>{5C22544A-7EE6-4342-B048-85BDC9FD1C3A}</a:tableStyleId>
              </a:tblPr>
              <a:tblGrid>
                <a:gridCol w="1468559">
                  <a:extLst>
                    <a:ext uri="{9D8B030D-6E8A-4147-A177-3AD203B41FA5}">
                      <a16:colId xmlns:a16="http://schemas.microsoft.com/office/drawing/2014/main" val="20000"/>
                    </a:ext>
                  </a:extLst>
                </a:gridCol>
                <a:gridCol w="1409816">
                  <a:extLst>
                    <a:ext uri="{9D8B030D-6E8A-4147-A177-3AD203B41FA5}">
                      <a16:colId xmlns:a16="http://schemas.microsoft.com/office/drawing/2014/main" val="20001"/>
                    </a:ext>
                  </a:extLst>
                </a:gridCol>
                <a:gridCol w="1468559">
                  <a:extLst>
                    <a:ext uri="{9D8B030D-6E8A-4147-A177-3AD203B41FA5}">
                      <a16:colId xmlns:a16="http://schemas.microsoft.com/office/drawing/2014/main" val="20002"/>
                    </a:ext>
                  </a:extLst>
                </a:gridCol>
              </a:tblGrid>
              <a:tr h="412573">
                <a:tc>
                  <a:txBody>
                    <a:bodyPr/>
                    <a:lstStyle/>
                    <a:p>
                      <a:r>
                        <a:rPr sz="1300" b="1" i="0">
                          <a:solidFill>
                            <a:srgbClr val="1F1F1F"/>
                          </a:solidFill>
                          <a:latin typeface="Arial"/>
                        </a:rPr>
                        <a:t>Quantity (2019, base)</a:t>
                      </a:r>
                    </a:p>
                  </a:txBody>
                  <a:tcPr marL="54864" marR="54864" marT="27432" marB="27432">
                    <a:solidFill>
                      <a:srgbClr val="DCE3EE"/>
                    </a:solidFill>
                  </a:tcPr>
                </a:tc>
                <a:tc>
                  <a:txBody>
                    <a:bodyPr/>
                    <a:lstStyle/>
                    <a:p>
                      <a:r>
                        <a:rPr sz="1300" b="1" i="0">
                          <a:solidFill>
                            <a:srgbClr val="1F1F1F"/>
                          </a:solidFill>
                          <a:latin typeface="Arial"/>
                        </a:rPr>
                        <a:t>v1 (mis-converted costs)</a:t>
                      </a:r>
                    </a:p>
                  </a:txBody>
                  <a:tcPr marL="54864" marR="54864" marT="27432" marB="27432">
                    <a:solidFill>
                      <a:srgbClr val="DCE3EE"/>
                    </a:solidFill>
                  </a:tcPr>
                </a:tc>
                <a:tc>
                  <a:txBody>
                    <a:bodyPr/>
                    <a:lstStyle/>
                    <a:p>
                      <a:r>
                        <a:rPr sz="1300" b="1" i="0">
                          <a:solidFill>
                            <a:srgbClr val="1F1F1F"/>
                          </a:solidFill>
                          <a:latin typeface="Arial"/>
                        </a:rPr>
                        <a:t>v2 (corrected)</a:t>
                      </a:r>
                    </a:p>
                  </a:txBody>
                  <a:tcPr marL="54864" marR="54864" marT="27432" marB="27432">
                    <a:solidFill>
                      <a:srgbClr val="DCE3EE"/>
                    </a:solidFill>
                  </a:tcPr>
                </a:tc>
                <a:extLst>
                  <a:ext uri="{0D108BD9-81ED-4DB2-BD59-A6C34878D82A}">
                    <a16:rowId xmlns:a16="http://schemas.microsoft.com/office/drawing/2014/main" val="10000"/>
                  </a:ext>
                </a:extLst>
              </a:tr>
              <a:tr h="412573">
                <a:tc>
                  <a:txBody>
                    <a:bodyPr/>
                    <a:lstStyle/>
                    <a:p>
                      <a:r>
                        <a:rPr sz="1300" b="0" i="0">
                          <a:solidFill>
                            <a:srgbClr val="1F1F1F"/>
                          </a:solidFill>
                          <a:latin typeface="Arial"/>
                        </a:rPr>
                        <a:t>Real-time LMP, mean</a:t>
                      </a:r>
                    </a:p>
                  </a:txBody>
                  <a:tcPr marL="54864" marR="54864" marT="27432" marB="27432">
                    <a:solidFill>
                      <a:srgbClr val="FFFFFF"/>
                    </a:solidFill>
                  </a:tcPr>
                </a:tc>
                <a:tc>
                  <a:txBody>
                    <a:bodyPr/>
                    <a:lstStyle/>
                    <a:p>
                      <a:r>
                        <a:rPr sz="1300" b="0" i="0" dirty="0">
                          <a:solidFill>
                            <a:srgbClr val="1F1F1F"/>
                          </a:solidFill>
                          <a:latin typeface="Arial"/>
                        </a:rPr>
                        <a:t>$14.5/MWh</a:t>
                      </a:r>
                    </a:p>
                  </a:txBody>
                  <a:tcPr marL="54864" marR="54864" marT="27432" marB="27432">
                    <a:solidFill>
                      <a:srgbClr val="FFFFFF"/>
                    </a:solidFill>
                  </a:tcPr>
                </a:tc>
                <a:tc>
                  <a:txBody>
                    <a:bodyPr/>
                    <a:lstStyle/>
                    <a:p>
                      <a:r>
                        <a:rPr sz="1300" b="0" i="0" dirty="0">
                          <a:solidFill>
                            <a:srgbClr val="1F1F1F"/>
                          </a:solidFill>
                          <a:latin typeface="Arial"/>
                        </a:rPr>
                        <a:t>$33.8/MWh</a:t>
                      </a:r>
                    </a:p>
                  </a:txBody>
                  <a:tcPr marL="54864" marR="54864" marT="27432" marB="27432">
                    <a:solidFill>
                      <a:srgbClr val="FFFFFF"/>
                    </a:solidFill>
                  </a:tcPr>
                </a:tc>
                <a:extLst>
                  <a:ext uri="{0D108BD9-81ED-4DB2-BD59-A6C34878D82A}">
                    <a16:rowId xmlns:a16="http://schemas.microsoft.com/office/drawing/2014/main" val="10001"/>
                  </a:ext>
                </a:extLst>
              </a:tr>
              <a:tr h="243642">
                <a:tc>
                  <a:txBody>
                    <a:bodyPr/>
                    <a:lstStyle/>
                    <a:p>
                      <a:r>
                        <a:rPr sz="1300" b="0" i="0" dirty="0">
                          <a:solidFill>
                            <a:srgbClr val="1F1F1F"/>
                          </a:solidFill>
                          <a:latin typeface="Arial"/>
                        </a:rPr>
                        <a:t>Fixed cost</a:t>
                      </a:r>
                    </a:p>
                  </a:txBody>
                  <a:tcPr marL="54864" marR="54864" marT="27432" marB="27432">
                    <a:solidFill>
                      <a:srgbClr val="F6F6F6"/>
                    </a:solidFill>
                  </a:tcPr>
                </a:tc>
                <a:tc>
                  <a:txBody>
                    <a:bodyPr/>
                    <a:lstStyle/>
                    <a:p>
                      <a:r>
                        <a:rPr sz="1300" b="0" i="0">
                          <a:solidFill>
                            <a:srgbClr val="1F1F1F"/>
                          </a:solidFill>
                          <a:latin typeface="Arial"/>
                        </a:rPr>
                        <a:t>$6.75 B</a:t>
                      </a:r>
                    </a:p>
                  </a:txBody>
                  <a:tcPr marL="54864" marR="54864" marT="27432" marB="27432">
                    <a:solidFill>
                      <a:srgbClr val="F6F6F6"/>
                    </a:solidFill>
                  </a:tcPr>
                </a:tc>
                <a:tc>
                  <a:txBody>
                    <a:bodyPr/>
                    <a:lstStyle/>
                    <a:p>
                      <a:r>
                        <a:rPr sz="1300" b="0" i="0">
                          <a:solidFill>
                            <a:srgbClr val="1F1F1F"/>
                          </a:solidFill>
                          <a:latin typeface="Arial"/>
                        </a:rPr>
                        <a:t>$3.63 B</a:t>
                      </a:r>
                    </a:p>
                  </a:txBody>
                  <a:tcPr marL="54864" marR="54864" marT="27432" marB="27432">
                    <a:solidFill>
                      <a:srgbClr val="F6F6F6"/>
                    </a:solidFill>
                  </a:tcPr>
                </a:tc>
                <a:extLst>
                  <a:ext uri="{0D108BD9-81ED-4DB2-BD59-A6C34878D82A}">
                    <a16:rowId xmlns:a16="http://schemas.microsoft.com/office/drawing/2014/main" val="10002"/>
                  </a:ext>
                </a:extLst>
              </a:tr>
              <a:tr h="243642">
                <a:tc>
                  <a:txBody>
                    <a:bodyPr/>
                    <a:lstStyle/>
                    <a:p>
                      <a:r>
                        <a:rPr sz="1300" b="0" i="0">
                          <a:solidFill>
                            <a:srgbClr val="1F1F1F"/>
                          </a:solidFill>
                          <a:latin typeface="Arial"/>
                        </a:rPr>
                        <a:t>Variable cost</a:t>
                      </a:r>
                    </a:p>
                  </a:txBody>
                  <a:tcPr marL="54864" marR="54864" marT="27432" marB="27432">
                    <a:solidFill>
                      <a:srgbClr val="FFFFFF"/>
                    </a:solidFill>
                  </a:tcPr>
                </a:tc>
                <a:tc>
                  <a:txBody>
                    <a:bodyPr/>
                    <a:lstStyle/>
                    <a:p>
                      <a:r>
                        <a:rPr sz="1300" b="0" i="0">
                          <a:solidFill>
                            <a:srgbClr val="1F1F1F"/>
                          </a:solidFill>
                          <a:latin typeface="Arial"/>
                        </a:rPr>
                        <a:t>$1.19 B</a:t>
                      </a:r>
                    </a:p>
                  </a:txBody>
                  <a:tcPr marL="54864" marR="54864" marT="27432" marB="27432">
                    <a:solidFill>
                      <a:srgbClr val="FFFFFF"/>
                    </a:solidFill>
                  </a:tcPr>
                </a:tc>
                <a:tc>
                  <a:txBody>
                    <a:bodyPr/>
                    <a:lstStyle/>
                    <a:p>
                      <a:r>
                        <a:rPr sz="1300" b="0" i="0">
                          <a:solidFill>
                            <a:srgbClr val="1F1F1F"/>
                          </a:solidFill>
                          <a:latin typeface="Arial"/>
                        </a:rPr>
                        <a:t>$4.46 B</a:t>
                      </a:r>
                    </a:p>
                  </a:txBody>
                  <a:tcPr marL="54864" marR="54864" marT="27432" marB="27432">
                    <a:solidFill>
                      <a:srgbClr val="FFFFFF"/>
                    </a:solidFill>
                  </a:tcPr>
                </a:tc>
                <a:extLst>
                  <a:ext uri="{0D108BD9-81ED-4DB2-BD59-A6C34878D82A}">
                    <a16:rowId xmlns:a16="http://schemas.microsoft.com/office/drawing/2014/main" val="10003"/>
                  </a:ext>
                </a:extLst>
              </a:tr>
              <a:tr h="243642">
                <a:tc>
                  <a:txBody>
                    <a:bodyPr/>
                    <a:lstStyle/>
                    <a:p>
                      <a:r>
                        <a:rPr sz="1300" b="0" i="0">
                          <a:solidFill>
                            <a:srgbClr val="1F1F1F"/>
                          </a:solidFill>
                          <a:latin typeface="Arial"/>
                        </a:rPr>
                        <a:t>True curtailment</a:t>
                      </a:r>
                    </a:p>
                  </a:txBody>
                  <a:tcPr marL="54864" marR="54864" marT="27432" marB="27432">
                    <a:solidFill>
                      <a:srgbClr val="F6F6F6"/>
                    </a:solidFill>
                  </a:tcPr>
                </a:tc>
                <a:tc>
                  <a:txBody>
                    <a:bodyPr/>
                    <a:lstStyle/>
                    <a:p>
                      <a:r>
                        <a:rPr sz="1300" b="0" i="0" dirty="0">
                          <a:solidFill>
                            <a:srgbClr val="1F1F1F"/>
                          </a:solidFill>
                          <a:latin typeface="Arial"/>
                        </a:rPr>
                        <a:t>9.44 M MWh</a:t>
                      </a:r>
                    </a:p>
                  </a:txBody>
                  <a:tcPr marL="54864" marR="54864" marT="27432" marB="27432">
                    <a:solidFill>
                      <a:srgbClr val="F6F6F6"/>
                    </a:solidFill>
                  </a:tcPr>
                </a:tc>
                <a:tc>
                  <a:txBody>
                    <a:bodyPr/>
                    <a:lstStyle/>
                    <a:p>
                      <a:r>
                        <a:rPr sz="1300" b="0" i="0">
                          <a:solidFill>
                            <a:srgbClr val="1F1F1F"/>
                          </a:solidFill>
                          <a:latin typeface="Arial"/>
                        </a:rPr>
                        <a:t>5.92 M MWh</a:t>
                      </a:r>
                    </a:p>
                  </a:txBody>
                  <a:tcPr marL="54864" marR="54864" marT="27432" marB="27432">
                    <a:solidFill>
                      <a:srgbClr val="F6F6F6"/>
                    </a:solidFill>
                  </a:tcPr>
                </a:tc>
                <a:extLst>
                  <a:ext uri="{0D108BD9-81ED-4DB2-BD59-A6C34878D82A}">
                    <a16:rowId xmlns:a16="http://schemas.microsoft.com/office/drawing/2014/main" val="10004"/>
                  </a:ext>
                </a:extLst>
              </a:tr>
              <a:tr h="412573">
                <a:tc>
                  <a:txBody>
                    <a:bodyPr/>
                    <a:lstStyle/>
                    <a:p>
                      <a:r>
                        <a:rPr sz="1300" b="0" i="0">
                          <a:solidFill>
                            <a:srgbClr val="1F1F1F"/>
                          </a:solidFill>
                          <a:latin typeface="Arial"/>
                        </a:rPr>
                        <a:t>Nuclear</a:t>
                      </a:r>
                    </a:p>
                  </a:txBody>
                  <a:tcPr marL="54864" marR="54864" marT="27432" marB="27432">
                    <a:solidFill>
                      <a:srgbClr val="FFFFFF"/>
                    </a:solidFill>
                  </a:tcPr>
                </a:tc>
                <a:tc>
                  <a:txBody>
                    <a:bodyPr/>
                    <a:lstStyle/>
                    <a:p>
                      <a:r>
                        <a:rPr sz="1300" b="0" i="0">
                          <a:solidFill>
                            <a:srgbClr val="1F1F1F"/>
                          </a:solidFill>
                          <a:latin typeface="Arial"/>
                        </a:rPr>
                        <a:t>gen-1 cycles (≈ 25 starts)</a:t>
                      </a:r>
                    </a:p>
                  </a:txBody>
                  <a:tcPr marL="54864" marR="54864" marT="27432" marB="27432">
                    <a:solidFill>
                      <a:srgbClr val="FFFFFF"/>
                    </a:solidFill>
                  </a:tcPr>
                </a:tc>
                <a:tc>
                  <a:txBody>
                    <a:bodyPr/>
                    <a:lstStyle/>
                    <a:p>
                      <a:r>
                        <a:rPr sz="1300" b="0" i="0" dirty="0">
                          <a:solidFill>
                            <a:srgbClr val="1F1F1F"/>
                          </a:solidFill>
                          <a:latin typeface="Arial"/>
                        </a:rPr>
                        <a:t>both units on all 8,760 h, 0 starts</a:t>
                      </a:r>
                    </a:p>
                  </a:txBody>
                  <a:tcPr marL="54864" marR="54864" marT="27432" marB="27432">
                    <a:solidFill>
                      <a:srgbClr val="FFFFFF"/>
                    </a:solidFill>
                  </a:tcPr>
                </a:tc>
                <a:extLst>
                  <a:ext uri="{0D108BD9-81ED-4DB2-BD59-A6C34878D82A}">
                    <a16:rowId xmlns:a16="http://schemas.microsoft.com/office/drawing/2014/main" val="10005"/>
                  </a:ext>
                </a:extLst>
              </a:tr>
              <a:tr h="412573">
                <a:tc>
                  <a:txBody>
                    <a:bodyPr/>
                    <a:lstStyle/>
                    <a:p>
                      <a:r>
                        <a:rPr sz="1300" b="0" i="0">
                          <a:solidFill>
                            <a:srgbClr val="1F1F1F"/>
                          </a:solidFill>
                          <a:latin typeface="Arial"/>
                        </a:rPr>
                        <a:t>RUC quality</a:t>
                      </a:r>
                    </a:p>
                  </a:txBody>
                  <a:tcPr marL="54864" marR="54864" marT="27432" marB="27432">
                    <a:solidFill>
                      <a:srgbClr val="F6F6F6"/>
                    </a:solidFill>
                  </a:tcPr>
                </a:tc>
                <a:tc>
                  <a:txBody>
                    <a:bodyPr/>
                    <a:lstStyle/>
                    <a:p>
                      <a:r>
                        <a:rPr sz="1300" b="0" i="0">
                          <a:solidFill>
                            <a:srgbClr val="1F1F1F"/>
                          </a:solidFill>
                          <a:latin typeface="Arial"/>
                        </a:rPr>
                        <a:t>TimeLimit races on capped days</a:t>
                      </a:r>
                    </a:p>
                  </a:txBody>
                  <a:tcPr marL="54864" marR="54864" marT="27432" marB="27432">
                    <a:solidFill>
                      <a:srgbClr val="F6F6F6"/>
                    </a:solidFill>
                  </a:tcPr>
                </a:tc>
                <a:tc>
                  <a:txBody>
                    <a:bodyPr/>
                    <a:lstStyle/>
                    <a:p>
                      <a:r>
                        <a:rPr sz="1300" b="0" i="0">
                          <a:solidFill>
                            <a:srgbClr val="1F1F1F"/>
                          </a:solidFill>
                          <a:latin typeface="Arial"/>
                        </a:rPr>
                        <a:t>0 % capped; 1,460 / 1,460 OPTIMAL</a:t>
                      </a:r>
                    </a:p>
                  </a:txBody>
                  <a:tcPr marL="54864" marR="54864" marT="27432" marB="27432">
                    <a:solidFill>
                      <a:srgbClr val="F6F6F6"/>
                    </a:solidFill>
                  </a:tcPr>
                </a:tc>
                <a:extLst>
                  <a:ext uri="{0D108BD9-81ED-4DB2-BD59-A6C34878D82A}">
                    <a16:rowId xmlns:a16="http://schemas.microsoft.com/office/drawing/2014/main" val="10006"/>
                  </a:ext>
                </a:extLst>
              </a:tr>
              <a:tr h="412573">
                <a:tc>
                  <a:txBody>
                    <a:bodyPr/>
                    <a:lstStyle/>
                    <a:p>
                      <a:r>
                        <a:rPr sz="1300" b="0" i="0">
                          <a:solidFill>
                            <a:srgbClr val="1F1F1F"/>
                          </a:solidFill>
                          <a:latin typeface="Arial"/>
                        </a:rPr>
                        <a:t>Replicate spread (total cost)</a:t>
                      </a:r>
                    </a:p>
                  </a:txBody>
                  <a:tcPr marL="54864" marR="54864" marT="27432" marB="27432">
                    <a:solidFill>
                      <a:srgbClr val="FFFFFF"/>
                    </a:solidFill>
                  </a:tcPr>
                </a:tc>
                <a:tc>
                  <a:txBody>
                    <a:bodyPr/>
                    <a:lstStyle/>
                    <a:p>
                      <a:r>
                        <a:rPr sz="1300" b="0" i="0">
                          <a:solidFill>
                            <a:srgbClr val="1F1F1F"/>
                          </a:solidFill>
                          <a:latin typeface="Arial"/>
                        </a:rPr>
                        <a:t>±$80M bimodal</a:t>
                      </a:r>
                    </a:p>
                  </a:txBody>
                  <a:tcPr marL="54864" marR="54864" marT="27432" marB="27432">
                    <a:solidFill>
                      <a:srgbClr val="FFFFFF"/>
                    </a:solidFill>
                  </a:tcPr>
                </a:tc>
                <a:tc>
                  <a:txBody>
                    <a:bodyPr/>
                    <a:lstStyle/>
                    <a:p>
                      <a:r>
                        <a:rPr sz="1300" b="0" i="0" dirty="0">
                          <a:solidFill>
                            <a:srgbClr val="1F1F1F"/>
                          </a:solidFill>
                          <a:latin typeface="Arial"/>
                        </a:rPr>
                        <a:t>0 (4 runs byte-identical)</a:t>
                      </a:r>
                    </a:p>
                  </a:txBody>
                  <a:tcPr marL="54864" marR="54864" marT="27432" marB="27432">
                    <a:solidFill>
                      <a:srgbClr val="FFFFFF"/>
                    </a:solidFill>
                  </a:tcPr>
                </a:tc>
                <a:extLst>
                  <a:ext uri="{0D108BD9-81ED-4DB2-BD59-A6C34878D82A}">
                    <a16:rowId xmlns:a16="http://schemas.microsoft.com/office/drawing/2014/main" val="10007"/>
                  </a:ext>
                </a:extLst>
              </a:tr>
            </a:tbl>
          </a:graphicData>
        </a:graphic>
      </p:graphicFrame>
      <p:sp>
        <p:nvSpPr>
          <p:cNvPr id="10" name="TextBox 9">
            <a:extLst>
              <a:ext uri="{FF2B5EF4-FFF2-40B4-BE49-F238E27FC236}">
                <a16:creationId xmlns:a16="http://schemas.microsoft.com/office/drawing/2014/main" id="{2F643875-DC94-8063-02BD-3BFB6128C629}"/>
              </a:ext>
            </a:extLst>
          </p:cNvPr>
          <p:cNvSpPr txBox="1"/>
          <p:nvPr/>
        </p:nvSpPr>
        <p:spPr>
          <a:xfrm>
            <a:off x="320040" y="3199160"/>
            <a:ext cx="10783256" cy="3904915"/>
          </a:xfrm>
          <a:prstGeom prst="rect">
            <a:avLst/>
          </a:prstGeom>
          <a:noFill/>
        </p:spPr>
        <p:txBody>
          <a:bodyPr wrap="square" lIns="45720" tIns="27432" rIns="45720" bIns="27432" anchor="t">
            <a:spAutoFit/>
          </a:bodyPr>
          <a:lstStyle/>
          <a:p>
            <a:pPr algn="l">
              <a:lnSpc>
                <a:spcPct val="105000"/>
              </a:lnSpc>
              <a:spcAft>
                <a:spcPts val="600"/>
              </a:spcAft>
            </a:pPr>
            <a:r>
              <a:rPr lang="en-US" sz="1300" b="1" dirty="0">
                <a:solidFill>
                  <a:srgbClr val="1F1F1F"/>
                </a:solidFill>
              </a:rPr>
              <a:t>The screening of one </a:t>
            </a:r>
            <a:r>
              <a:rPr lang="en-US" sz="1300" b="1" dirty="0" err="1">
                <a:solidFill>
                  <a:srgbClr val="1F1F1F"/>
                </a:solidFill>
              </a:rPr>
              <a:t>pem</a:t>
            </a:r>
            <a:r>
              <a:rPr lang="en-US" sz="1300" b="1" dirty="0">
                <a:solidFill>
                  <a:srgbClr val="1F1F1F"/>
                </a:solidFill>
              </a:rPr>
              <a:t> at one site</a:t>
            </a:r>
          </a:p>
          <a:p>
            <a:pPr algn="l">
              <a:lnSpc>
                <a:spcPct val="105000"/>
              </a:lnSpc>
              <a:spcAft>
                <a:spcPts val="600"/>
              </a:spcAft>
            </a:pPr>
            <a:r>
              <a:rPr sz="1300" b="0" i="0" dirty="0">
                <a:solidFill>
                  <a:srgbClr val="1F1F1F"/>
                </a:solidFill>
                <a:latin typeface="Arial"/>
              </a:rPr>
              <a:t>the top 6 by rank: sites 163, 140, 146, 270, 110, 274</a:t>
            </a:r>
            <a:r>
              <a:rPr lang="zh-CN" altLang="en-US" sz="1300" b="0" i="0" dirty="0">
                <a:solidFill>
                  <a:srgbClr val="1F1F1F"/>
                </a:solidFill>
                <a:latin typeface="Arial"/>
              </a:rPr>
              <a:t> </a:t>
            </a:r>
            <a:r>
              <a:rPr lang="en-US" altLang="zh-CN" sz="1300" b="0" i="0" dirty="0">
                <a:solidFill>
                  <a:srgbClr val="1F1F1F"/>
                </a:solidFill>
                <a:latin typeface="Arial"/>
              </a:rPr>
              <a:t>by curtailment</a:t>
            </a:r>
            <a:endParaRPr sz="1300" b="0" i="0" dirty="0">
              <a:solidFill>
                <a:srgbClr val="1F1F1F"/>
              </a:solidFill>
              <a:latin typeface="Arial"/>
            </a:endParaRPr>
          </a:p>
          <a:p>
            <a:pPr algn="l">
              <a:lnSpc>
                <a:spcPct val="105000"/>
              </a:lnSpc>
              <a:spcAft>
                <a:spcPts val="600"/>
              </a:spcAft>
            </a:pPr>
            <a:r>
              <a:rPr sz="1300" b="0" i="0" dirty="0">
                <a:solidFill>
                  <a:srgbClr val="1F1F1F"/>
                </a:solidFill>
                <a:latin typeface="Arial"/>
              </a:rPr>
              <a:t>•  Smallest </a:t>
            </a:r>
            <a:r>
              <a:rPr sz="1300" b="0" i="0" dirty="0" err="1">
                <a:solidFill>
                  <a:srgbClr val="1F1F1F"/>
                </a:solidFill>
                <a:latin typeface="Arial"/>
              </a:rPr>
              <a:t>gen_pmax</a:t>
            </a:r>
            <a:r>
              <a:rPr sz="1300" b="0" i="0" dirty="0">
                <a:solidFill>
                  <a:srgbClr val="1F1F1F"/>
                </a:solidFill>
                <a:latin typeface="Arial"/>
              </a:rPr>
              <a:t> of the six: 185.4 MW.</a:t>
            </a:r>
            <a:endParaRPr lang="en-US" sz="1300" b="0" i="0" dirty="0">
              <a:solidFill>
                <a:srgbClr val="1F1F1F"/>
              </a:solidFill>
              <a:latin typeface="Arial"/>
            </a:endParaRPr>
          </a:p>
          <a:p>
            <a:pPr algn="l">
              <a:lnSpc>
                <a:spcPct val="105000"/>
              </a:lnSpc>
              <a:spcAft>
                <a:spcPts val="600"/>
              </a:spcAft>
            </a:pPr>
            <a:r>
              <a:rPr sz="1300" b="0" i="0" dirty="0">
                <a:solidFill>
                  <a:srgbClr val="1F1F1F"/>
                </a:solidFill>
                <a:latin typeface="Arial"/>
              </a:rPr>
              <a:t>Proposed </a:t>
            </a:r>
            <a:r>
              <a:rPr sz="1300" b="0" i="0" dirty="0">
                <a:solidFill>
                  <a:srgbClr val="FF0000"/>
                </a:solidFill>
                <a:latin typeface="Arial"/>
              </a:rPr>
              <a:t>sizes 60 / 120 / 180 MW</a:t>
            </a:r>
            <a:r>
              <a:rPr sz="1300" b="0" i="0" dirty="0">
                <a:solidFill>
                  <a:srgbClr val="1F1F1F"/>
                </a:solidFill>
                <a:latin typeface="Arial"/>
              </a:rPr>
              <a:t>: 6 sites × 3 + nuclear × 3 = 21 rows.</a:t>
            </a:r>
            <a:r>
              <a:rPr lang="en-US" sz="1300" b="0" i="0" dirty="0">
                <a:solidFill>
                  <a:srgbClr val="1F1F1F"/>
                </a:solidFill>
                <a:latin typeface="Arial"/>
              </a:rPr>
              <a:t> </a:t>
            </a:r>
            <a:r>
              <a:rPr sz="1300" b="0" i="0" dirty="0">
                <a:solidFill>
                  <a:srgbClr val="1F1F1F"/>
                </a:solidFill>
                <a:latin typeface="Arial"/>
              </a:rPr>
              <a:t>On nuclear, 60 MW is </a:t>
            </a:r>
            <a:r>
              <a:rPr sz="1300" b="0" i="0" dirty="0" err="1">
                <a:solidFill>
                  <a:srgbClr val="1F1F1F"/>
                </a:solidFill>
                <a:latin typeface="Arial"/>
              </a:rPr>
              <a:t>ω</a:t>
            </a:r>
            <a:r>
              <a:rPr sz="1300" b="0" i="0" dirty="0">
                <a:solidFill>
                  <a:srgbClr val="1F1F1F"/>
                </a:solidFill>
                <a:latin typeface="Arial"/>
              </a:rPr>
              <a:t> ≈ 0.025. The nuclear rows compare against the sites; they do not sweep nuclear.</a:t>
            </a:r>
            <a:endParaRPr lang="en-US" sz="1300" b="0" i="0" dirty="0">
              <a:solidFill>
                <a:srgbClr val="1F1F1F"/>
              </a:solidFill>
              <a:latin typeface="Arial"/>
            </a:endParaRPr>
          </a:p>
          <a:p>
            <a:pPr marL="285750" indent="-285750">
              <a:lnSpc>
                <a:spcPct val="105000"/>
              </a:lnSpc>
              <a:spcAft>
                <a:spcPts val="600"/>
              </a:spcAft>
              <a:buFontTx/>
              <a:buChar char="-"/>
            </a:pPr>
            <a:r>
              <a:rPr lang="en-US" sz="1300" dirty="0">
                <a:solidFill>
                  <a:srgbClr val="1F1F1F"/>
                </a:solidFill>
              </a:rPr>
              <a:t>Smallest </a:t>
            </a:r>
            <a:r>
              <a:rPr lang="en-US" sz="1300" dirty="0" err="1">
                <a:solidFill>
                  <a:srgbClr val="1F1F1F"/>
                </a:solidFill>
              </a:rPr>
              <a:t>gen_pmax</a:t>
            </a:r>
            <a:r>
              <a:rPr lang="en-US" sz="1300" dirty="0">
                <a:solidFill>
                  <a:srgbClr val="1F1F1F"/>
                </a:solidFill>
              </a:rPr>
              <a:t> of the six: 185.4 MW.</a:t>
            </a:r>
          </a:p>
          <a:p>
            <a:pPr>
              <a:lnSpc>
                <a:spcPct val="105000"/>
              </a:lnSpc>
              <a:spcAft>
                <a:spcPts val="600"/>
              </a:spcAft>
            </a:pPr>
            <a:endParaRPr lang="en-US" sz="1300" dirty="0">
              <a:solidFill>
                <a:srgbClr val="1F1F1F"/>
              </a:solidFill>
            </a:endParaRPr>
          </a:p>
          <a:p>
            <a:pPr>
              <a:lnSpc>
                <a:spcPct val="105000"/>
              </a:lnSpc>
              <a:spcAft>
                <a:spcPts val="600"/>
              </a:spcAft>
            </a:pPr>
            <a:r>
              <a:rPr lang="en-US" altLang="zh-CN" sz="1300" dirty="0">
                <a:solidFill>
                  <a:srgbClr val="1F1F1F"/>
                </a:solidFill>
              </a:rPr>
              <a:t>1.</a:t>
            </a:r>
            <a:r>
              <a:rPr lang="zh-CN" altLang="en-US" sz="1300" dirty="0">
                <a:solidFill>
                  <a:srgbClr val="1F1F1F"/>
                </a:solidFill>
              </a:rPr>
              <a:t> </a:t>
            </a:r>
            <a:r>
              <a:rPr lang="en-US" sz="1300" dirty="0">
                <a:solidFill>
                  <a:srgbClr val="1F1F1F"/>
                </a:solidFill>
              </a:rPr>
              <a:t>top 6 sites </a:t>
            </a:r>
            <a:r>
              <a:rPr lang="en-US" sz="1300" dirty="0" err="1">
                <a:solidFill>
                  <a:srgbClr val="1F1F1F"/>
                </a:solidFill>
              </a:rPr>
              <a:t>ning</a:t>
            </a:r>
            <a:r>
              <a:rPr lang="en-US" sz="1300" dirty="0">
                <a:solidFill>
                  <a:srgbClr val="1F1F1F"/>
                </a:solidFill>
              </a:rPr>
              <a:t> (163, 140, 146, 270, 110, 274) × 3 sizes, plus nuclear × 3 sizes = 21 runs.</a:t>
            </a:r>
          </a:p>
          <a:p>
            <a:pPr>
              <a:lnSpc>
                <a:spcPct val="105000"/>
              </a:lnSpc>
              <a:spcAft>
                <a:spcPts val="600"/>
              </a:spcAft>
            </a:pPr>
            <a:r>
              <a:rPr lang="en-US" sz="1300" dirty="0">
                <a:solidFill>
                  <a:srgbClr val="1F1F1F"/>
                </a:solidFill>
              </a:rPr>
              <a:t>  - Problem: the 6 sites differ by only 9 % and sit on just 3 buses, so they cannot show a location effect.</a:t>
            </a:r>
          </a:p>
          <a:p>
            <a:pPr>
              <a:lnSpc>
                <a:spcPct val="105000"/>
              </a:lnSpc>
              <a:spcAft>
                <a:spcPts val="600"/>
              </a:spcAft>
            </a:pPr>
            <a:r>
              <a:rPr lang="en-US" sz="1300" dirty="0">
                <a:solidFill>
                  <a:srgbClr val="1F1F1F"/>
                </a:solidFill>
              </a:rPr>
              <a:t>2. contrast sites instead, 21 runs in total:</a:t>
            </a:r>
          </a:p>
          <a:p>
            <a:pPr>
              <a:lnSpc>
                <a:spcPct val="105000"/>
              </a:lnSpc>
              <a:spcAft>
                <a:spcPts val="600"/>
              </a:spcAft>
            </a:pPr>
            <a:r>
              <a:rPr lang="en-US" sz="1300" dirty="0">
                <a:solidFill>
                  <a:srgbClr val="1F1F1F"/>
                </a:solidFill>
              </a:rPr>
              <a:t>  - the best wind site on each bus (163, 140, 146), two PV sites (116, 30) and the lowest-ranked wind site, each × 3 sizes;</a:t>
            </a:r>
          </a:p>
          <a:p>
            <a:pPr>
              <a:lnSpc>
                <a:spcPct val="105000"/>
              </a:lnSpc>
              <a:spcAft>
                <a:spcPts val="600"/>
              </a:spcAft>
            </a:pPr>
            <a:r>
              <a:rPr lang="en-US" sz="1300" dirty="0">
                <a:solidFill>
                  <a:srgbClr val="1F1F1F"/>
                </a:solidFill>
              </a:rPr>
              <a:t>- nuclear × 2 sizes, after the nuclear cost-accounting bug is fixed.</a:t>
            </a:r>
          </a:p>
          <a:p>
            <a:pPr>
              <a:lnSpc>
                <a:spcPct val="105000"/>
              </a:lnSpc>
              <a:spcAft>
                <a:spcPts val="600"/>
              </a:spcAft>
            </a:pPr>
            <a:endParaRPr lang="en-US" sz="1300" dirty="0">
              <a:solidFill>
                <a:srgbClr val="1F1F1F"/>
              </a:solidFill>
            </a:endParaRPr>
          </a:p>
          <a:p>
            <a:pPr>
              <a:lnSpc>
                <a:spcPct val="105000"/>
              </a:lnSpc>
              <a:spcAft>
                <a:spcPts val="600"/>
              </a:spcAft>
            </a:pPr>
            <a:endParaRPr lang="en-US" sz="1300" dirty="0">
              <a:solidFill>
                <a:srgbClr val="1F1F1F"/>
              </a:solidFill>
            </a:endParaRPr>
          </a:p>
        </p:txBody>
      </p:sp>
    </p:spTree>
    <p:extLst>
      <p:ext uri="{BB962C8B-B14F-4D97-AF65-F5344CB8AC3E}">
        <p14:creationId xmlns:p14="http://schemas.microsoft.com/office/powerpoint/2010/main" val="118483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44AB-717E-D1BF-3DB2-FB2E8BDA212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78EB79-0D09-E8E1-9030-4F4F21EE26A8}"/>
              </a:ext>
            </a:extLst>
          </p:cNvPr>
          <p:cNvSpPr>
            <a:spLocks noGrp="1"/>
          </p:cNvSpPr>
          <p:nvPr>
            <p:ph type="sldNum" idx="12"/>
          </p:nvPr>
        </p:nvSpPr>
        <p:spPr/>
        <p:txBody>
          <a:bodyPr/>
          <a:lstStyle/>
          <a:p>
            <a:pPr algn="r"/>
            <a:fld id="{B6F15528-21DE-4FAA-801E-634DDDAF4B2B}" type="slidenum">
              <a:rPr lang="en-US" sz="1000">
                <a:latin typeface="Arial"/>
              </a:rPr>
              <a:t>15</a:t>
            </a:fld>
            <a:endParaRPr lang="en-US" sz="1000">
              <a:latin typeface="Arial"/>
            </a:endParaRPr>
          </a:p>
        </p:txBody>
      </p:sp>
      <p:sp>
        <p:nvSpPr>
          <p:cNvPr id="7" name="Title 1">
            <a:extLst>
              <a:ext uri="{FF2B5EF4-FFF2-40B4-BE49-F238E27FC236}">
                <a16:creationId xmlns:a16="http://schemas.microsoft.com/office/drawing/2014/main" id="{8D5D8EB5-4631-AEC6-4225-AB4BB227321B}"/>
              </a:ext>
            </a:extLst>
          </p:cNvPr>
          <p:cNvSpPr txBox="1">
            <a:spLocks/>
          </p:cNvSpPr>
          <p:nvPr/>
        </p:nvSpPr>
        <p:spPr>
          <a:xfrm>
            <a:off x="128584" y="0"/>
            <a:ext cx="11980590" cy="78781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Arial"/>
              <a:buNone/>
              <a:defRPr sz="3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400" dirty="0">
                <a:solidFill>
                  <a:srgbClr val="0C2340"/>
                </a:solidFill>
              </a:rPr>
              <a:t>Currently what are running </a:t>
            </a:r>
          </a:p>
        </p:txBody>
      </p:sp>
      <p:sp>
        <p:nvSpPr>
          <p:cNvPr id="8" name="TextBox 7">
            <a:extLst>
              <a:ext uri="{FF2B5EF4-FFF2-40B4-BE49-F238E27FC236}">
                <a16:creationId xmlns:a16="http://schemas.microsoft.com/office/drawing/2014/main" id="{BCC300E9-4072-2C56-FB26-A5089F939CD8}"/>
              </a:ext>
            </a:extLst>
          </p:cNvPr>
          <p:cNvSpPr txBox="1"/>
          <p:nvPr/>
        </p:nvSpPr>
        <p:spPr>
          <a:xfrm>
            <a:off x="320040" y="681548"/>
            <a:ext cx="11247120" cy="4672048"/>
          </a:xfrm>
          <a:prstGeom prst="rect">
            <a:avLst/>
          </a:prstGeom>
          <a:noFill/>
        </p:spPr>
        <p:txBody>
          <a:bodyPr wrap="square" lIns="45720" tIns="27432" rIns="45720" bIns="27432" anchor="t">
            <a:spAutoFit/>
          </a:bodyPr>
          <a:lstStyle/>
          <a:p>
            <a:r>
              <a:rPr lang="en-US" sz="2000" dirty="0"/>
              <a:t>3. Does the stop rule good</a:t>
            </a:r>
          </a:p>
          <a:p>
            <a:r>
              <a:rPr lang="en-US" sz="2000" dirty="0"/>
              <a:t>Does the stop rule work on problems with a known truth?</a:t>
            </a:r>
          </a:p>
          <a:p>
            <a:r>
              <a:rPr lang="en-US" sz="2000" dirty="0"/>
              <a:t>Might be needed for paper discussion/methodology</a:t>
            </a:r>
          </a:p>
          <a:p>
            <a:r>
              <a:rPr lang="en-US" sz="2000" dirty="0"/>
              <a:t>- 2-D replay grids 81 design, known true </a:t>
            </a:r>
            <a:r>
              <a:rPr lang="en-US" sz="2000" dirty="0" err="1"/>
              <a:t>frontn</a:t>
            </a:r>
            <a:r>
              <a:rPr lang="en-US" sz="2000" dirty="0"/>
              <a:t>.</a:t>
            </a:r>
          </a:p>
          <a:p>
            <a:r>
              <a:rPr lang="en-US" sz="2000" dirty="0"/>
              <a:t>- 6-D emulators: a GP fit to the grid. They are cheap enough to evaluate all 531,441 designs exactly.</a:t>
            </a:r>
          </a:p>
          <a:p>
            <a:endParaRPr lang="en-US" sz="2000" dirty="0"/>
          </a:p>
          <a:p>
            <a:r>
              <a:rPr lang="en-US" sz="2000" dirty="0"/>
              <a:t>Run BO (q-</a:t>
            </a:r>
            <a:r>
              <a:rPr lang="en-US" sz="2000" dirty="0" err="1"/>
              <a:t>ParEGO</a:t>
            </a:r>
            <a:r>
              <a:rPr lang="en-US" sz="2000" dirty="0"/>
              <a:t> and </a:t>
            </a:r>
            <a:r>
              <a:rPr lang="en-US" sz="2000" dirty="0" err="1">
                <a:solidFill>
                  <a:srgbClr val="FF0000"/>
                </a:solidFill>
              </a:rPr>
              <a:t>qNEHV</a:t>
            </a:r>
            <a:r>
              <a:rPr lang="en-US" sz="2000" dirty="0" err="1"/>
              <a:t>I</a:t>
            </a:r>
            <a:r>
              <a:rPr lang="en-US" sz="2000" dirty="0"/>
              <a:t>) and random search with 50 seeds with current stop rules</a:t>
            </a:r>
          </a:p>
          <a:p>
            <a:r>
              <a:rPr lang="en-US" sz="2000" dirty="0"/>
              <a:t>Measure</a:t>
            </a:r>
          </a:p>
          <a:p>
            <a:r>
              <a:rPr lang="en-US" sz="2000" dirty="0"/>
              <a:t>1. Early-stop rate: how often the rule stops while real progress is still possible. Pass: ≤ 20 %.</a:t>
            </a:r>
          </a:p>
          <a:p>
            <a:r>
              <a:rPr lang="en-US" sz="2000" dirty="0"/>
              <a:t>2. Regret: how much HV is lost by stopping instead of continuing to round 8. Pass: median ≤ 1</a:t>
            </a:r>
            <a:r>
              <a:rPr lang="el-GR" sz="2000" dirty="0"/>
              <a:t>τ.</a:t>
            </a:r>
          </a:p>
          <a:p>
            <a:r>
              <a:rPr lang="el-GR" sz="2000" dirty="0"/>
              <a:t>3. </a:t>
            </a:r>
            <a:r>
              <a:rPr lang="en-US" sz="2000" dirty="0"/>
              <a:t>Versus a fixed budget: is the rule better than simply "always stop after k rounds"? Pass: on or below that line</a:t>
            </a:r>
          </a:p>
          <a:p>
            <a:endParaRPr lang="en-US" sz="2000" dirty="0"/>
          </a:p>
          <a:p>
            <a:r>
              <a:rPr lang="en-US" sz="2000" dirty="0"/>
              <a:t>Submitted on </a:t>
            </a:r>
            <a:r>
              <a:rPr lang="en-US" sz="2000" dirty="0" err="1"/>
              <a:t>crc</a:t>
            </a:r>
            <a:r>
              <a:rPr lang="en-US" sz="2000" dirty="0"/>
              <a:t> maybe 3-4 days?</a:t>
            </a:r>
          </a:p>
        </p:txBody>
      </p:sp>
    </p:spTree>
    <p:extLst>
      <p:ext uri="{BB962C8B-B14F-4D97-AF65-F5344CB8AC3E}">
        <p14:creationId xmlns:p14="http://schemas.microsoft.com/office/powerpoint/2010/main" val="272963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lstStyle/>
          <a:p>
            <a:pPr algn="l"/>
            <a:r>
              <a:rPr sz="2400" b="1" i="0">
                <a:solidFill>
                  <a:srgbClr val="0C2340"/>
                </a:solidFill>
                <a:latin typeface="Arial"/>
              </a:rPr>
              <a:t>Backup — where the GP is uncertain (2-D slice)</a:t>
            </a:r>
          </a:p>
        </p:txBody>
      </p:sp>
      <p:sp>
        <p:nvSpPr>
          <p:cNvPr id="3" name="Slide Number Placeholder 2"/>
          <p:cNvSpPr>
            <a:spLocks noGrp="1"/>
          </p:cNvSpPr>
          <p:nvPr>
            <p:ph type="sldNum" idx="12"/>
          </p:nvPr>
        </p:nvSpPr>
        <p:spPr/>
        <p:txBody>
          <a:bodyPr/>
          <a:lstStyle/>
          <a:p>
            <a:pPr algn="r"/>
            <a:fld id="{B6F15528-21DE-4FAA-801E-634DDDAF4B2B}" type="slidenum">
              <a:rPr lang="en-US" sz="1000">
                <a:latin typeface="Arial"/>
              </a:rPr>
              <a:t>16</a:t>
            </a:fld>
            <a:endParaRPr lang="en-US" sz="1000">
              <a:latin typeface="Arial"/>
            </a:endParaRPr>
          </a:p>
        </p:txBody>
      </p:sp>
      <p:sp>
        <p:nvSpPr>
          <p:cNvPr id="4" name="TextBox 3"/>
          <p:cNvSpPr txBox="1"/>
          <p:nvPr/>
        </p:nvSpPr>
        <p:spPr>
          <a:xfrm>
            <a:off x="1508760" y="6473952"/>
            <a:ext cx="7589520" cy="274320"/>
          </a:xfrm>
          <a:prstGeom prst="rect">
            <a:avLst/>
          </a:prstGeom>
          <a:noFill/>
        </p:spPr>
        <p:txBody>
          <a:bodyPr wrap="square" lIns="45720" tIns="27432" rIns="45720" bIns="27432" anchor="t">
            <a:spAutoFit/>
          </a:bodyPr>
          <a:lstStyle/>
          <a:p>
            <a:pPr algn="l">
              <a:lnSpc>
                <a:spcPct val="105000"/>
              </a:lnSpc>
              <a:spcAft>
                <a:spcPts val="400"/>
              </a:spcAft>
            </a:pPr>
            <a:r>
              <a:rPr sz="900" b="0" i="0">
                <a:solidFill>
                  <a:srgbClr val="6B6B6B"/>
                </a:solidFill>
                <a:latin typeface="Arial"/>
              </a:rPr>
              <a:t>BO workflow: initial-design evidence + stop-rule closure · 2026-10-16</a:t>
            </a:r>
          </a:p>
        </p:txBody>
      </p:sp>
      <p:pic>
        <p:nvPicPr>
          <p:cNvPr id="5" name="Picture 4" descr="fig_sd_heatmap.png"/>
          <p:cNvPicPr>
            <a:picLocks noChangeAspect="1"/>
          </p:cNvPicPr>
          <p:nvPr/>
        </p:nvPicPr>
        <p:blipFill>
          <a:blip/>
          <a:stretch>
            <a:fillRect/>
          </a:stretch>
        </p:blipFill>
        <p:spPr>
          <a:xfrm>
            <a:off x="1697624" y="1188720"/>
            <a:ext cx="8766271" cy="3584448"/>
          </a:xfrm>
          <a:prstGeom prst="rect">
            <a:avLst/>
          </a:prstGeom>
        </p:spPr>
      </p:pic>
      <p:sp>
        <p:nvSpPr>
          <p:cNvPr id="6" name="TextBox 5"/>
          <p:cNvSpPr txBox="1"/>
          <p:nvPr/>
        </p:nvSpPr>
        <p:spPr>
          <a:xfrm>
            <a:off x="365760" y="4791456"/>
            <a:ext cx="11430000" cy="621792"/>
          </a:xfrm>
          <a:prstGeom prst="rect">
            <a:avLst/>
          </a:prstGeom>
          <a:noFill/>
        </p:spPr>
        <p:txBody>
          <a:bodyPr wrap="square" lIns="45720" tIns="27432" rIns="45720" bIns="27432" anchor="t">
            <a:spAutoFit/>
          </a:bodyPr>
          <a:lstStyle/>
          <a:p>
            <a:pPr algn="l">
              <a:lnSpc>
                <a:spcPct val="105000"/>
              </a:lnSpc>
              <a:spcAft>
                <a:spcPts val="0"/>
              </a:spcAft>
            </a:pPr>
            <a:r>
              <a:rPr sz="1000" b="0" i="0">
                <a:solidFill>
                  <a:srgbClr val="1F1F1F"/>
                </a:solidFill>
                <a:latin typeface="Arial"/>
              </a:rPr>
              <a:t>Predictive sd / floor on the two most active tiers (wind_303, wind_317); other 4 ω at training median; n0 = 48</a:t>
            </a:r>
          </a:p>
          <a:p>
            <a:pPr algn="l">
              <a:lnSpc>
                <a:spcPct val="105000"/>
              </a:lnSpc>
              <a:spcAft>
                <a:spcPts val="0"/>
              </a:spcAft>
            </a:pPr>
            <a:r>
              <a:rPr sz="800" b="0" i="0">
                <a:solidFill>
                  <a:srgbClr val="8A8A8A"/>
                </a:solidFill>
                <a:latin typeface="Arial"/>
              </a:rPr>
              <a:t>/Users/yilu/Documents/GitHub/RTS-GMLC-n0evidence/trial_0826/campaign/analysis/quality_report/bo_1016/fig_sd_heatmap.png</a:t>
            </a:r>
          </a:p>
        </p:txBody>
      </p:sp>
      <p:sp>
        <p:nvSpPr>
          <p:cNvPr id="7" name="TextBox 6"/>
          <p:cNvSpPr txBox="1"/>
          <p:nvPr/>
        </p:nvSpPr>
        <p:spPr>
          <a:xfrm>
            <a:off x="457200" y="5486400"/>
            <a:ext cx="11247120" cy="914400"/>
          </a:xfrm>
          <a:prstGeom prst="rect">
            <a:avLst/>
          </a:prstGeom>
          <a:noFill/>
        </p:spPr>
        <p:txBody>
          <a:bodyPr wrap="square" lIns="45720" tIns="27432" rIns="45720" bIns="27432" anchor="t">
            <a:spAutoFit/>
          </a:bodyPr>
          <a:lstStyle/>
          <a:p>
            <a:pPr algn="l">
              <a:lnSpc>
                <a:spcPct val="105000"/>
              </a:lnSpc>
              <a:spcAft>
                <a:spcPts val="600"/>
              </a:spcAft>
            </a:pPr>
            <a:r>
              <a:rPr sz="1200" b="0" i="0">
                <a:solidFill>
                  <a:srgbClr val="1F1F1F"/>
                </a:solidFill>
                <a:latin typeface="Arial"/>
              </a:rPr>
              <a:t>•  Shed (left): sd/floor 1.07-1.20 everywhere — a featureless map pinned just above the floor; more points cannot change it (noise-limited).</a:t>
            </a:r>
          </a:p>
          <a:p>
            <a:pPr algn="l">
              <a:lnSpc>
                <a:spcPct val="105000"/>
              </a:lnSpc>
              <a:spcAft>
                <a:spcPts val="600"/>
              </a:spcAft>
            </a:pPr>
            <a:r>
              <a:rPr sz="1200" b="0" i="0">
                <a:solidFill>
                  <a:srgbClr val="1F1F1F"/>
                </a:solidFill>
                <a:latin typeface="Arial"/>
              </a:rPr>
              <a:t>•  Curtailment (right): sd/floor 3.1-7.4 — lowest where training designs cluster, rising at the corners (data-limited; exactly what more points fix).</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5156</Words>
  <Application>Microsoft Macintosh PowerPoint</Application>
  <PresentationFormat>Widescreen</PresentationFormat>
  <Paragraphs>271</Paragraphs>
  <Slides>16</Slides>
  <Notes>16</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recap</vt:lpstr>
      <vt:lpstr>32 is not sufficient by looking at the error curve</vt:lpstr>
      <vt:lpstr>Parity plot comparison, point by point</vt:lpstr>
      <vt:lpstr>Parity plot comparison, after hyperparameter tuning</vt:lpstr>
      <vt:lpstr>Parity plot comparison, after hyperparameter tuning</vt:lpstr>
      <vt:lpstr>Tuning helps exactly where the pathology lives</vt:lpstr>
      <vt:lpstr>Decision</vt:lpstr>
      <vt:lpstr>Stop rule closed at both overrun checkpoints (official)</vt:lpstr>
      <vt:lpstr>How many seeds for bo</vt:lpstr>
      <vt:lpstr>Why PEM cuts load she</vt:lpstr>
      <vt:lpstr>ERCOT: our conversion is exact; the quirks are the dataset's</vt:lpstr>
      <vt:lpstr>Decisions today + the two weeks ahead</vt:lpstr>
      <vt:lpstr>Still need to explore the results any maybe in discussion section of the paper/talk</vt:lpstr>
      <vt:lpstr>PowerPoint Presentation</vt:lpstr>
      <vt:lpstr>PowerPoint Presentation</vt:lpstr>
      <vt:lpstr>Backup — where the GP is uncertain (2-D slice)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alex@dowlinglab.org</dc:creator>
  <cp:lastModifiedBy>Kay Lu</cp:lastModifiedBy>
  <cp:revision>9</cp:revision>
  <dcterms:created xsi:type="dcterms:W3CDTF">2018-06-25T12:14:03Z</dcterms:created>
  <dcterms:modified xsi:type="dcterms:W3CDTF">2026-10-16T21:41:37Z</dcterms:modified>
</cp:coreProperties>
</file>