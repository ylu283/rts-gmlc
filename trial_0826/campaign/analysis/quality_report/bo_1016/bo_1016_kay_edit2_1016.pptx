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60" r:id="rId4"/>
    <p:sldId id="261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6" roundtripDataSignature="AMtx7miLeGLuJJqaV9rv4rreQQA/E1vi0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F9858A5-3A9D-437B-AAF5-A56A1AD87D24}">
  <a:tblStyle styleId="{6F9858A5-3A9D-437B-AAF5-A56A1AD87D2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E19ECB45-BCAC-4C38-B241-BF78F6F0C62B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82"/>
  </p:normalViewPr>
  <p:slideViewPr>
    <p:cSldViewPr snapToGrid="0">
      <p:cViewPr varScale="1">
        <p:scale>
          <a:sx n="119" d="100"/>
          <a:sy n="119" d="100"/>
        </p:scale>
        <p:origin x="50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59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6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56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Kay's wording 10-16. Rehearsal detail if asked: three decisions needed today = seed-study start size (NXT-D10a), tuned grading GP (NXT-D10b), seed count 5 vs 10 (1014-D1). GTEP: coal case solved on CRC 10-12 (5/6 optimal &lt;= 1%, B1 accepted at 2.93% gap); PCM on the 2035 fleets awaits two data choices (generator parameters, load basis). Sources: pi-agenda.md §4; living-report-gtep.md. Verbal reconciliations for the recap wording (review 10-16): 'ERCOT figures freeze next week' — figure WORK starts 10-22, the freeze itself is 11-01 (slide 17); '5-10 seed BO (still running)' — 3 trajectories are live + P1 complete; the 5-vs-10 count is today's decision, the full study has not launched.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analysis/initial_design/N0_EVIDENCE.md; methods_C ledgers; mechanism/MECHANISM.md (261bed4); admin debug/fuelmix-check-2026-10-15.md. Dating: the meeting was Tue 10-13; the 1014-D* IDs are dated by when the decisions were recorded (10-14).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criteria.json: E1 I(32to48) curt 0.470, cost 0.331 vs 1/3-rule 0.153/0.163 and 0.25 cap; E2 winner cov95 44/44/47 in [43,48]; Spearman &gt;= 0.94 all objectives. Shed: 22/48 holdout rows below the 3,000 MWh floor. If asked why the 1/3 rule is the right bar: pre-registered geometric-convergence proxy (next 16 points should buy &lt; 1/3 of what the last 16 bought); the 0.25 cap is a second independent bar; and at 48 the error is still ~5x the noise floor on curt/cost — the verdict survives any reasonable bar. If asked how a noise-limited shed GP drove a 3-objective BO: at explored designs shed is near-binary (the 22.4 MWh floor event vs nonzero); the GP captures that ordering, and Q2 (slide 15) shows the residual shed is PEM-independent — acquisition pressure correctly shifted to curt/cost. If asked 'your agenda said 3.0x at 48, the slide says 5.0x': the agenda quoted the in-sample LOO curve (curt 17.1-6.6-3.0); this slide is the stricter untouched-48-design holdout (17.4-9.4-5.0). The holdout is the honest number; both fail E1 the same 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make_fig_parity.py: re-plot of the prompt-39 holdout scores (role=default); asserts rmse_over_floor matches holdout_results.csv to 1e-9 and cov95 exactly, per panel, before drawing. If asked why the shed bars are so wide: the predictive sd includes the floor-constrained noise (3,000 MWh) — the signal itself sits below the floor.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part_h_loocv.csv (main-effects + best-combo design, 19 config-objective fits, LOO NLPD rule); hbo_cell.json; fits.json committed 07:34 UTC, first holdout call after. Proposal: adopt winner for grading/prediction only; acquisition untouched (NXT-D10b). H-BO cell mean_z: default 1.426 -&gt; winner 0.967. If asked 'tuned-32 is still worse than default-48 — why not just use 48?': they fix different pathologies — tuning repairs late-round COVERAGE (5/8 -&gt; 8/8), more points buy ACCURACY (winner 7.3x floor at 32 vs default 5.0x at 48); we propose both — tuned grading now, 48-point final paper surrogate (the D10a rider).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replay_r1.json; frozen bo-gp 60e6328; proposal seed 20261007 re-derived and confirmed against round_records r1. Library import only — the frozen campaign state was never written. Three different Spearmans in this deck, if the PI probes: slide 5's &gt;= 0.94 = GP-prediction vs truth RANKING on the holdout; this table's 0.94/0.95 = 16/48-start posterior LANDSCAPE vs the 32-start landscape; 'rho &gt;= 0.89 on every weight' = the minimum of that landscape correlation across the 8 scalarization weights (min 0.892).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Full decision text: pi-agenda.md NXT-D10 (rigorous + plain versions). If asked 'if the curve is still descending at 48, why not 64?': the nested Sobol extends by construction — draws 49-64 are already defined, so a 64-point tier for seed 0 costs +16 runs ≈ 240 core-h and lets E1 be re-run at 48→64: if I(48→64) passes the 1/3-rule, 48 is certified as the final surrogate; if not, we learn the curve's slope. Proposed as a cheap one-seed add-on decided after the seed study launches — it does not gate anything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methods_C/P1/ledger.json; r4 graded on CRC (a8df435). τ = 5.263e16. Strategy-session preview reproduced every graded entry to relerr ≤ 2e-16 before the official grading landed; official numbers matched digit-for-digit.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Ledgers: P2 r1 2.2773 τ (b46d66b), P3 r1 0.7697 τ (6fdfc93), N1 r1 1.43 τ. N1 r2 preview from the validated strategy-session HV replication (matched every graded entry to relerr &lt;= 2e-16; P1 r4 official matched digit-for-digit) — divergence would mean a grading-infra bug, not a science change. If asked 'what if a seed never stops before the cap?': that IS the readout — the distribution of stop rounds; the hard cap bounds worst-case cost at ~1k core-h per seed. If asked 'P3 is sub-tau at r1 — will it stop at r2, and does the rule allow so short a campaign?': yes — P3 holds strike 1; a second sub-tau round stops it, and an early stop is a legitimate datum in the stop-round distribution. And r1 gain is NOT the extension-trigger input: the pre-committed trigger reads the HV-at-stop range (25% of mean gain), computed only once seeds stop.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MECHANISM.md (261bed4): verdict table + two paper-ready paragraphs. Paper wording change: 'zero shed' → '≤ 22.4 MWh/yr, one PEM-independent commitment-limited event'. Spoken framing if useful: the day-ahead commitment stops trusting free wind. If asked 'is this a Prescient / cost-based-RUC artifact?': the mechanism needs only that DA commitment responds to the net-load increase from priced PEM withholding — any RUC formulation with that coupling should reproduce it; a reliability-based-RUC sensitivity is a bounded Discussion item, not new campaign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Full audit: admin/prompt/bogp/debug/fuelmix-check-2026-10-15.md. ERCOT 2019 actuals: gas 47%, coal 20%, wind 20%, nuclear 11% (ERCOT Fact Sheet 11/2020). If asked 'coal dispatches below gas in this dataset — can any ERCOT siting conclusion transfer to the real grid?': siting signals ride on network congestion + local renewable curtailment, which the dataset's transmission topology and wind/PV placement carry; the merit-order quirk shifts WHICH thermal units back down, so we report siting as a TX-123BT in-model result and check robustness via the bid-0 placebo rows in the wave-D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pi-agenda.md carries the rigorous + plain text for every open decision. Scope if the PI counts rows: 1-3 are today's NEW decisions; 4 is a restatement request; 5 is the standing NXT-D7 approval. g1 rehearsal (the PI's memo mentions option (b) flipping a verdict): the base nuclear fuel curve is FLAT — $3,208.99 per committed hour, zero marginal cost above 396 MW — so (a) the old delivered-x-$8.1 framing dissolves; (b) delivered-only is ill-defined and FLIPS the location analysis's nuclear cost slope (a LOCATION.md verdict); (c) restore the deleted curve: +$28.188M/yr CONSTANT in omega — an intercept shift only, every front and slope unchanged. Full text: g1_nuclear_fuel_accounting_PROPOSAL.md + pi-agenda NXT-D7.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part_h_loocv.csv; selection rule: LOO NLPD in original units, ties within 0.02 nats break by LOO RMSE; winners committed to fits.json before the first holdout call.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make_fig_sdheat.py. Slice axes picked by curtailment ARD lengthscales (wind_303 ls 2.0 — by far the most active; wind_317 5.4). sd is the full predictive sd incl. likelihood noise, in floor units.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128584" y="126586"/>
            <a:ext cx="11980590" cy="787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128584" y="1020555"/>
            <a:ext cx="11980590" cy="52510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ldNum" idx="12"/>
          </p:nvPr>
        </p:nvSpPr>
        <p:spPr>
          <a:xfrm>
            <a:off x="9365974" y="642461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sldNum" idx="12"/>
          </p:nvPr>
        </p:nvSpPr>
        <p:spPr>
          <a:xfrm>
            <a:off x="9365974" y="642461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>
            <a:spLocks noGrp="1"/>
          </p:cNvSpPr>
          <p:nvPr>
            <p:ph type="title"/>
          </p:nvPr>
        </p:nvSpPr>
        <p:spPr>
          <a:xfrm>
            <a:off x="128584" y="126586"/>
            <a:ext cx="11980590" cy="787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sldNum" idx="12"/>
          </p:nvPr>
        </p:nvSpPr>
        <p:spPr>
          <a:xfrm>
            <a:off x="9365974" y="642461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2" name="Google Shape;42;p8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6" name="Google Shape;46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sldNum" idx="12"/>
          </p:nvPr>
        </p:nvSpPr>
        <p:spPr>
          <a:xfrm>
            <a:off x="9365974" y="642461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 txBox="1">
            <a:spLocks noGrp="1"/>
          </p:cNvSpPr>
          <p:nvPr>
            <p:ph type="title"/>
          </p:nvPr>
        </p:nvSpPr>
        <p:spPr>
          <a:xfrm>
            <a:off x="128584" y="126586"/>
            <a:ext cx="11980590" cy="787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sldNum" idx="12"/>
          </p:nvPr>
        </p:nvSpPr>
        <p:spPr>
          <a:xfrm>
            <a:off x="9365974" y="642461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5" name="Google Shape;55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sldNum" idx="12"/>
          </p:nvPr>
        </p:nvSpPr>
        <p:spPr>
          <a:xfrm>
            <a:off x="9365974" y="642461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0" name="Google Shape;60;p1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1" name="Google Shape;6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2" name="Google Shape;6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 txBox="1">
            <a:spLocks noGrp="1"/>
          </p:cNvSpPr>
          <p:nvPr>
            <p:ph type="sldNum" idx="12"/>
          </p:nvPr>
        </p:nvSpPr>
        <p:spPr>
          <a:xfrm>
            <a:off x="9365974" y="642461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8" name="Google Shape;68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9" name="Google Shape;69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sldNum" idx="12"/>
          </p:nvPr>
        </p:nvSpPr>
        <p:spPr>
          <a:xfrm>
            <a:off x="9365974" y="642461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 txBox="1">
            <a:spLocks noGrp="1"/>
          </p:cNvSpPr>
          <p:nvPr>
            <p:ph type="title"/>
          </p:nvPr>
        </p:nvSpPr>
        <p:spPr>
          <a:xfrm>
            <a:off x="128584" y="126586"/>
            <a:ext cx="11980590" cy="787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3"/>
          <p:cNvSpPr txBox="1">
            <a:spLocks noGrp="1"/>
          </p:cNvSpPr>
          <p:nvPr>
            <p:ph type="body" idx="1"/>
          </p:nvPr>
        </p:nvSpPr>
        <p:spPr>
          <a:xfrm rot="5400000">
            <a:off x="3493362" y="-2344222"/>
            <a:ext cx="5251035" cy="11980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5" name="Google Shape;75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sldNum" idx="12"/>
          </p:nvPr>
        </p:nvSpPr>
        <p:spPr>
          <a:xfrm>
            <a:off x="9365974" y="642461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1" name="Google Shape;81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4"/>
          <p:cNvSpPr txBox="1">
            <a:spLocks noGrp="1"/>
          </p:cNvSpPr>
          <p:nvPr>
            <p:ph type="sldNum" idx="12"/>
          </p:nvPr>
        </p:nvSpPr>
        <p:spPr>
          <a:xfrm>
            <a:off x="9365974" y="642461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>
            <a:spLocks noGrp="1"/>
          </p:cNvSpPr>
          <p:nvPr>
            <p:ph type="title"/>
          </p:nvPr>
        </p:nvSpPr>
        <p:spPr>
          <a:xfrm>
            <a:off x="128584" y="126586"/>
            <a:ext cx="11980590" cy="787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3"/>
          <p:cNvSpPr txBox="1">
            <a:spLocks noGrp="1"/>
          </p:cNvSpPr>
          <p:nvPr>
            <p:ph type="body" idx="1"/>
          </p:nvPr>
        </p:nvSpPr>
        <p:spPr>
          <a:xfrm>
            <a:off x="128584" y="1020555"/>
            <a:ext cx="11980590" cy="52510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9365974" y="642461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4" name="Google Shape;14;p3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28584" y="6507526"/>
            <a:ext cx="1209476" cy="282211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l"/>
            <a:r>
              <a:rPr sz="2400" b="1" i="0">
                <a:solidFill>
                  <a:srgbClr val="0C2340"/>
                </a:solidFill>
                <a:latin typeface="Arial"/>
              </a:rPr>
              <a:t>recap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B6F15528-21DE-4FAA-801E-634DDDAF4B2B}" type="slidenum">
              <a:rPr lang="en-US" sz="1000">
                <a:latin typeface="Arial"/>
              </a:rPr>
              <a:t>1</a:t>
            </a:fld>
            <a:endParaRPr lang="en-US" sz="1000"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244144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300" b="1" i="0">
                <a:solidFill>
                  <a:srgbClr val="1F1F1F"/>
                </a:solidFill>
                <a:latin typeface="Arial"/>
              </a:rPr>
              <a:t>BO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300" b="1" i="0">
                <a:solidFill>
                  <a:srgbClr val="1F1F1F"/>
                </a:solidFill>
                <a:latin typeface="Arial"/>
              </a:rPr>
              <a:t>•  Last meeting (10-13)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300" b="0" i="0">
                <a:solidFill>
                  <a:srgbClr val="1F1F1F"/>
                </a:solidFill>
                <a:latin typeface="Arial"/>
              </a:rPr>
              <a:t>•  whether 32 starting points is a good choice for GP &amp; hyperparameter tuning (done)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300" b="0" i="0">
                <a:solidFill>
                  <a:srgbClr val="1F1F1F"/>
                </a:solidFill>
                <a:latin typeface="Arial"/>
              </a:rPr>
              <a:t>•  5-10 seed BO (still running)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300" b="0" i="0">
                <a:solidFill>
                  <a:srgbClr val="1F1F1F"/>
                </a:solidFill>
                <a:latin typeface="Arial"/>
              </a:rPr>
              <a:t>•  ERCOT where to build PEM and what size (not started)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300" b="1" i="0">
                <a:solidFill>
                  <a:srgbClr val="1F1F1F"/>
                </a:solidFill>
                <a:latin typeface="Arial"/>
              </a:rPr>
              <a:t>•  Other projects (no decisions needed today)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300" b="0" i="0">
                <a:solidFill>
                  <a:srgbClr val="1F1F1F"/>
                </a:solidFill>
                <a:latin typeface="Arial"/>
              </a:rPr>
              <a:t>•  GTEP. Run PCM on the 2035 fleets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300" b="0" i="0">
                <a:solidFill>
                  <a:srgbClr val="1F1F1F"/>
                </a:solidFill>
                <a:latin typeface="Arial"/>
              </a:rPr>
              <a:t>•  AIChE 2026 talk: ERCOT figures freeze next week.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l"/>
            <a:r>
              <a:rPr sz="2400" b="1" i="0">
                <a:solidFill>
                  <a:srgbClr val="0C2340"/>
                </a:solidFill>
                <a:latin typeface="Arial"/>
              </a:rPr>
              <a:t>Your three asks from Tuesday — all three moved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B6F15528-21DE-4FAA-801E-634DDDAF4B2B}" type="slidenum">
              <a:rPr lang="en-US" sz="1000">
                <a:latin typeface="Arial"/>
              </a:rPr>
              <a:t>2</a:t>
            </a:fld>
            <a:endParaRPr lang="en-US" sz="1000">
              <a:latin typeface="Arial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43000"/>
          <a:ext cx="11247120" cy="2267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60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F1F1F"/>
                          </a:solidFill>
                          <a:latin typeface="Arial"/>
                        </a:rPr>
                        <a:t>Ask (Tue 10-13)</a:t>
                      </a:r>
                    </a:p>
                  </a:txBody>
                  <a:tcPr marL="54864" marR="54864" marT="27432" marB="27432">
                    <a:solidFill>
                      <a:srgbClr val="DCE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F1F1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54864" marR="54864" marT="27432" marB="27432">
                    <a:solidFill>
                      <a:srgbClr val="DCE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F1F1F"/>
                          </a:solidFill>
                          <a:latin typeface="Arial"/>
                        </a:rPr>
                        <a:t>Result in one line</a:t>
                      </a:r>
                    </a:p>
                  </a:txBody>
                  <a:tcPr marL="54864" marR="54864" marT="27432" marB="27432">
                    <a:solidFill>
                      <a:srgbClr val="DCE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Arial"/>
                        </a:rPr>
                        <a:t>Evidence that n0 = 32 is a good choice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Arial"/>
                        </a:rPr>
                        <a:t>DONE — zero new PCM runs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Arial"/>
                        </a:rPr>
                        <a:t>32 is not yet sufficient: curtailment / cost error still drops a lot at 48; calibration at 32 is sound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Arial"/>
                        </a:rPr>
                        <a:t>Would hyperparameter tuning help?</a:t>
                      </a:r>
                    </a:p>
                  </a:txBody>
                  <a:tcPr marL="54864" marR="54864" marT="27432" marB="27432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Arial"/>
                        </a:rPr>
                        <a:t>DONE — pre-registered hyperparameter study</a:t>
                      </a:r>
                    </a:p>
                  </a:txBody>
                  <a:tcPr marL="54864" marR="54864" marT="27432" marB="27432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Arial"/>
                        </a:rPr>
                        <a:t>Yes, where the pathology lives: rbf+log1p repairs the round-3 audit (coverage 5/8 to 8/8)</a:t>
                      </a:r>
                    </a:p>
                  </a:txBody>
                  <a:tcPr marL="54864" marR="54864" marT="27432" marB="27432"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Arial"/>
                        </a:rPr>
                        <a:t>5-10 random seeds behind the conclusions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Arial"/>
                        </a:rPr>
                        <a:t>RUNNING — 3 new trajectories live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Arial"/>
                        </a:rPr>
                        <a:t>P1 complete (hard cap); P2 / P3 / N1 graded r1; need your seed count to scope the rest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3703320"/>
            <a:ext cx="11247120" cy="21945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 i="0">
                <a:solidFill>
                  <a:srgbClr val="1F1F1F"/>
                </a:solidFill>
                <a:latin typeface="Arial"/>
              </a:rPr>
              <a:t>•  Also closed this week: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0" i="0">
                <a:solidFill>
                  <a:srgbClr val="1F1F1F"/>
                </a:solidFill>
                <a:latin typeface="Arial"/>
              </a:rPr>
              <a:t>•  Stop rule held at both P1 overrun checkpoints (r3 = 0.62 τ, r4 = 0.30 τ — official grading).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0" i="0">
                <a:solidFill>
                  <a:srgbClr val="1F1F1F"/>
                </a:solidFill>
                <a:latin typeface="Arial"/>
              </a:rPr>
              <a:t>•  Shed mechanism identified from hourly data: day-ahead commitment, not PEM scarcity sales.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0" i="0">
                <a:solidFill>
                  <a:srgbClr val="1F1F1F"/>
                </a:solidFill>
                <a:latin typeface="Arial"/>
              </a:rPr>
              <a:t>•  ERCOT fuel-mix audit: our conversion is exact (45/45); the flagged discrepancies trace to the published dataset — AIChE figures stand.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806440"/>
            <a:ext cx="11247120" cy="566928"/>
          </a:xfrm>
          <a:prstGeom prst="roundRect">
            <a:avLst>
              <a:gd name="adj" fmla="val 4000"/>
            </a:avLst>
          </a:prstGeom>
          <a:solidFill>
            <a:srgbClr val="FDF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5870448"/>
            <a:ext cx="11027664" cy="43891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1" i="0">
                <a:solidFill>
                  <a:srgbClr val="1F1F1F"/>
                </a:solidFill>
                <a:latin typeface="Arial"/>
              </a:rPr>
              <a:t>Needed from you today: 3 decisions — seed-study n0 · grading GP · seed count (5 vs 10) — plus the wave-D wait condition restated and the standing g1 sign-off (slide 17).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l"/>
            <a:r>
              <a:rPr sz="2400" b="1" i="0" dirty="0">
                <a:solidFill>
                  <a:srgbClr val="0C2340"/>
                </a:solidFill>
                <a:latin typeface="Arial"/>
              </a:rPr>
              <a:t>32 is not sufficient </a:t>
            </a:r>
            <a:r>
              <a:rPr lang="en-US" sz="2400" b="1" i="0" dirty="0">
                <a:solidFill>
                  <a:srgbClr val="0C2340"/>
                </a:solidFill>
                <a:latin typeface="Arial"/>
              </a:rPr>
              <a:t>by looking at</a:t>
            </a:r>
            <a:r>
              <a:rPr sz="2400" b="1" i="0" dirty="0">
                <a:solidFill>
                  <a:srgbClr val="0C2340"/>
                </a:solidFill>
                <a:latin typeface="Arial"/>
              </a:rPr>
              <a:t> the error </a:t>
            </a:r>
            <a:r>
              <a:rPr sz="2400" b="1" i="0" dirty="0" err="1">
                <a:solidFill>
                  <a:srgbClr val="0C2340"/>
                </a:solidFill>
                <a:latin typeface="Arial"/>
              </a:rPr>
              <a:t>curv</a:t>
            </a:r>
            <a:r>
              <a:rPr lang="en-GB" sz="2400" b="1" i="0" dirty="0">
                <a:solidFill>
                  <a:srgbClr val="0C2340"/>
                </a:solidFill>
                <a:latin typeface="Arial"/>
              </a:rPr>
              <a:t>e</a:t>
            </a:r>
            <a:endParaRPr sz="2400" b="1" i="0" dirty="0">
              <a:solidFill>
                <a:srgbClr val="0C2340"/>
              </a:solidFill>
              <a:latin typeface="Arial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B6F15528-21DE-4FAA-801E-634DDDAF4B2B}" type="slidenum">
              <a:rPr lang="en-US" sz="1000">
                <a:latin typeface="Arial"/>
              </a:rPr>
              <a:t>3</a:t>
            </a:fld>
            <a:endParaRPr lang="en-US" sz="1000">
              <a:latin typeface="Arial"/>
            </a:endParaRPr>
          </a:p>
        </p:txBody>
      </p:sp>
      <p:pic>
        <p:nvPicPr>
          <p:cNvPr id="5" name="Picture 4" descr="n0_curve_holdo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630" y="3020096"/>
            <a:ext cx="9767944" cy="31431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36176" y="914400"/>
            <a:ext cx="6879515" cy="191687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1" i="0" dirty="0">
                <a:solidFill>
                  <a:srgbClr val="1F1F1F"/>
                </a:solidFill>
                <a:latin typeface="Arial"/>
              </a:rPr>
              <a:t>•  Holdout RMSE / noise floor (default GP)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0" i="0" dirty="0">
                <a:solidFill>
                  <a:srgbClr val="1F1F1F"/>
                </a:solidFill>
                <a:latin typeface="Arial"/>
              </a:rPr>
              <a:t>•  curtailment: 17.4</a:t>
            </a:r>
            <a:r>
              <a:rPr lang="en-GB" sz="1250" b="0" i="0" dirty="0">
                <a:solidFill>
                  <a:srgbClr val="1F1F1F"/>
                </a:solidFill>
                <a:latin typeface="Arial"/>
              </a:rPr>
              <a:t>, </a:t>
            </a:r>
            <a:r>
              <a:rPr sz="1250" b="0" i="0" dirty="0">
                <a:solidFill>
                  <a:srgbClr val="1F1F1F"/>
                </a:solidFill>
                <a:latin typeface="Arial"/>
              </a:rPr>
              <a:t>9.4</a:t>
            </a:r>
            <a:r>
              <a:rPr lang="en-GB" sz="1250" b="0" i="0" dirty="0">
                <a:solidFill>
                  <a:srgbClr val="1F1F1F"/>
                </a:solidFill>
                <a:latin typeface="Arial"/>
              </a:rPr>
              <a:t>,</a:t>
            </a:r>
            <a:r>
              <a:rPr sz="1250" b="0" i="0" dirty="0">
                <a:solidFill>
                  <a:srgbClr val="1F1F1F"/>
                </a:solidFill>
                <a:latin typeface="Arial"/>
              </a:rPr>
              <a:t> 5.0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0" i="0" dirty="0">
                <a:solidFill>
                  <a:srgbClr val="1F1F1F"/>
                </a:solidFill>
                <a:latin typeface="Arial"/>
              </a:rPr>
              <a:t>•  cost: 15.4</a:t>
            </a:r>
            <a:r>
              <a:rPr lang="en-GB" sz="1250" b="0" i="0" dirty="0">
                <a:solidFill>
                  <a:srgbClr val="1F1F1F"/>
                </a:solidFill>
                <a:latin typeface="Arial"/>
              </a:rPr>
              <a:t>, </a:t>
            </a:r>
            <a:r>
              <a:rPr sz="1250" b="0" i="0" dirty="0">
                <a:solidFill>
                  <a:srgbClr val="1F1F1F"/>
                </a:solidFill>
                <a:latin typeface="Arial"/>
              </a:rPr>
              <a:t>7.9</a:t>
            </a:r>
            <a:r>
              <a:rPr lang="en-GB" sz="1250" b="0" i="0" dirty="0">
                <a:solidFill>
                  <a:srgbClr val="1F1F1F"/>
                </a:solidFill>
                <a:latin typeface="Arial"/>
              </a:rPr>
              <a:t>,</a:t>
            </a:r>
            <a:r>
              <a:rPr sz="1250" b="0" i="0" dirty="0">
                <a:solidFill>
                  <a:srgbClr val="1F1F1F"/>
                </a:solidFill>
                <a:latin typeface="Arial"/>
              </a:rPr>
              <a:t> 5.3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0" i="0" dirty="0">
                <a:solidFill>
                  <a:srgbClr val="1F1F1F"/>
                </a:solidFill>
                <a:latin typeface="Arial"/>
              </a:rPr>
              <a:t>•  shed: below floor at every n0 (noise-limited)</a:t>
            </a:r>
            <a:endParaRPr lang="en-GB" sz="1250" b="0" i="0" dirty="0">
              <a:solidFill>
                <a:srgbClr val="1F1F1F"/>
              </a:solidFill>
              <a:latin typeface="Arial"/>
            </a:endParaRP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lang="en-US" sz="1250" dirty="0">
                <a:solidFill>
                  <a:srgbClr val="1F1F1F"/>
                </a:solidFill>
              </a:rPr>
              <a:t>- </a:t>
            </a:r>
            <a:r>
              <a:rPr sz="1250" b="0" i="0" dirty="0">
                <a:solidFill>
                  <a:srgbClr val="1F1F1F"/>
                </a:solidFill>
                <a:latin typeface="Arial"/>
              </a:rPr>
              <a:t>the curve is still descending at 48.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1" i="0" dirty="0">
                <a:solidFill>
                  <a:srgbClr val="1E8449"/>
                </a:solidFill>
                <a:latin typeface="Arial"/>
              </a:rPr>
              <a:t>•  But 32 </a:t>
            </a:r>
            <a:r>
              <a:rPr lang="en-GB" sz="1250" b="1" i="0" dirty="0">
                <a:solidFill>
                  <a:srgbClr val="1E8449"/>
                </a:solidFill>
                <a:latin typeface="Arial"/>
              </a:rPr>
              <a:t>could navigate</a:t>
            </a:r>
            <a:r>
              <a:rPr sz="1250" b="1" i="0" dirty="0">
                <a:solidFill>
                  <a:srgbClr val="1E8449"/>
                </a:solidFill>
                <a:latin typeface="Arial"/>
              </a:rPr>
              <a:t> BO </a:t>
            </a:r>
            <a:r>
              <a:rPr lang="en-GB" sz="1250" b="1" i="0" dirty="0">
                <a:solidFill>
                  <a:srgbClr val="1E8449"/>
                </a:solidFill>
                <a:latin typeface="Arial"/>
              </a:rPr>
              <a:t>ok</a:t>
            </a:r>
            <a:endParaRPr sz="1250" b="1" i="0" dirty="0">
              <a:solidFill>
                <a:srgbClr val="1E8449"/>
              </a:solidFill>
              <a:latin typeface="Arial"/>
            </a:endParaRP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0" i="0" dirty="0">
                <a:solidFill>
                  <a:srgbClr val="1F1F1F"/>
                </a:solidFill>
                <a:latin typeface="Arial"/>
              </a:rPr>
              <a:t>•  ranking Spearman ≥ 0.94; </a:t>
            </a:r>
            <a:r>
              <a:rPr lang="en-GB" sz="1250" b="0" i="0" dirty="0">
                <a:solidFill>
                  <a:srgbClr val="1F1F1F"/>
                </a:solidFill>
                <a:latin typeface="Arial"/>
              </a:rPr>
              <a:t>hyperparameter tunning</a:t>
            </a:r>
            <a:r>
              <a:rPr sz="1250" b="0" i="0" dirty="0">
                <a:solidFill>
                  <a:srgbClr val="1F1F1F"/>
                </a:solidFill>
                <a:latin typeface="Arial"/>
              </a:rPr>
              <a:t> at 32 </a:t>
            </a:r>
            <a:r>
              <a:rPr lang="en-GB" sz="1250" b="0" i="0" dirty="0">
                <a:solidFill>
                  <a:srgbClr val="1F1F1F"/>
                </a:solidFill>
                <a:latin typeface="Arial"/>
              </a:rPr>
              <a:t>looks good</a:t>
            </a:r>
            <a:endParaRPr sz="1250" b="0" i="0" dirty="0">
              <a:solidFill>
                <a:srgbClr val="1F1F1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584" y="137343"/>
            <a:ext cx="11980590" cy="787814"/>
          </a:xfrm>
        </p:spPr>
        <p:txBody>
          <a:bodyPr wrap="square" anchor="ctr"/>
          <a:lstStyle/>
          <a:p>
            <a:pPr algn="l"/>
            <a:r>
              <a:rPr lang="en-GB" sz="2400" dirty="0">
                <a:solidFill>
                  <a:srgbClr val="0C2340"/>
                </a:solidFill>
              </a:rPr>
              <a:t>Parity plot comparison</a:t>
            </a:r>
            <a:r>
              <a:rPr sz="2400" b="1" i="0" dirty="0">
                <a:solidFill>
                  <a:srgbClr val="0C2340"/>
                </a:solidFill>
                <a:latin typeface="Arial"/>
              </a:rPr>
              <a:t>, point by point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B6F15528-21DE-4FAA-801E-634DDDAF4B2B}" type="slidenum">
              <a:rPr lang="en-US" sz="1000">
                <a:latin typeface="Arial"/>
              </a:rPr>
              <a:t>4</a:t>
            </a:fld>
            <a:endParaRPr lang="en-US" sz="1000">
              <a:latin typeface="Arial"/>
            </a:endParaRPr>
          </a:p>
        </p:txBody>
      </p:sp>
      <p:pic>
        <p:nvPicPr>
          <p:cNvPr id="5" name="Picture 4" descr="fig_parity_holdout.png"/>
          <p:cNvPicPr>
            <a:picLocks noChangeAspect="1"/>
          </p:cNvPicPr>
          <p:nvPr/>
        </p:nvPicPr>
        <p:blipFill>
          <a:blip r:embed="rId3"/>
          <a:srcRect t="4315"/>
          <a:stretch>
            <a:fillRect/>
          </a:stretch>
        </p:blipFill>
        <p:spPr>
          <a:xfrm>
            <a:off x="82826" y="643845"/>
            <a:ext cx="5679961" cy="513516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5534" y="5843088"/>
            <a:ext cx="5760720" cy="20576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 i="0" dirty="0">
                <a:solidFill>
                  <a:srgbClr val="1F1F1F"/>
                </a:solidFill>
                <a:latin typeface="Arial"/>
              </a:rPr>
              <a:t>GP 95% intervals</a:t>
            </a:r>
            <a:r>
              <a:rPr lang="zh-CN" altLang="en-US" sz="1000" dirty="0">
                <a:solidFill>
                  <a:srgbClr val="1F1F1F"/>
                </a:solidFill>
              </a:rPr>
              <a:t> </a:t>
            </a:r>
            <a:r>
              <a:rPr lang="en-US" altLang="zh-CN" sz="1000" b="0" i="0" dirty="0">
                <a:solidFill>
                  <a:srgbClr val="1F1F1F"/>
                </a:solidFill>
                <a:latin typeface="Arial"/>
              </a:rPr>
              <a:t>with</a:t>
            </a:r>
            <a:r>
              <a:rPr lang="zh-CN" altLang="en-US" sz="1000" b="0" i="0" dirty="0">
                <a:solidFill>
                  <a:srgbClr val="1F1F1F"/>
                </a:solidFill>
                <a:latin typeface="Arial"/>
              </a:rPr>
              <a:t> </a:t>
            </a:r>
            <a:r>
              <a:rPr lang="en-GB" altLang="zh-CN" sz="1000" b="0" i="0" dirty="0">
                <a:solidFill>
                  <a:srgbClr val="1F1F1F"/>
                </a:solidFill>
                <a:latin typeface="Arial"/>
              </a:rPr>
              <a:t>the floor</a:t>
            </a:r>
            <a:endParaRPr sz="800" b="0" i="0" dirty="0">
              <a:solidFill>
                <a:srgbClr val="8A8A8A"/>
              </a:solidFill>
              <a:latin typeface="Arial"/>
            </a:endParaRPr>
          </a:p>
        </p:txBody>
      </p:sp>
      <p:pic>
        <p:nvPicPr>
          <p:cNvPr id="8" name="Picture 7" descr="fig_parity_nofloor.png">
            <a:extLst>
              <a:ext uri="{FF2B5EF4-FFF2-40B4-BE49-F238E27FC236}">
                <a16:creationId xmlns:a16="http://schemas.microsoft.com/office/drawing/2014/main" id="{E9C11C0B-62BB-D623-A24C-41D9F59EA28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315"/>
          <a:stretch>
            <a:fillRect/>
          </a:stretch>
        </p:blipFill>
        <p:spPr>
          <a:xfrm>
            <a:off x="5866321" y="634701"/>
            <a:ext cx="5637849" cy="513516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1496236-092B-D22F-F6EE-1C1B95C75DE7}"/>
              </a:ext>
            </a:extLst>
          </p:cNvPr>
          <p:cNvSpPr txBox="1"/>
          <p:nvPr/>
        </p:nvSpPr>
        <p:spPr>
          <a:xfrm>
            <a:off x="6156962" y="5843088"/>
            <a:ext cx="5760720" cy="20576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000" b="0" i="0" dirty="0">
                <a:solidFill>
                  <a:srgbClr val="1F1F1F"/>
                </a:solidFill>
                <a:latin typeface="Arial"/>
              </a:rPr>
              <a:t>same</a:t>
            </a:r>
            <a:r>
              <a:rPr sz="1000" b="0" i="0" dirty="0">
                <a:solidFill>
                  <a:srgbClr val="1F1F1F"/>
                </a:solidFill>
                <a:latin typeface="Arial"/>
              </a:rPr>
              <a:t> GPs</a:t>
            </a:r>
            <a:r>
              <a:rPr lang="en-GB" sz="1000" b="0" i="0" dirty="0">
                <a:solidFill>
                  <a:srgbClr val="1F1F1F"/>
                </a:solidFill>
                <a:latin typeface="Arial"/>
              </a:rPr>
              <a:t> but</a:t>
            </a:r>
            <a:r>
              <a:rPr sz="1000" b="0" i="0" dirty="0">
                <a:solidFill>
                  <a:srgbClr val="1F1F1F"/>
                </a:solidFill>
                <a:latin typeface="Arial"/>
              </a:rPr>
              <a:t> likelihood noise bound </a:t>
            </a:r>
            <a:r>
              <a:rPr lang="en-GB" sz="1000" b="0" i="0" dirty="0">
                <a:solidFill>
                  <a:srgbClr val="1F1F1F"/>
                </a:solidFill>
                <a:latin typeface="Arial"/>
              </a:rPr>
              <a:t>fixed</a:t>
            </a:r>
            <a:r>
              <a:rPr sz="1000" b="0" i="0" dirty="0">
                <a:solidFill>
                  <a:srgbClr val="1F1F1F"/>
                </a:solidFill>
                <a:latin typeface="Arial"/>
              </a:rPr>
              <a:t> 1e-9; </a:t>
            </a:r>
            <a:endParaRPr sz="800" b="0" i="0" dirty="0">
              <a:solidFill>
                <a:srgbClr val="8A8A8A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l"/>
            <a:r>
              <a:rPr sz="2400" b="1" i="0">
                <a:solidFill>
                  <a:srgbClr val="0C2340"/>
                </a:solidFill>
                <a:latin typeface="Arial"/>
              </a:rPr>
              <a:t>Tuning helps exactly where the pathology lives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B6F15528-21DE-4FAA-801E-634DDDAF4B2B}" type="slidenum">
              <a:rPr lang="en-US" sz="1000">
                <a:latin typeface="Arial"/>
              </a:rPr>
              <a:t>5</a:t>
            </a:fld>
            <a:endParaRPr lang="en-US" sz="1000"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6035040" cy="2743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 i="0">
                <a:solidFill>
                  <a:srgbClr val="1F1F1F"/>
                </a:solidFill>
                <a:latin typeface="Arial"/>
              </a:rPr>
              <a:t>•  The start-set GP was never miscalibrated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0" i="0">
                <a:solidFill>
                  <a:srgbClr val="1F1F1F"/>
                </a:solidFill>
                <a:latin typeface="Arial"/>
              </a:rPr>
              <a:t>•  32-start LOO: curtailment rms_z 0.81, coverage 31/32. The weak audit you saw (r3) belongs to the BO-augmented GP.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 i="0">
                <a:solidFill>
                  <a:srgbClr val="1F1F1F"/>
                </a:solidFill>
                <a:latin typeface="Arial"/>
              </a:rPr>
              <a:t>•  Hyperparameter study (pre-registered NLPD rule)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0" i="0">
                <a:solidFill>
                  <a:srgbClr val="1F1F1F"/>
                </a:solidFill>
                <a:latin typeface="Arial"/>
              </a:rPr>
              <a:t>•  Winners: rbf + log1p (shed, curtailment), rbf (cost). Picked on the 32 starts, committed before any holdout scoring.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0" y="1188720"/>
            <a:ext cx="502920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1" i="0">
                <a:solidFill>
                  <a:srgbClr val="1F1F1F"/>
                </a:solidFill>
                <a:latin typeface="Arial"/>
              </a:rPr>
              <a:t>Round-3 audit cell (the PI's observation), refit + rescored: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766560" y="1554480"/>
          <a:ext cx="502920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F1F1F"/>
                          </a:solidFill>
                          <a:latin typeface="Arial"/>
                        </a:rPr>
                        <a:t>curtailment</a:t>
                      </a:r>
                    </a:p>
                  </a:txBody>
                  <a:tcPr marL="54864" marR="54864" marT="27432" marB="27432">
                    <a:solidFill>
                      <a:srgbClr val="DCE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F1F1F"/>
                          </a:solidFill>
                          <a:latin typeface="Arial"/>
                        </a:rPr>
                        <a:t>default GP</a:t>
                      </a:r>
                    </a:p>
                  </a:txBody>
                  <a:tcPr marL="54864" marR="54864" marT="27432" marB="27432">
                    <a:solidFill>
                      <a:srgbClr val="DCE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F1F1F"/>
                          </a:solidFill>
                          <a:latin typeface="Arial"/>
                        </a:rPr>
                        <a:t>rbf+log1p</a:t>
                      </a:r>
                    </a:p>
                  </a:txBody>
                  <a:tcPr marL="54864" marR="54864" marT="27432" marB="27432">
                    <a:solidFill>
                      <a:srgbClr val="DCE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Arial"/>
                        </a:rPr>
                        <a:t>coverage (of 8)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Arial"/>
                        </a:rPr>
                        <a:t>5 / 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Arial"/>
                        </a:rPr>
                        <a:t>8 / 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Arial"/>
                        </a:rPr>
                        <a:t>rms z-score</a:t>
                      </a:r>
                    </a:p>
                  </a:txBody>
                  <a:tcPr marL="54864" marR="54864" marT="27432" marB="27432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Arial"/>
                        </a:rPr>
                        <a:t>2.008</a:t>
                      </a:r>
                    </a:p>
                  </a:txBody>
                  <a:tcPr marL="54864" marR="54864" marT="27432" marB="27432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Arial"/>
                        </a:rPr>
                        <a:t>1.050</a:t>
                      </a:r>
                    </a:p>
                  </a:txBody>
                  <a:tcPr marL="54864" marR="54864" marT="27432" marB="27432"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Arial"/>
                        </a:rPr>
                        <a:t>reproduces recorded audit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Arial"/>
                        </a:rPr>
                        <a:t>exact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3977639"/>
            <a:ext cx="11247120" cy="19202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1" i="0">
                <a:solidFill>
                  <a:srgbClr val="1F1F1F"/>
                </a:solidFill>
                <a:latin typeface="Arial"/>
              </a:rPr>
              <a:t>•  Out-of-sample check: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0" i="0">
                <a:solidFill>
                  <a:srgbClr val="1F1F1F"/>
                </a:solidFill>
                <a:latin typeface="Arial"/>
              </a:rPr>
              <a:t>•  the winner's curtailment error rises from 4.8× (LOO) to 7.3× floor on the holdout — still better than the default; the advantage shrinks but holds.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0" i="0">
                <a:solidFill>
                  <a:srgbClr val="1F1F1F"/>
                </a:solidFill>
                <a:latin typeface="Arial"/>
              </a:rPr>
              <a:t>•  Secondary grid findings (BoTorch prior, kernels) → backup slide.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l"/>
            <a:r>
              <a:rPr sz="2400" b="1" i="0">
                <a:solidFill>
                  <a:srgbClr val="0C2340"/>
                </a:solidFill>
                <a:latin typeface="Arial"/>
              </a:rPr>
              <a:t>Same landscape, different probes — why seeds are the next instrument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B6F15528-21DE-4FAA-801E-634DDDAF4B2B}" type="slidenum">
              <a:rPr lang="en-US" sz="1000">
                <a:latin typeface="Arial"/>
              </a:rPr>
              <a:t>6</a:t>
            </a:fld>
            <a:endParaRPr lang="en-US" sz="1000"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508760" y="6473952"/>
            <a:ext cx="75895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Arial"/>
              </a:rPr>
              <a:t>BO workflow: initial-design evidence + stop-rule closure · 2026-10-16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65836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F1F1F"/>
                          </a:solidFill>
                          <a:latin typeface="Arial"/>
                        </a:rPr>
                        <a:t>Round-1 replay from...</a:t>
                      </a:r>
                    </a:p>
                  </a:txBody>
                  <a:tcPr marL="54864" marR="54864" marT="27432" marB="27432">
                    <a:solidFill>
                      <a:srgbClr val="DCE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F1F1F"/>
                          </a:solidFill>
                          <a:latin typeface="Arial"/>
                        </a:rPr>
                        <a:t>Batch overlap with deployed r1</a:t>
                      </a:r>
                    </a:p>
                  </a:txBody>
                  <a:tcPr marL="54864" marR="54864" marT="27432" marB="27432">
                    <a:solidFill>
                      <a:srgbClr val="DCE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F1F1F"/>
                          </a:solidFill>
                          <a:latin typeface="Arial"/>
                        </a:rPr>
                        <a:t>Landscape rank corr. (Spearman)</a:t>
                      </a:r>
                    </a:p>
                  </a:txBody>
                  <a:tcPr marL="54864" marR="54864" marT="27432" marB="27432">
                    <a:solidFill>
                      <a:srgbClr val="DCE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Arial"/>
                        </a:rPr>
                        <a:t>32 starts (the real campaign)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Arial"/>
                        </a:rPr>
                        <a:t>8 / 8 — reproduces it exactly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Arial"/>
                        </a:rPr>
                        <a:t>16 starts</a:t>
                      </a:r>
                    </a:p>
                  </a:txBody>
                  <a:tcPr marL="54864" marR="54864" marT="27432" marB="27432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Arial"/>
                        </a:rPr>
                        <a:t>0 / 8</a:t>
                      </a:r>
                    </a:p>
                  </a:txBody>
                  <a:tcPr marL="54864" marR="54864" marT="27432" marB="27432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Arial"/>
                        </a:rPr>
                        <a:t>0.94 vs 32-start</a:t>
                      </a:r>
                    </a:p>
                  </a:txBody>
                  <a:tcPr marL="54864" marR="54864" marT="27432" marB="27432"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Arial"/>
                        </a:rPr>
                        <a:t>48 starts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Arial"/>
                        </a:rPr>
                        <a:t>0 / 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Arial"/>
                        </a:rPr>
                        <a:t>0.95 vs 32-start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0" y="1188720"/>
            <a:ext cx="4572000" cy="2651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1" i="0">
                <a:solidFill>
                  <a:srgbClr val="1F1F1F"/>
                </a:solidFill>
                <a:latin typeface="Arial"/>
              </a:rPr>
              <a:t>•  How to read this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0" i="0">
                <a:solidFill>
                  <a:srgbClr val="1F1F1F"/>
                </a:solidFill>
                <a:latin typeface="Arial"/>
              </a:rPr>
              <a:t>•  The GPs agree on where is good (ρ ≥ 0.89 on every weight) …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0" i="0">
                <a:solidFill>
                  <a:srgbClr val="1F1F1F"/>
                </a:solidFill>
                <a:latin typeface="Arial"/>
              </a:rPr>
              <a:t>•  … but the acquisition argmax is a knife-edge: a different start set moves every batch member.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0" i="0">
                <a:solidFill>
                  <a:srgbClr val="1F1F1F"/>
                </a:solidFill>
                <a:latin typeface="Arial"/>
              </a:rPr>
              <a:t>•  A knife-edge argmax is expected for batch acquisition — which is exactly why one replay cannot answer the front question.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931920"/>
            <a:ext cx="11247120" cy="1371600"/>
          </a:xfrm>
          <a:prstGeom prst="roundRect">
            <a:avLst>
              <a:gd name="adj" fmla="val 4000"/>
            </a:avLst>
          </a:prstGeom>
          <a:solidFill>
            <a:srgbClr val="FDF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3995928"/>
            <a:ext cx="11027664" cy="124358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50" b="1" i="0">
                <a:solidFill>
                  <a:srgbClr val="1F1F1F"/>
                </a:solidFill>
                <a:latin typeface="Arial"/>
              </a:rPr>
              <a:t>n0 changes which points BO probes next, even when it barely changes the fitted landscape.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50" b="0" i="0">
                <a:solidFill>
                  <a:srgbClr val="1F1F1F"/>
                </a:solidFill>
                <a:latin typeface="Arial"/>
              </a:rPr>
              <a:t>Whether that changes the final front is an outcome question — answered by running the workflow from several seeds (your 1014-D1 directive), not by more GP diagnostics.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016" y="128016"/>
            <a:ext cx="8961120" cy="786384"/>
          </a:xfrm>
        </p:spPr>
        <p:txBody>
          <a:bodyPr wrap="square" anchor="ctr"/>
          <a:lstStyle/>
          <a:p>
            <a:pPr algn="l"/>
            <a:r>
              <a:rPr sz="2100" b="1" i="0" dirty="0">
                <a:solidFill>
                  <a:srgbClr val="0C2340"/>
                </a:solidFill>
                <a:latin typeface="Arial"/>
              </a:rPr>
              <a:t>Decision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B6F15528-21DE-4FAA-801E-634DDDAF4B2B}" type="slidenum">
              <a:rPr lang="en-US" sz="1000">
                <a:latin typeface="Arial"/>
              </a:rPr>
              <a:t>7</a:t>
            </a:fld>
            <a:endParaRPr lang="en-US" sz="1000">
              <a:latin typeface="Arial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57200" y="1234440"/>
            <a:ext cx="5577840" cy="4206240"/>
          </a:xfrm>
          <a:prstGeom prst="roundRect">
            <a:avLst>
              <a:gd name="adj" fmla="val 4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371600"/>
            <a:ext cx="5120640" cy="2168863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1" i="0" dirty="0">
                <a:solidFill>
                  <a:srgbClr val="1F1F1F"/>
                </a:solidFill>
                <a:latin typeface="Arial"/>
              </a:rPr>
              <a:t>(a) </a:t>
            </a:r>
            <a:r>
              <a:rPr lang="en-US" sz="1500" b="1" i="0" dirty="0">
                <a:solidFill>
                  <a:srgbClr val="1F1F1F"/>
                </a:solidFill>
                <a:latin typeface="Arial"/>
              </a:rPr>
              <a:t>BO n</a:t>
            </a:r>
            <a:r>
              <a:rPr sz="1500" b="1" i="0" dirty="0">
                <a:solidFill>
                  <a:srgbClr val="1F1F1F"/>
                </a:solidFill>
                <a:latin typeface="Arial"/>
              </a:rPr>
              <a:t>eed study starts from 32 or 48?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1" i="0" dirty="0">
                <a:solidFill>
                  <a:srgbClr val="1E8449"/>
                </a:solidFill>
                <a:latin typeface="Arial"/>
              </a:rPr>
              <a:t>Start at 32 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 i="0" dirty="0">
                <a:solidFill>
                  <a:srgbClr val="1F1F1F"/>
                </a:solidFill>
                <a:latin typeface="Arial"/>
              </a:rPr>
              <a:t>Comparable to the </a:t>
            </a:r>
            <a:r>
              <a:rPr lang="en-GB" sz="1300" b="0" i="0" dirty="0">
                <a:solidFill>
                  <a:srgbClr val="1F1F1F"/>
                </a:solidFill>
                <a:latin typeface="Arial"/>
              </a:rPr>
              <a:t>previous running; hyper</a:t>
            </a:r>
            <a:r>
              <a:rPr sz="1300" b="0" i="0" dirty="0">
                <a:solidFill>
                  <a:srgbClr val="1F1F1F"/>
                </a:solidFill>
                <a:latin typeface="Arial"/>
              </a:rPr>
              <a:t> campaign; calibration sound; replay reproduces the real r1; known cost: ~2× curtailment error vs 48.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1" i="0" dirty="0">
                <a:solidFill>
                  <a:srgbClr val="1F1F1F"/>
                </a:solidFill>
                <a:latin typeface="Arial"/>
              </a:rPr>
              <a:t>Start at 48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 i="0" dirty="0">
                <a:solidFill>
                  <a:srgbClr val="1F1F1F"/>
                </a:solidFill>
                <a:latin typeface="Arial"/>
              </a:rPr>
              <a:t>More accurate surrogate, but +16 NEW PCM runs per fresh seed (≈ +25% per-seed cost) </a:t>
            </a:r>
            <a:r>
              <a:rPr lang="en-US" altLang="zh-CN" sz="1300" dirty="0">
                <a:solidFill>
                  <a:srgbClr val="1F1F1F"/>
                </a:solidFill>
              </a:rPr>
              <a:t>I</a:t>
            </a:r>
            <a:r>
              <a:rPr lang="zh-CN" altLang="en-US" sz="1300" dirty="0">
                <a:solidFill>
                  <a:srgbClr val="1F1F1F"/>
                </a:solidFill>
              </a:rPr>
              <a:t> </a:t>
            </a:r>
            <a:r>
              <a:rPr lang="en-US" altLang="zh-CN" sz="1300" dirty="0">
                <a:solidFill>
                  <a:srgbClr val="1F1F1F"/>
                </a:solidFill>
              </a:rPr>
              <a:t>think it – computational advantages of the paper’s claim</a:t>
            </a:r>
            <a:endParaRPr sz="1300" b="0" i="1" dirty="0">
              <a:solidFill>
                <a:srgbClr val="1F1F1F"/>
              </a:solidFill>
              <a:latin typeface="Arial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309360" y="1234440"/>
            <a:ext cx="5577840" cy="4206240"/>
          </a:xfrm>
          <a:prstGeom prst="roundRect">
            <a:avLst>
              <a:gd name="adj" fmla="val 4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37960" y="1371600"/>
            <a:ext cx="5120640" cy="3931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1" i="0">
                <a:solidFill>
                  <a:srgbClr val="1F1F1F"/>
                </a:solidFill>
                <a:latin typeface="Arial"/>
              </a:rPr>
              <a:t>(b) Adopt rbf+log1p for grading only?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1" i="0">
                <a:solidFill>
                  <a:srgbClr val="1E8449"/>
                </a:solidFill>
                <a:latin typeface="Arial"/>
              </a:rPr>
              <a:t>Yes — RECOMMENDED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 i="0">
                <a:solidFill>
                  <a:srgbClr val="1F1F1F"/>
                </a:solidFill>
                <a:latin typeface="Arial"/>
              </a:rPr>
              <a:t>Repairs the r3 overconfidence (5/8 → 8/8) with zero new runs.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 i="0">
                <a:solidFill>
                  <a:srgbClr val="1F1F1F"/>
                </a:solidFill>
                <a:latin typeface="Arial"/>
              </a:rPr>
              <a:t>Scope: grading / prediction / audit layer ONLY.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1" i="0">
                <a:solidFill>
                  <a:srgbClr val="1F1F1F"/>
                </a:solidFill>
                <a:latin typeface="Arial"/>
              </a:rPr>
              <a:t>The acquisition path stays frozen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0" i="0">
                <a:solidFill>
                  <a:srgbClr val="1F1F1F"/>
                </a:solidFill>
                <a:latin typeface="Arial"/>
              </a:rPr>
              <a:t>so every completed and running arm stays comparable; a tuned-acquisition arm can be a separate seed later if wanted.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B6F15528-21DE-4FAA-801E-634DDDAF4B2B}" type="slidenum">
              <a:rPr lang="en-US" sz="1000">
                <a:latin typeface="Arial"/>
              </a:rPr>
              <a:t>8</a:t>
            </a:fld>
            <a:endParaRPr lang="en-US" sz="1000">
              <a:latin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2000" cy="466344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1" i="0">
                <a:solidFill>
                  <a:srgbClr val="AE9342"/>
                </a:solidFill>
                <a:latin typeface="Arial"/>
              </a:rPr>
              <a:t>ACT 2 · THE STOP RULE + SEEDS (1014-D1)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10515600" cy="1463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Arial"/>
              </a:rPr>
              <a:t>The stop rule held — twice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566160"/>
            <a:ext cx="10515600" cy="20116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0" i="0">
                <a:solidFill>
                  <a:srgbClr val="E4E9F0"/>
                </a:solidFill>
                <a:latin typeface="Arial"/>
              </a:rPr>
              <a:t>P1 ran past its own stop to the hard cap, as a record-only overrun.
Three new trajectories are live.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l"/>
            <a:r>
              <a:rPr sz="2400" b="1" i="0">
                <a:solidFill>
                  <a:srgbClr val="0C2340"/>
                </a:solidFill>
                <a:latin typeface="Arial"/>
              </a:rPr>
              <a:t>Stop rule closed at both overrun checkpoints (official)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B6F15528-21DE-4FAA-801E-634DDDAF4B2B}" type="slidenum">
              <a:rPr lang="en-US" sz="1000">
                <a:latin typeface="Arial"/>
              </a:rPr>
              <a:t>9</a:t>
            </a:fld>
            <a:endParaRPr lang="en-US" sz="1000"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508760" y="6473952"/>
            <a:ext cx="75895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Arial"/>
              </a:rPr>
              <a:t>BO workflow: initial-design evidence + stop-rule closure · 2026-10-16</a:t>
            </a:r>
          </a:p>
        </p:txBody>
      </p:sp>
      <p:pic>
        <p:nvPicPr>
          <p:cNvPr id="5" name="Picture 4" descr="fig_stoprule_clos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476966"/>
            <a:ext cx="8503920" cy="300795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4837176"/>
            <a:ext cx="8503920" cy="62179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1F1F1F"/>
                </a:solidFill>
                <a:latin typeface="Arial"/>
              </a:rPr>
              <a:t>P1: live stop at r2; overrun rounds r3 / r4 graded on CRC (record only)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 i="0">
                <a:solidFill>
                  <a:srgbClr val="8A8A8A"/>
                </a:solidFill>
                <a:latin typeface="Arial"/>
              </a:rPr>
              <a:t>/Users/yilu/Documents/GitHub/RTS-GMLC-n0evidence/trial_0826/campaign/analysis/quality_report/bo_1016/fig_stoprule_closed.png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0" y="1188720"/>
            <a:ext cx="2926080" cy="4572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1" i="0">
                <a:solidFill>
                  <a:srgbClr val="1F1F1F"/>
                </a:solidFill>
                <a:latin typeface="Arial"/>
              </a:rPr>
              <a:t>•  Live decision (10-10)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0" i="0">
                <a:solidFill>
                  <a:srgbClr val="1F1F1F"/>
                </a:solidFill>
                <a:latin typeface="Arial"/>
              </a:rPr>
              <a:t>•  STOP at r2: gains 0.69 τ, then 0.17 τ.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1" i="0">
                <a:solidFill>
                  <a:srgbClr val="1F1F1F"/>
                </a:solidFill>
                <a:latin typeface="Arial"/>
              </a:rPr>
              <a:t>•  Overrun verdict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0" i="0">
                <a:solidFill>
                  <a:srgbClr val="1F1F1F"/>
                </a:solidFill>
                <a:latin typeface="Arial"/>
              </a:rPr>
              <a:t>•  r3: 0.62 τ — below τ.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0" i="0">
                <a:solidFill>
                  <a:srgbClr val="1F1F1F"/>
                </a:solidFill>
                <a:latin typeface="Arial"/>
              </a:rPr>
              <a:t>•  r4: 0.30 τ — below τ. Hard cap; P1 complete.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1" i="0">
                <a:solidFill>
                  <a:srgbClr val="1F1F1F"/>
                </a:solidFill>
                <a:latin typeface="Arial"/>
              </a:rPr>
              <a:t>•  Cost of ignoring the rule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0" i="0">
                <a:solidFill>
                  <a:srgbClr val="1F1F1F"/>
                </a:solidFill>
                <a:latin typeface="Arial"/>
              </a:rPr>
              <a:t>•  16 extra runs bought +6.9% HV, every increment sub-threshold.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016" y="128016"/>
            <a:ext cx="8961120" cy="786384"/>
          </a:xfrm>
        </p:spPr>
        <p:txBody>
          <a:bodyPr wrap="square" anchor="ctr"/>
          <a:lstStyle/>
          <a:p>
            <a:pPr algn="l"/>
            <a:r>
              <a:rPr sz="2100" b="1" i="0">
                <a:solidFill>
                  <a:srgbClr val="0C2340"/>
                </a:solidFill>
                <a:latin typeface="Arial"/>
              </a:rPr>
              <a:t>Seed support is building — need your count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B6F15528-21DE-4FAA-801E-634DDDAF4B2B}" type="slidenum">
              <a:rPr lang="en-US" sz="1000">
                <a:latin typeface="Arial"/>
              </a:rPr>
              <a:t>10</a:t>
            </a:fld>
            <a:endParaRPr lang="en-US" sz="1000"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508760" y="6473952"/>
            <a:ext cx="75895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Arial"/>
              </a:rPr>
              <a:t>BO workflow: initial-design evidence + stop-rule closure · 2026-10-16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89720" y="146304"/>
            <a:ext cx="2880360" cy="329184"/>
          </a:xfrm>
          <a:prstGeom prst="roundRect">
            <a:avLst>
              <a:gd name="adj" fmla="val 30000"/>
            </a:avLst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DECISION · 1014-D1 seed count: 5 or 10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34440"/>
          <a:ext cx="1124712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F1F1F"/>
                          </a:solidFill>
                          <a:latin typeface="Arial"/>
                        </a:rPr>
                        <a:t>Arm</a:t>
                      </a:r>
                    </a:p>
                  </a:txBody>
                  <a:tcPr marL="54864" marR="54864" marT="27432" marB="27432">
                    <a:solidFill>
                      <a:srgbClr val="DCE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F1F1F"/>
                          </a:solidFill>
                          <a:latin typeface="Arial"/>
                        </a:rPr>
                        <a:t>Acquisition</a:t>
                      </a:r>
                    </a:p>
                  </a:txBody>
                  <a:tcPr marL="54864" marR="54864" marT="27432" marB="27432">
                    <a:solidFill>
                      <a:srgbClr val="DCE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F1F1F"/>
                          </a:solidFill>
                          <a:latin typeface="Arial"/>
                        </a:rPr>
                        <a:t>Start set</a:t>
                      </a:r>
                    </a:p>
                  </a:txBody>
                  <a:tcPr marL="54864" marR="54864" marT="27432" marB="27432">
                    <a:solidFill>
                      <a:srgbClr val="DCE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F1F1F"/>
                          </a:solidFill>
                          <a:latin typeface="Arial"/>
                        </a:rPr>
                        <a:t>Latest graded</a:t>
                      </a:r>
                    </a:p>
                  </a:txBody>
                  <a:tcPr marL="54864" marR="54864" marT="27432" marB="27432">
                    <a:solidFill>
                      <a:srgbClr val="DCE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F1F1F"/>
                          </a:solidFill>
                          <a:latin typeface="Arial"/>
                        </a:rPr>
                        <a:t>Gain vs τ</a:t>
                      </a:r>
                    </a:p>
                  </a:txBody>
                  <a:tcPr marL="54864" marR="54864" marT="27432" marB="27432">
                    <a:solidFill>
                      <a:srgbClr val="DCE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F1F1F"/>
                          </a:solidFill>
                          <a:latin typeface="Arial"/>
                        </a:rPr>
                        <a:t>State</a:t>
                      </a:r>
                    </a:p>
                  </a:txBody>
                  <a:tcPr marL="54864" marR="54864" marT="27432" marB="27432">
                    <a:solidFill>
                      <a:srgbClr val="DCE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Arial"/>
                        </a:rPr>
                        <a:t>P1 (the campaign)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Arial"/>
                        </a:rPr>
                        <a:t>q-ParEGO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Arial"/>
                        </a:rPr>
                        <a:t>the 32 (seed 0)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Arial"/>
                        </a:rPr>
                        <a:t>r4 (hard cap)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Arial"/>
                        </a:rPr>
                        <a:t>0.30 τ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Arial"/>
                        </a:rPr>
                        <a:t>COMPLETE — stop held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Arial"/>
                        </a:rPr>
                        <a:t>P2</a:t>
                      </a:r>
                    </a:p>
                  </a:txBody>
                  <a:tcPr marL="54864" marR="54864" marT="27432" marB="27432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Arial"/>
                        </a:rPr>
                        <a:t>q-ParEGO</a:t>
                      </a:r>
                    </a:p>
                  </a:txBody>
                  <a:tcPr marL="54864" marR="54864" marT="27432" marB="27432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Arial"/>
                        </a:rPr>
                        <a:t>fresh 32, seed 2</a:t>
                      </a:r>
                    </a:p>
                  </a:txBody>
                  <a:tcPr marL="54864" marR="54864" marT="27432" marB="27432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Arial"/>
                        </a:rPr>
                        <a:t>r1</a:t>
                      </a:r>
                    </a:p>
                  </a:txBody>
                  <a:tcPr marL="54864" marR="54864" marT="27432" marB="27432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Arial"/>
                        </a:rPr>
                        <a:t>2.28 τ</a:t>
                      </a:r>
                    </a:p>
                  </a:txBody>
                  <a:tcPr marL="54864" marR="54864" marT="27432" marB="27432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Arial"/>
                        </a:rPr>
                        <a:t>r2 array running</a:t>
                      </a:r>
                    </a:p>
                  </a:txBody>
                  <a:tcPr marL="54864" marR="54864" marT="27432" marB="27432"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Arial"/>
                        </a:rPr>
                        <a:t>P3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Arial"/>
                        </a:rPr>
                        <a:t>q-ParEGO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Arial"/>
                        </a:rPr>
                        <a:t>fresh 32, seed 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Arial"/>
                        </a:rPr>
                        <a:t>r1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Arial"/>
                        </a:rPr>
                        <a:t>0.77 τ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Arial"/>
                        </a:rPr>
                        <a:t>r2 array running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Arial"/>
                        </a:rPr>
                        <a:t>N1</a:t>
                      </a:r>
                    </a:p>
                  </a:txBody>
                  <a:tcPr marL="54864" marR="54864" marT="27432" marB="27432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Arial"/>
                        </a:rPr>
                        <a:t>qNEHVI</a:t>
                      </a:r>
                    </a:p>
                  </a:txBody>
                  <a:tcPr marL="54864" marR="54864" marT="27432" marB="27432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Arial"/>
                        </a:rPr>
                        <a:t>the 32 (seed 0)</a:t>
                      </a:r>
                    </a:p>
                  </a:txBody>
                  <a:tcPr marL="54864" marR="54864" marT="27432" marB="27432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Arial"/>
                        </a:rPr>
                        <a:t>r1</a:t>
                      </a:r>
                    </a:p>
                  </a:txBody>
                  <a:tcPr marL="54864" marR="54864" marT="27432" marB="27432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Arial"/>
                        </a:rPr>
                        <a:t>1.43 τ</a:t>
                      </a:r>
                    </a:p>
                  </a:txBody>
                  <a:tcPr marL="54864" marR="54864" marT="27432" marB="27432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Arial"/>
                        </a:rPr>
                        <a:t>r2 ran; grading lands tonight (preview 0.61 τ)</a:t>
                      </a:r>
                    </a:p>
                  </a:txBody>
                  <a:tcPr marL="54864" marR="54864" marT="27432" marB="27432"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3840480"/>
            <a:ext cx="11247120" cy="20116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 i="0">
                <a:solidFill>
                  <a:srgbClr val="1F1F1F"/>
                </a:solidFill>
                <a:latin typeface="Arial"/>
              </a:rPr>
              <a:t>•  What a 'seed' buys: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0" i="0">
                <a:solidFill>
                  <a:srgbClr val="1F1F1F"/>
                </a:solidFill>
                <a:latin typeface="Arial"/>
              </a:rPr>
              <a:t>•  One full workflow replicate — fresh Sobol init + BO rounds + stop rule — ≈ 1,000 core-h. Readout: the distribution of stop round and HV-at-stop across seeds.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0" i="0">
                <a:solidFill>
                  <a:srgbClr val="1F1F1F"/>
                </a:solidFill>
                <a:latin typeface="Arial"/>
              </a:rPr>
              <a:t>•  5 seeds ≈ 5k core-h (fits this month); 10 seeds ≈ 10k core-h (stronger claim, ~2× queue time).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 i="0">
                <a:solidFill>
                  <a:srgbClr val="1F1F1F"/>
                </a:solidFill>
                <a:latin typeface="Arial"/>
              </a:rPr>
              <a:t>•  The r1 spread above (2.28 τ vs 0.77 τ) is exactly what the trigger adjudicates. Proposal: start with 5 and pre-commit the extension — extend to 10 if the seed-to-seed range of HV-at-stop exceeds 25% of the mean BO gain (threshold yours to set). NXT-D10a fixes the start size.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B6F15528-21DE-4FAA-801E-634DDDAF4B2B}" type="slidenum">
              <a:rPr lang="en-US" sz="1000">
                <a:latin typeface="Arial"/>
              </a:rPr>
              <a:t>11</a:t>
            </a:fld>
            <a:endParaRPr lang="en-US" sz="1000">
              <a:latin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2000" cy="466344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1" i="0">
                <a:solidFill>
                  <a:srgbClr val="AE9342"/>
                </a:solidFill>
                <a:latin typeface="Arial"/>
              </a:rPr>
              <a:t>ACT 3 · IN ONE WEEK, UNBLOCKED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10515600" cy="1463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Arial"/>
              </a:rPr>
              <a:t>The mechanism, and ERCOT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566160"/>
            <a:ext cx="10515600" cy="20116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0" i="0">
                <a:solidFill>
                  <a:srgbClr val="E4E9F0"/>
                </a:solidFill>
                <a:latin typeface="Arial"/>
              </a:rPr>
              <a:t>Two standing worries closed with zero new simulation:
why PEM cuts load shed, and whether the ERCOT conversion is sound.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l"/>
            <a:r>
              <a:rPr sz="2000" b="1" i="0">
                <a:solidFill>
                  <a:srgbClr val="0C2340"/>
                </a:solidFill>
                <a:latin typeface="Arial"/>
              </a:rPr>
              <a:t>Why PEM cuts load shed — explained with hourly data (one model, one year)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B6F15528-21DE-4FAA-801E-634DDDAF4B2B}" type="slidenum">
              <a:rPr lang="en-US" sz="1000">
                <a:latin typeface="Arial"/>
              </a:rPr>
              <a:t>12</a:t>
            </a:fld>
            <a:endParaRPr lang="en-US" sz="1000"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508760" y="6473952"/>
            <a:ext cx="75895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Arial"/>
              </a:rPr>
              <a:t>BO workflow: initial-design evidence + stop-rule closure · 2026-10-16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97280"/>
            <a:ext cx="11430000" cy="868680"/>
          </a:xfrm>
          <a:prstGeom prst="roundRect">
            <a:avLst>
              <a:gd name="adj" fmla="val 4000"/>
            </a:avLst>
          </a:prstGeom>
          <a:solidFill>
            <a:srgbClr val="FDF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75488" y="1161288"/>
            <a:ext cx="11210544" cy="74066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1" i="0">
                <a:solidFill>
                  <a:srgbClr val="1F1F1F"/>
                </a:solidFill>
                <a:latin typeface="Arial"/>
              </a:rPr>
              <a:t>PEM retrofits cut shed not by selling power in scarcity: priced PEM demand absorbs the wind forecast, so the day-ahead RUC commits ~1.2 GW more thermal and the scarce hours arrive with headroom.</a:t>
            </a:r>
          </a:p>
        </p:txBody>
      </p:sp>
      <p:pic>
        <p:nvPicPr>
          <p:cNvPr id="7" name="Picture 6" descr="fig_h1_commit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153194"/>
            <a:ext cx="7223760" cy="302709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5294376"/>
            <a:ext cx="7223760" cy="62179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1F1F1F"/>
                </a:solidFill>
                <a:latin typeface="Arial"/>
              </a:rPr>
              <a:t>Committed thermal + headroom on the low design's 100 shed hours; shed-difference decomposition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 i="0">
                <a:solidFill>
                  <a:srgbClr val="8A8A8A"/>
                </a:solidFill>
                <a:latin typeface="Arial"/>
              </a:rPr>
              <a:t>/Users/yilu/Documents/GitHub/RTS-GMLC-mechanism/trial_0826/campaign/analysis/mechanism/fig_h1_commitment.png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2103120"/>
            <a:ext cx="4206240" cy="40233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 b="1" i="0">
                <a:solidFill>
                  <a:srgbClr val="1E8449"/>
                </a:solidFill>
                <a:latin typeface="Arial"/>
              </a:rPr>
              <a:t>•  H1 commitment headroom — supported, dominant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 b="0" i="0">
                <a:solidFill>
                  <a:srgbClr val="1F1F1F"/>
                </a:solidFill>
                <a:latin typeface="Arial"/>
              </a:rPr>
              <a:t>•  zero-shed designs commit +1.2-1.3 GW more thermal; headroom 737-771 MW vs exactly 0; extra thermal covers 107-171% of the shed difference in all 8 pairs.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 b="1" i="0">
                <a:solidFill>
                  <a:srgbClr val="C0392B"/>
                </a:solidFill>
                <a:latin typeface="Arial"/>
              </a:rPr>
              <a:t>•  H2 scarcity sales (as driver), H3 location (slack-bus accounting), H4 reserve substitution — all contradicted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 b="1" i="0">
                <a:solidFill>
                  <a:srgbClr val="1F1F1F"/>
                </a:solidFill>
                <a:latin typeface="Arial"/>
              </a:rPr>
              <a:t>•  Q2 floor: confirmed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 b="0" i="0">
                <a:solidFill>
                  <a:srgbClr val="1F1F1F"/>
                </a:solidFill>
                <a:latin typeface="Arial"/>
              </a:rPr>
              <a:t>•  all 7 designs: one winter-morning event (12-18 h7, 22.4 MWh), same +962 MW commitment change, decomposition residual 0.000.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 b="0" i="1">
                <a:solidFill>
                  <a:srgbClr val="1F1F1F"/>
                </a:solidFill>
                <a:latin typeface="Arial"/>
              </a:rPr>
              <a:t>•  Caveat: a property of cost-based RUC under priced withholding — model sensitivity goes to Discussion.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016" y="128016"/>
            <a:ext cx="8961120" cy="786384"/>
          </a:xfrm>
        </p:spPr>
        <p:txBody>
          <a:bodyPr wrap="square" anchor="ctr"/>
          <a:lstStyle/>
          <a:p>
            <a:pPr algn="l"/>
            <a:r>
              <a:rPr sz="2100" b="1" i="0">
                <a:solidFill>
                  <a:srgbClr val="0C2340"/>
                </a:solidFill>
                <a:latin typeface="Arial"/>
              </a:rPr>
              <a:t>ERCOT: our conversion is exact; the quirks are the dataset's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B6F15528-21DE-4FAA-801E-634DDDAF4B2B}" type="slidenum">
              <a:rPr lang="en-US" sz="1000">
                <a:latin typeface="Arial"/>
              </a:rPr>
              <a:t>13</a:t>
            </a:fld>
            <a:endParaRPr lang="en-US" sz="1000"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508760" y="6473952"/>
            <a:ext cx="75895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Arial"/>
              </a:rPr>
              <a:t>BO workflow: initial-design evidence + stop-rule closure · 2026-10-16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89720" y="146304"/>
            <a:ext cx="2880360" cy="329184"/>
          </a:xfrm>
          <a:prstGeom prst="roundRect">
            <a:avLst>
              <a:gd name="adj" fmla="val 30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ROADBLOCKER · wave D gated on 1014-D3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34440"/>
          <a:ext cx="112471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9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1F1F1F"/>
                          </a:solidFill>
                          <a:latin typeface="Arial"/>
                        </a:rPr>
                        <a:t>Flag</a:t>
                      </a:r>
                    </a:p>
                  </a:txBody>
                  <a:tcPr marL="54864" marR="54864" marT="27432" marB="27432">
                    <a:solidFill>
                      <a:srgbClr val="DCE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1F1F1F"/>
                          </a:solidFill>
                          <a:latin typeface="Arial"/>
                        </a:rPr>
                        <a:t>Finding</a:t>
                      </a:r>
                    </a:p>
                  </a:txBody>
                  <a:tcPr marL="54864" marR="54864" marT="27432" marB="27432">
                    <a:solidFill>
                      <a:srgbClr val="DCE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1F1F1F"/>
                          </a:solidFill>
                          <a:latin typeface="Arial"/>
                        </a:rPr>
                        <a:t>Action</a:t>
                      </a:r>
                    </a:p>
                  </a:txBody>
                  <a:tcPr marL="54864" marR="54864" marT="27432" marB="27432">
                    <a:solidFill>
                      <a:srgbClr val="DCE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F1F1F"/>
                          </a:solidFill>
                          <a:latin typeface="Arial"/>
                        </a:rPr>
                        <a:t>Coal 32% of energy (real 2019: 20%)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F1F1F"/>
                          </a:solidFill>
                          <a:latin typeface="Arial"/>
                        </a:rPr>
                        <a:t>TX-123BT's own coefficients put all 13 coal units below all 113 gas units in merit order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F1F1F"/>
                          </a:solidFill>
                          <a:latin typeface="Arial"/>
                        </a:rPr>
                        <a:t>inherit + disclose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F1F1F"/>
                          </a:solidFill>
                          <a:latin typeface="Arial"/>
                        </a:rPr>
                        <a:t>Gas looks like peakers</a:t>
                      </a:r>
                    </a:p>
                  </a:txBody>
                  <a:tcPr marL="54864" marR="54864" marT="27432" marB="27432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F1F1F"/>
                          </a:solidFill>
                          <a:latin typeface="Arial"/>
                        </a:rPr>
                        <a:t>implied heat rates ~18.5 MMBtu/MWh (real CC ~7) — the paper says 'typical' coefficients</a:t>
                      </a:r>
                    </a:p>
                  </a:txBody>
                  <a:tcPr marL="54864" marR="54864" marT="27432" marB="27432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F1F1F"/>
                          </a:solidFill>
                          <a:latin typeface="Arial"/>
                        </a:rPr>
                        <a:t>inherit + disclose</a:t>
                      </a:r>
                    </a:p>
                  </a:txBody>
                  <a:tcPr marL="54864" marR="54864" marT="27432" marB="27432"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F1F1F"/>
                          </a:solidFill>
                          <a:latin typeface="Arial"/>
                        </a:rPr>
                        <a:t>PV fleet 8.26 GW (real 2.3)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F1F1F"/>
                          </a:solidFill>
                          <a:latin typeface="Arial"/>
                        </a:rPr>
                        <a:t>the DATASET is internally inconsistent: its paper says 2.48 GW, its published files 8.26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F1F1F"/>
                          </a:solidFill>
                          <a:latin typeface="Arial"/>
                        </a:rPr>
                        <a:t>inherit published files + 1 sentence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F1F1F"/>
                          </a:solidFill>
                          <a:latin typeface="Arial"/>
                        </a:rPr>
                        <a:t>LMP $34 vs 2019 DAM $38</a:t>
                      </a:r>
                    </a:p>
                  </a:txBody>
                  <a:tcPr marL="54864" marR="54864" marT="27432" marB="27432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F1F1F"/>
                          </a:solidFill>
                          <a:latin typeface="Arial"/>
                        </a:rPr>
                        <a:t>right order — inflated heat rates ≈ offset missing scarcity adders</a:t>
                      </a:r>
                    </a:p>
                  </a:txBody>
                  <a:tcPr marL="54864" marR="54864" marT="27432" marB="27432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F1F1F"/>
                          </a:solidFill>
                          <a:latin typeface="Arial"/>
                        </a:rPr>
                        <a:t>quote as 'TX-123BT prices'</a:t>
                      </a:r>
                    </a:p>
                  </a:txBody>
                  <a:tcPr marL="54864" marR="54864" marT="27432" marB="27432"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114800"/>
            <a:ext cx="11247120" cy="17373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1" i="0">
                <a:solidFill>
                  <a:srgbClr val="1F1F1F"/>
                </a:solidFill>
                <a:latin typeface="Arial"/>
              </a:rPr>
              <a:t>•  Our conversion: 45/45 cost coefficients exact; load side matches ERCOT 2019 actuals to the MW (383.8 TWh; preliminary peak 74,666 MW).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0" i="0">
                <a:solidFill>
                  <a:srgbClr val="1F1F1F"/>
                </a:solidFill>
                <a:latin typeface="Arial"/>
              </a:rPr>
              <a:t>•  Consequence: NO AIChE figure needs a re-run; diverted-wind ≈ $30/MWh stands as an in-model result.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1" i="0">
                <a:solidFill>
                  <a:srgbClr val="1F1F1F"/>
                </a:solidFill>
                <a:latin typeface="Arial"/>
              </a:rPr>
              <a:t>•  Wave D (location grids on ERCOT) IS the 'where to build PEM + what size' study from the recap — designed and ready; this audit was its last technical blocker. It waits only on the condition you set at the last meeting — please restate it.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l"/>
            <a:r>
              <a:rPr sz="2400" b="1" i="0">
                <a:solidFill>
                  <a:srgbClr val="0C2340"/>
                </a:solidFill>
                <a:latin typeface="Arial"/>
              </a:rPr>
              <a:t>Decisions today + the two weeks ahead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B6F15528-21DE-4FAA-801E-634DDDAF4B2B}" type="slidenum">
              <a:rPr lang="en-US" sz="1000">
                <a:latin typeface="Arial"/>
              </a:rPr>
              <a:t>14</a:t>
            </a:fld>
            <a:endParaRPr lang="en-US" sz="1000"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508760" y="6473952"/>
            <a:ext cx="75895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Arial"/>
              </a:rPr>
              <a:t>BO workflow: initial-design evidence + stop-rule closure · 2026-10-16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6949440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F1F1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54864" marR="54864" marT="27432" marB="27432">
                    <a:solidFill>
                      <a:srgbClr val="DCE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F1F1F"/>
                          </a:solidFill>
                          <a:latin typeface="Arial"/>
                        </a:rPr>
                        <a:t>Decision</a:t>
                      </a:r>
                    </a:p>
                  </a:txBody>
                  <a:tcPr marL="54864" marR="54864" marT="27432" marB="27432">
                    <a:solidFill>
                      <a:srgbClr val="DCE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F1F1F"/>
                          </a:solidFill>
                          <a:latin typeface="Arial"/>
                        </a:rPr>
                        <a:t>Default if you only nod</a:t>
                      </a:r>
                    </a:p>
                  </a:txBody>
                  <a:tcPr marL="54864" marR="54864" marT="27432" marB="27432">
                    <a:solidFill>
                      <a:srgbClr val="DCE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Arial"/>
                        </a:rPr>
                        <a:t>NXT-D10a: seed-study n0 = 32 or 48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Arial"/>
                        </a:rPr>
                        <a:t>32 (comparability); paper surrogate at 48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54864" marR="54864" marT="27432" marB="27432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Arial"/>
                        </a:rPr>
                        <a:t>NXT-D10b: rbf+log1p grading layer</a:t>
                      </a:r>
                    </a:p>
                  </a:txBody>
                  <a:tcPr marL="54864" marR="54864" marT="27432" marB="27432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Arial"/>
                        </a:rPr>
                        <a:t>adopt, grading only</a:t>
                      </a:r>
                    </a:p>
                  </a:txBody>
                  <a:tcPr marL="54864" marR="54864" marT="27432" marB="27432"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Arial"/>
                        </a:rPr>
                        <a:t>1014-D1: seed count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Arial"/>
                        </a:rPr>
                        <a:t>5 seeds now, extend to 10 if spread is wide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54864" marR="54864" marT="27432" marB="27432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Arial"/>
                        </a:rPr>
                        <a:t>Wave-D condition (1014-D3)</a:t>
                      </a:r>
                    </a:p>
                  </a:txBody>
                  <a:tcPr marL="54864" marR="54864" marT="27432" marB="27432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Arial"/>
                        </a:rPr>
                        <a:t>— needs your restatement</a:t>
                      </a:r>
                    </a:p>
                  </a:txBody>
                  <a:tcPr marL="54864" marR="54864" marT="27432" marB="27432"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Arial"/>
                        </a:rPr>
                        <a:t>g1 nuclear accounting (NXT-D7)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1F1F"/>
                          </a:solidFill>
                          <a:latin typeface="Arial"/>
                        </a:rPr>
                        <a:t>option c (+$28.188M, fronts unchanged)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680960" y="1188720"/>
            <a:ext cx="4206240" cy="43891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 i="0">
                <a:solidFill>
                  <a:srgbClr val="1F1F1F"/>
                </a:solidFill>
                <a:latin typeface="Arial"/>
              </a:rPr>
              <a:t>•  Next two weeks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0" i="0">
                <a:solidFill>
                  <a:srgbClr val="1F1F1F"/>
                </a:solidFill>
                <a:latin typeface="Arial"/>
              </a:rPr>
              <a:t>•  P2/P3/N1 arms run to their caps (automatic).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0" i="0">
                <a:solidFill>
                  <a:srgbClr val="1F1F1F"/>
                </a:solidFill>
                <a:latin typeface="Arial"/>
              </a:rPr>
              <a:t>•  Seed study launches at your count + n0.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0" i="0">
                <a:solidFill>
                  <a:srgbClr val="1F1F1F"/>
                </a:solidFill>
                <a:latin typeface="Arial"/>
              </a:rPr>
              <a:t>•  Stop-rule validation suite (synthetic + replay) lands.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0" i="0">
                <a:solidFill>
                  <a:srgbClr val="1F1F1F"/>
                </a:solidFill>
                <a:latin typeface="Arial"/>
              </a:rPr>
              <a:t>•  AIChE ERCOT figures 10-22 → 10-31.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 i="0">
                <a:solidFill>
                  <a:srgbClr val="1F1F1F"/>
                </a:solidFill>
                <a:latin typeface="Arial"/>
              </a:rPr>
              <a:t>•  Figure freeze: 11-01.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l"/>
            <a:r>
              <a:rPr sz="2400" b="1" i="0">
                <a:solidFill>
                  <a:srgbClr val="0C2340"/>
                </a:solidFill>
                <a:latin typeface="Arial"/>
              </a:rPr>
              <a:t>Backup — hyperparameter grid by-products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B6F15528-21DE-4FAA-801E-634DDDAF4B2B}" type="slidenum">
              <a:rPr lang="en-US" sz="1000">
                <a:latin typeface="Arial"/>
              </a:rPr>
              <a:t>15</a:t>
            </a:fld>
            <a:endParaRPr lang="en-US" sz="1000"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508760" y="6473952"/>
            <a:ext cx="75895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Arial"/>
              </a:rPr>
              <a:t>BO workflow: initial-design evidence + stop-rule closure · 2026-10-16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42062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 i="0">
                <a:solidFill>
                  <a:srgbClr val="1F1F1F"/>
                </a:solidFill>
                <a:latin typeface="Arial"/>
              </a:rPr>
              <a:t>•  Secondary findings from the Part-H study (not decision-relevant today):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 i="0">
                <a:solidFill>
                  <a:srgbClr val="1F1F1F"/>
                </a:solidFill>
                <a:latin typeface="Arial"/>
              </a:rPr>
              <a:t>•  The BoTorch default Gamma(3, 6) lengthscale prior is harmful on every objective here (curtailment error 27× floor) — bo-gp's no-prior default is right for this problem.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 i="0">
                <a:solidFill>
                  <a:srgbClr val="1F1F1F"/>
                </a:solidFill>
                <a:latin typeface="Arial"/>
              </a:rPr>
              <a:t>•  Matérn 3/2 never beats Matérn 5/2 on any objective.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 i="0">
                <a:solidFill>
                  <a:srgbClr val="1F1F1F"/>
                </a:solidFill>
                <a:latin typeface="Arial"/>
              </a:rPr>
              <a:t>•  Fixing the noise at the floor (vs inferring it above the floor) changes results little.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0" i="0">
                <a:solidFill>
                  <a:srgbClr val="1F1F1F"/>
                </a:solidFill>
                <a:latin typeface="Arial"/>
              </a:rPr>
              <a:t>•  No axis interaction was triggered: each winning combination beat every single-axis change.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l"/>
            <a:r>
              <a:rPr sz="2400" b="1" i="0">
                <a:solidFill>
                  <a:srgbClr val="0C2340"/>
                </a:solidFill>
                <a:latin typeface="Arial"/>
              </a:rPr>
              <a:t>Backup — where the GP is uncertain (2-D slice)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B6F15528-21DE-4FAA-801E-634DDDAF4B2B}" type="slidenum">
              <a:rPr lang="en-US" sz="1000">
                <a:latin typeface="Arial"/>
              </a:rPr>
              <a:t>16</a:t>
            </a:fld>
            <a:endParaRPr lang="en-US" sz="1000"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508760" y="6473952"/>
            <a:ext cx="75895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Arial"/>
              </a:rPr>
              <a:t>BO workflow: initial-design evidence + stop-rule closure · 2026-10-16</a:t>
            </a:r>
          </a:p>
        </p:txBody>
      </p:sp>
      <p:pic>
        <p:nvPicPr>
          <p:cNvPr id="5" name="Picture 4" descr="fig_sd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7624" y="1188720"/>
            <a:ext cx="8766271" cy="35844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4791456"/>
            <a:ext cx="11430000" cy="62179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1F1F1F"/>
                </a:solidFill>
                <a:latin typeface="Arial"/>
              </a:rPr>
              <a:t>Predictive sd / floor on the two most active tiers (wind_303, wind_317); other 4 ω at training median; n0 = 48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 i="0">
                <a:solidFill>
                  <a:srgbClr val="8A8A8A"/>
                </a:solidFill>
                <a:latin typeface="Arial"/>
              </a:rPr>
              <a:t>/Users/yilu/Documents/GitHub/RTS-GMLC-n0evidence/trial_0826/campaign/analysis/quality_report/bo_1016/fig_sd_heatmap.png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486400"/>
            <a:ext cx="11247120" cy="9144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0" i="0">
                <a:solidFill>
                  <a:srgbClr val="1F1F1F"/>
                </a:solidFill>
                <a:latin typeface="Arial"/>
              </a:rPr>
              <a:t>•  Shed (left): sd/floor 1.07-1.20 everywhere — a featureless map pinned just above the floor; more points cannot change it (noise-limited).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0" i="0">
                <a:solidFill>
                  <a:srgbClr val="1F1F1F"/>
                </a:solidFill>
                <a:latin typeface="Arial"/>
              </a:rPr>
              <a:t>•  Curtailment (right): sd/floor 3.1-7.4 — lowest where training designs cluster, rising at the corners (data-limited; exactly what more points fix).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3695</Words>
  <Application>Microsoft Macintosh PowerPoint</Application>
  <PresentationFormat>Widescreen</PresentationFormat>
  <Paragraphs>246</Paragraphs>
  <Slides>16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recap</vt:lpstr>
      <vt:lpstr>Your three asks from Tuesday — all three moved</vt:lpstr>
      <vt:lpstr>32 is not sufficient by looking at the error curve</vt:lpstr>
      <vt:lpstr>Parity plot comparison, point by point</vt:lpstr>
      <vt:lpstr>Tuning helps exactly where the pathology lives</vt:lpstr>
      <vt:lpstr>Same landscape, different probes — why seeds are the next instrument</vt:lpstr>
      <vt:lpstr>Decision</vt:lpstr>
      <vt:lpstr>PowerPoint Presentation</vt:lpstr>
      <vt:lpstr>Stop rule closed at both overrun checkpoints (official)</vt:lpstr>
      <vt:lpstr>Seed support is building — need your count</vt:lpstr>
      <vt:lpstr>PowerPoint Presentation</vt:lpstr>
      <vt:lpstr>Why PEM cuts load shed — explained with hourly data (one model, one year)</vt:lpstr>
      <vt:lpstr>ERCOT: our conversion is exact; the quirks are the dataset's</vt:lpstr>
      <vt:lpstr>Decisions today + the two weeks ahead</vt:lpstr>
      <vt:lpstr>Backup — hyperparameter grid by-products</vt:lpstr>
      <vt:lpstr>Backup — where the GP is uncertain (2-D slice)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alex@dowlinglab.org</dc:creator>
  <cp:lastModifiedBy>Kay Lu</cp:lastModifiedBy>
  <cp:revision>3</cp:revision>
  <dcterms:created xsi:type="dcterms:W3CDTF">2018-06-25T12:14:03Z</dcterms:created>
  <dcterms:modified xsi:type="dcterms:W3CDTF">2026-10-16T19:00:30Z</dcterms:modified>
</cp:coreProperties>
</file>